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Sunumun tek cumlelik iddiasi su: hediye alimlari tavsiye sistemlerinde ayri bir gurultu sinifi ve bunu olcebiliyoruz. Projenin butun sayilari depoya commit edilmis JSON dosyalarindan okunuyor, slaytlara elle yazilmadi. Yirmi bir slayt var: on altisi ana anlati, besi ek. Bir yerde 'bunu nereden biliyorsunuz' sorusu gelirse cevap her zaman bir dosya 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Buradaki tek mesaj: puan dogru, tercih sinyali yanlis. Kullanici hediyeyi gercekten begenmis olabilir, ama urunu kendisi icin secmemis. Klasik gurultu literaturu kazara olan seyleri konusuyor - yanlis tiklama, bot, konum yanliligi. Hediye bunlarin hicbiri degil: kasitli ve dogru kaydedilmis bir alim, ama tercihi veri kumesinde olmayan birine ait. Sagdaki ucuncu kutu isin zorlugu: veride 'bu hediyedir' diye bir alan yok.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slayt akademik bulguyu para diline ceviriyor. Sirali modelde tek bir hediye, kullanicinin top-10 listesinin iki puanini hediyenin alt kategorisine ayiriyor; bu fazla, kullanici kendisi icin bir alisveris yaptiktan sonra yariya iniyor. Klasik modelde israf payi daha buyuk: her yuz slottan yaklasik besi yalnizca hediye olarak girilen alt kategorilere gidiyor. Alt tablo uc kanalin her birinde bunun nasil fatura oldugunu gosteriyor. Dikkat: 'israf' bir ust sinir varsayimi - o slotlarin hic donusmedigini olcmedik.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Dort soru ve her birinin nasil cevaplandigi. En onemli kisim alttaki kutu: yorum kurali sonuclari gormeden yazildi ve tarihi DECISIONS.md'de duruyor. Uc olasi karar var - alt sinir, saptanamadi, negatif. 'Saptanamadi' asla 'etki yok' demek degil; bunu sunum boyunca ayni dikkatle soyluyoruz. Etiket gurultusu plasebo karsitligini plasebonun lehine cektigi icin pozitif bulgularin hepsi alt sinir olarak raporlaniyor, yani gercek etki en az bu kadar.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Boru hattini bir bakista anlatan slayt. Buyuk model dort kategoriden orneklenmis kirk yedi bin review'u etiketliyor; bes yuz satiri insan bagimsiz etiketliyor; sonra damitilmis kucuk model dort buçuk milyon satirin tamamini etiketliyor. Neden damitma? Ogretmen modelle dort bucuk milyon satir etiketlemek Kaggle butcesinde mumkun degildi. Alt tabloda dikkat cekilecek satir All Beauty: bes-cekirdek filtresinden sonra hicbir satir kalmiyor, o yuzden o kategoride deney yapilamiyor - bunu gizlemiyoruz, tabloya yaziyoruz.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Dedektorun kullanilabilir olup olmadigina bakan Kapi 1. Dort olcut de kosudan once sabitlendi ve dort kategoride de dorduyle gecti. En ikna edici olcut mevsimsellik: Aralik-Ocak orani yaz aylarinin bir buçuk kati; bir anahtar kelime listesi takvimi taklit edemez. Ikinci olcut de onemli: etiketlerin yuzde on sekizi sozcuksel vekilin hic yakalamadigi satirlardan geliyor, yani model kelime aramanin otesine geciyor. Grafikte iki egri: LLM etiketi ve vekil.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slaydi atlamiyoruz, aksine one aliyoruz. Concept note'ta iki esik yazmisiz: makro-F1 en az sifir yetmis bes ve hediye kesinligi en az sifir seksen. Olculen degerler sifir elli dort ve sifir altmis sekiz - ikisi de tutmuyor. Ayrica tek etiketleyici calisti, yani planlanan Fleiss kappa hic olculmedi; Hafta 4'un artefakttaki karari INCOMPLETE. Peki calisma neden hala okunabilir? Cunku etiket gurultusu hediye-silme kosulunu rastgele-silme plasebosuna YAKLASTIRIR; yani bulunan etki gercek etkinin alt siniri. Zayif dedektor bulgunun yonunu uydurmaz, ancak buyuklugunu kucultur.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Dort buçuk milyon satiri ogretmen modelle etiketlemek mumkun olmadigi icin ModernBERT-base'i ogretmenin etiketleriyle egittik. Sadakat kapisi uc olcutle ve egitimden once sabitlendi; uçu de gecti - dar eksende sifir doksan bir, geniş eksende sifir doksan uc F1. Kritik nuans sagdaki son paragraf: bu kapi DOGRULUGU degil OGRETMENE BENZERLIGI olcuyor. Ogrenci ogretmenin hatalarini da devraliyor, yani onceki slayttaki dogruluk siniri dort buçuk milyon satirda da gecerli.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Ilk sonuc: Toys ve Games'te review'larin yaklasik besde biri hediye. Grocery, Video Games ve All Beauty yuzde bes ile sekiz arasinda - Grocery'yi tam da bu yuzden kontrol kategorisi sectik. Sagdaki ham ve kalibre edilmis sutun farkina dikkat: kalibrasyon, LLM'in ham oranini bes yuz insan satirinda olculen karisiklik matrisinden geciriyor, boylece dedektorun hatasi guven araligina giriyor. Toys yuzde yirmi uçten yuzde on dokuza duşuyor. Alt kisimda dort kategorinin de Aralik-Ocak tepesi var.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Deneyin en onemli tasarim karari bu. Hediyeleri silmek ayni zamanda veriyi kuçultuyor, o yuzden C1'i C0 ile karsilastirmak iki seyi ayni anda degistiriyor. Cozum plasebo: C4 ayni SAYIDA rastgele satiri siliyor. Boylece egitim kumesi buyuklugu, test ciftleri ve seed'ler birebir ayni kaliyor; tek fark hangi satirlarin gittigi. Alt satirda alti kosulun tanimi var. C2 yani agirlik azaltma yazildi ama kosulmadi: RecBole'un SASRec kaybi etkilesim basina agirlik almiyor, kutuphaneyi yamamak da 'her kosulda ayni kod' kuralini bozacakti.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Kapi 2, sonuclari yorumlamaya hakkimiz olup olmadigini soruyor ve dort hucrede de dort olcutuyle geciyor. En onemli olcut ucuncusu: hicbir plasebo C0'dan IYI olmamali, cunku veri silmek tek basina yardim ediyorsa butun tasarim coker. Alt tabloda bu sayilar var; Toys'ta guven araliklari sifirin acikca altinda, Grocery'de sifira degiyor ama uzerine cikmiyor - kapinin istedigi tam olarak bu. Birinci olcut de varsayim degil: her kosu raporuna test ciftlerinin SHA-256 ozeti yaziliyor ve kapi hucre basina tek bir ozet oldugunu dogruluyor. Dorduncusu C0'in seed'ler arasi degisim katsayisi; hepsi esigin cok altinda. Hucre basina on sekiz, toplam yetmis iki kosu.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Projenin ana bulgusu. Veri kaybi sabit tutuldugunda hediye satirlarini silmek, ayni sayida rastgele satiri silmekten daha iyi bir model biraikiyor: Toys'ta sirali modelde yuzde on alti, klasik modelde yuzde kirk rölatif kazanc. Kontrol kategorisi Grocery'de etki ya cok kuçuk ya saptanamiyor. Alt tablodaki doz-yanit bunun tesaduf olmadiginin en guclu isareti: dort karsilastirmanin dordunde de Toys'un etkisi Grocery'ninkinden istatistiksel olarak buyuk. Hediye ne kadar yaygınsa etki o kadar buyuk - gercek bir mekanizmanin uretecegi desen bu.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slayt bulguyu abartmamak icin var. Plaseboya karsi kazanmak, hiçbir sey yapmamaya karsi kazanmak demek degil. Ortadaki tabloda C1 eksi C0 sutununa bakin: Toys'ta klasik model kazaniyor ama sirali model KAYBEDIYOR - sirali model silinen satirlarla birlikte baglami da kaybediyor. Yani 'hediyeleri sil' diye bir tavsiye vermiyoruz; 'hediye satirlari daha az tercih sinyali tasiyor' diyoruz. Ucuncu kutu ilginç: geniş eksende fark daha da buyuyor, bu da ev halki ve alinan hediye kategorilerinin ayni tur gurultuyu tasidigiyla tutarli.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Ucuncu soru pratik: silmek mi, isaretlemek mi? Test ettigimiz isaretleme yontemi, hediye satirini tutup urunu alt kategori basina bir golge token'la degistirmek. Sonuç: dort hucrenin uçunde silmekten de, hiçbir sey yapmamaktan da kotu. Golge token modele kullanabilecegi bilgi eklemeden kelime dagarcigi ve sira pozisyonu ekliyor. Sagdaki kutu onemli: 'isaretleme kotu bir fikirdir' demiyoruz - TEK bir uygulamayi test ettik. Tur-farkindali gomme vektorleri ya da ayri bir alim-turu kanali denenmedi.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Pazarlama icin en kullanisli sayi bu. Sirali modelde bir hediye, hediyenin alt kategorisine top-10'da iki puan fazla yer aciyor. Kullanici kendisi icin BIR alisveris yaptiktan sonra bu fazlanin yarisindan azi kaliyor, dort alimdan sonra sifirlaniyor. Takvime cevirisi kabaca iki-dort hafta ama bu YAKLASIK, cunku elimizde review tarihi var, alim tarihi yok. BPR'de de azalma var ama onceden kayitli uyum sonlu bir yari omur vermiyor: BPR sirayi gormedigi icin hediye unutulmuyor, yeni alimlar arasinda SEYRELIYOR. Pazarlama dilinde: kirlilik zamanla degil, yeni alimlarla temizleniyor.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Ikinci pazarlama metrigi: top-10'un yalnizca hediye olarak girilen alt kategorilere giden payi. Toys'ta test kullanicilarinin ucte birinde boyle bir alt kategori var. Klasik model bu kullanicilarin listesinin yuzde on altisini oraya ayiriyor, hediyeleri gormemis model yuzde on birini - yani her yuz slottan bes tanesi hediyenin actigi ilgiye gidiyor. Veri kaybi sabit tutuldugunda klasik modelde bu farkin buyuk kismi kaliyor, sirali modelde neredeyse hiç kalmiyor. Ve dipnot: 'israf' bir ust sinir - o slotlarin hiç donusmedigini olcmedik.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Kapanis slaydi uç sutun: ne iddia ediyoruz, ne iddia etmiyoruz, sirada ne var. Ortadaki sutunu hizla geçmeyin - jurinin soracagi her soru orada zaten yazili. Alttaki kutu davetiye: depoyu klonlayip tek komutla butun basliklari basabilirsiniz, veri dosyasi bile gerekmiyor cunku sayilar commit'li JSON'lardan okunuyor. Soru-cevap icin bes ek slayt var: kosul tanimlari, iki kapinin olcutleri, tam karsitlik tablosu, sinirliliklar ve yeniden uretim.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slayt: alti kosulun tam tanimi. Vurgulanacak iki sey var. Birincisi yalnizca EGITIM satirlari degisiyor; dogrulama ve test satirlari her kosulda ayni - karsilastirmayi mumkun kilan da bu, ama ayni zamanda bir sinirlilik: kullanicinin dogrulama satirindaki hediye hiç silinmiyor. Ikincisi plasebo satirlarinin seçimi: seed crc32'den turetiliyor, Python'un hash fonksiyonundan degil, cunku o her surecte farkli sonuç verir ve deney yeniden uretilemez olurdu.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kapinin tam hali. Kapi 1 dedektorun kullanilip kullanilamayacagina bakiyor ve kategori basina karar veriyor; Kapi 2 karsitliklarin yorumlanabilir olup olmadigina bakiyor ve hucre basina. Ikisi de kosudan once yazildi. Kapi 2'nin her seferinde kosu raporlarindan yeniden hesaplandigini soylemek onemli - onbellekten bir 'PASS' okumuyoruz.</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Butun karsitliklar tek tabloda; soru-cevapta buraya donebiliriz. Her hucrede uç satir var: fark, guven araligi ve onceden kayitli yorum kurali. Alttaki notta iki teknik detay: eşli bootstrap kullanici basina Recall@10 uzerinde ve seed'ler once ortalandi; ayrica birincil metrik kosulardan ONCE NDCG'den Recall'a degistirildi - tarihi DECISIONS.md'de, NDCG de hala raporlaniyor.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Sinirliliklari juri sormadan biz soyluyoruz. Ilk uç madde dedektorun dogrulugu ve etiket guvenilirligiyle ilgili ve en agirlari. Dorduncusu ince ama onemli: C1 aslinda 'hediyeleri sil' degil 'dedektorun isaretledigini sil' kosulu. Besincisi sirali modele ozel. Altincisi bir kayit eksikligi ve artik duzeltildi - yeni kosular gerçek epoch sayisini yaziyor, ama gecmis yetmis iki kosu kurtarilamiyor. Geri kalan on madde SONUCLAR.md yedinci bolumde.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ek slayt: her sayiyi nasil kontrol edeceginizi anlatiyor. Baslangiç noktasi demo betigi - veri dosyasi olmadan, standart kutuphaneyle, commit'li JSON'lardan butun basliklari basiyor. Sagdaki provenans kutusu her artefaktin hangi kod surumuyle uretildigini gosteriyor; 'dirty' eki calisma agacinda commit edilmemis KOD degisikligi vardi demek. Alt tabloda neyin commit edilip neyin edilmedigi var: veri ve model agirliklari kasitli olarak depoda yok. Bu deck'i ureten betik de ayni JSON'lari okuyor, yani slaytlar artefaktlardan sapamaz.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5C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3" name="TextBox 2"/>
          <p:cNvSpPr txBox="1"/>
          <p:nvPr/>
        </p:nvSpPr>
        <p:spPr>
          <a:xfrm>
            <a:off x="658368" y="1417320"/>
            <a:ext cx="10874959" cy="274320"/>
          </a:xfrm>
          <a:prstGeom prst="rect">
            <a:avLst/>
          </a:prstGeom>
          <a:noFill/>
        </p:spPr>
        <p:txBody>
          <a:bodyPr wrap="square" lIns="0" rIns="0" tIns="0" bIns="0">
            <a:spAutoFit/>
          </a:bodyPr>
          <a:lstStyle/>
          <a:p>
            <a:pPr algn="l">
              <a:spcBef>
                <a:spcPts val="0"/>
              </a:spcBef>
              <a:spcAft>
                <a:spcPts val="0"/>
              </a:spcAft>
            </a:pPr>
            <a:r>
              <a:rPr sz="1150" b="1" i="0">
                <a:solidFill>
                  <a:srgbClr val="1F5C8B"/>
                </a:solidFill>
                <a:latin typeface="Calibri"/>
              </a:rPr>
              <a:t>CAPSTONE FINAL PRESENTATION</a:t>
            </a:r>
          </a:p>
        </p:txBody>
      </p:sp>
      <p:sp>
        <p:nvSpPr>
          <p:cNvPr id="4" name="TextBox 3"/>
          <p:cNvSpPr txBox="1"/>
          <p:nvPr/>
        </p:nvSpPr>
        <p:spPr>
          <a:xfrm>
            <a:off x="658368" y="1783080"/>
            <a:ext cx="10874959" cy="1188720"/>
          </a:xfrm>
          <a:prstGeom prst="rect">
            <a:avLst/>
          </a:prstGeom>
          <a:noFill/>
        </p:spPr>
        <p:txBody>
          <a:bodyPr wrap="square" lIns="0" rIns="0" tIns="0" bIns="0">
            <a:spAutoFit/>
          </a:bodyPr>
          <a:lstStyle/>
          <a:p>
            <a:pPr algn="l">
              <a:lnSpc>
                <a:spcPct val="92000"/>
              </a:lnSpc>
              <a:spcBef>
                <a:spcPts val="0"/>
              </a:spcBef>
              <a:spcAft>
                <a:spcPts val="0"/>
              </a:spcAft>
            </a:pPr>
            <a:r>
              <a:rPr sz="5200" b="1" i="0">
                <a:solidFill>
                  <a:srgbClr val="1C1C1C"/>
                </a:solidFill>
                <a:latin typeface="Calibri"/>
              </a:rPr>
              <a:t>This Was Not For Me</a:t>
            </a:r>
          </a:p>
        </p:txBody>
      </p:sp>
      <p:sp>
        <p:nvSpPr>
          <p:cNvPr id="5" name="TextBox 4"/>
          <p:cNvSpPr txBox="1"/>
          <p:nvPr/>
        </p:nvSpPr>
        <p:spPr>
          <a:xfrm>
            <a:off x="658368" y="2971800"/>
            <a:ext cx="8917466" cy="731520"/>
          </a:xfrm>
          <a:prstGeom prst="rect">
            <a:avLst/>
          </a:prstGeom>
          <a:noFill/>
        </p:spPr>
        <p:txBody>
          <a:bodyPr wrap="square" lIns="0" rIns="0" tIns="0" bIns="0">
            <a:spAutoFit/>
          </a:bodyPr>
          <a:lstStyle/>
          <a:p>
            <a:pPr algn="l">
              <a:lnSpc>
                <a:spcPct val="110000"/>
              </a:lnSpc>
              <a:spcBef>
                <a:spcPts val="0"/>
              </a:spcBef>
              <a:spcAft>
                <a:spcPts val="0"/>
              </a:spcAft>
            </a:pPr>
            <a:r>
              <a:rPr sz="1900" b="0" i="0">
                <a:solidFill>
                  <a:srgbClr val="555555"/>
                </a:solidFill>
                <a:latin typeface="Calibri"/>
              </a:rPr>
              <a:t>Detecting gift purchases as a distinct class of noise in e-commerce recommender systems</a:t>
            </a:r>
          </a:p>
        </p:txBody>
      </p:sp>
      <p:sp>
        <p:nvSpPr>
          <p:cNvPr id="6" name="Rectangle 5"/>
          <p:cNvSpPr/>
          <p:nvPr/>
        </p:nvSpPr>
        <p:spPr>
          <a:xfrm>
            <a:off x="658368" y="3977639"/>
            <a:ext cx="543747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7" name="TextBox 6"/>
          <p:cNvSpPr txBox="1"/>
          <p:nvPr/>
        </p:nvSpPr>
        <p:spPr>
          <a:xfrm>
            <a:off x="658368" y="4206240"/>
            <a:ext cx="7829970" cy="1188720"/>
          </a:xfrm>
          <a:prstGeom prst="rect">
            <a:avLst/>
          </a:prstGeom>
          <a:noFill/>
        </p:spPr>
        <p:txBody>
          <a:bodyPr wrap="square" lIns="0" rIns="0" tIns="0" bIns="0">
            <a:spAutoFit/>
          </a:bodyPr>
          <a:lstStyle/>
          <a:p>
            <a:pPr algn="l">
              <a:spcBef>
                <a:spcPts val="0"/>
              </a:spcBef>
              <a:spcAft>
                <a:spcPts val="600"/>
              </a:spcAft>
            </a:pPr>
            <a:r>
              <a:rPr sz="1350" b="1" i="0">
                <a:solidFill>
                  <a:srgbClr val="1C1C1C"/>
                </a:solidFill>
                <a:latin typeface="Calibri"/>
              </a:rPr>
              <a:t>AI in Marketing Capstone, Group 2 — [Team Member 1] / [Team Member 2] / [Team Member 3]</a:t>
            </a:r>
          </a:p>
          <a:p>
            <a:pPr algn="l">
              <a:spcBef>
                <a:spcPts val="0"/>
              </a:spcBef>
              <a:spcAft>
                <a:spcPts val="600"/>
              </a:spcAft>
            </a:pPr>
            <a:r>
              <a:rPr sz="1200" b="0" i="0">
                <a:solidFill>
                  <a:srgbClr val="555555"/>
                </a:solidFill>
                <a:latin typeface="Calibri"/>
              </a:rPr>
              <a:t>github.com/edasaruhan/SIC_AI_17_Capstone_Group_2  ·  20 September 2026</a:t>
            </a:r>
          </a:p>
          <a:p>
            <a:pPr algn="l">
              <a:spcBef>
                <a:spcPts val="0"/>
              </a:spcBef>
              <a:spcAft>
                <a:spcPts val="0"/>
              </a:spcAft>
            </a:pPr>
            <a:r>
              <a:rPr sz="1050" b="0" i="1">
                <a:solidFill>
                  <a:srgbClr val="8E8E8E"/>
                </a:solidFill>
                <a:latin typeface="Calibri"/>
              </a:rPr>
              <a:t>Every number in this deck is read from committed JSON artefacts  ·  code version 791d9d4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THE PROBLEM</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 five-star review can describe a taste the buyer does not have</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920240"/>
            <a:ext cx="2512999" cy="9601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Buyer's own history</a:t>
            </a:r>
          </a:p>
          <a:p>
            <a:pPr algn="ctr">
              <a:lnSpc>
                <a:spcPct val="100000"/>
              </a:lnSpc>
              <a:spcBef>
                <a:spcPts val="0"/>
              </a:spcBef>
              <a:spcAft>
                <a:spcPts val="0"/>
              </a:spcAft>
            </a:pPr>
            <a:r>
              <a:rPr sz="1100" b="0" i="0">
                <a:solidFill>
                  <a:srgbClr val="555555"/>
                </a:solidFill>
                <a:latin typeface="Calibri"/>
              </a:rPr>
              <a:t>a stable, self-chosen taste</a:t>
            </a:r>
          </a:p>
        </p:txBody>
      </p:sp>
      <p:sp>
        <p:nvSpPr>
          <p:cNvPr id="6" name="Right Arrow 5"/>
          <p:cNvSpPr/>
          <p:nvPr/>
        </p:nvSpPr>
        <p:spPr>
          <a:xfrm>
            <a:off x="3212515" y="2322576"/>
            <a:ext cx="192024"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7" name="Rounded Rectangle 6"/>
          <p:cNvSpPr/>
          <p:nvPr/>
        </p:nvSpPr>
        <p:spPr>
          <a:xfrm>
            <a:off x="3445687" y="1920240"/>
            <a:ext cx="2512999" cy="9601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 one gift purchase</a:t>
            </a:r>
          </a:p>
          <a:p>
            <a:pPr algn="ctr">
              <a:lnSpc>
                <a:spcPct val="100000"/>
              </a:lnSpc>
              <a:spcBef>
                <a:spcPts val="0"/>
              </a:spcBef>
              <a:spcAft>
                <a:spcPts val="0"/>
              </a:spcAft>
            </a:pPr>
            <a:r>
              <a:rPr sz="1100" b="0" i="0">
                <a:solidFill>
                  <a:srgbClr val="555555"/>
                </a:solidFill>
                <a:latin typeface="Calibri"/>
              </a:rPr>
              <a:t>reviewed honestly, 5 stars</a:t>
            </a:r>
          </a:p>
        </p:txBody>
      </p:sp>
      <p:sp>
        <p:nvSpPr>
          <p:cNvPr id="8" name="Right Arrow 7"/>
          <p:cNvSpPr/>
          <p:nvPr/>
        </p:nvSpPr>
        <p:spPr>
          <a:xfrm>
            <a:off x="5999835" y="2322576"/>
            <a:ext cx="192024"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9" name="Rounded Rectangle 8"/>
          <p:cNvSpPr/>
          <p:nvPr/>
        </p:nvSpPr>
        <p:spPr>
          <a:xfrm>
            <a:off x="6233007" y="1920240"/>
            <a:ext cx="2512999" cy="9601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Model updates the profile</a:t>
            </a:r>
          </a:p>
          <a:p>
            <a:pPr algn="ctr">
              <a:lnSpc>
                <a:spcPct val="100000"/>
              </a:lnSpc>
              <a:spcBef>
                <a:spcPts val="0"/>
              </a:spcBef>
              <a:spcAft>
                <a:spcPts val="0"/>
              </a:spcAft>
            </a:pPr>
            <a:r>
              <a:rPr sz="1100" b="0" i="0">
                <a:solidFill>
                  <a:srgbClr val="555555"/>
                </a:solidFill>
                <a:latin typeface="Calibri"/>
              </a:rPr>
              <a:t>"this user likes that"</a:t>
            </a:r>
          </a:p>
        </p:txBody>
      </p:sp>
      <p:sp>
        <p:nvSpPr>
          <p:cNvPr id="10" name="Right Arrow 9"/>
          <p:cNvSpPr/>
          <p:nvPr/>
        </p:nvSpPr>
        <p:spPr>
          <a:xfrm>
            <a:off x="8787155" y="2322576"/>
            <a:ext cx="192024"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1" name="Rounded Rectangle 10"/>
          <p:cNvSpPr/>
          <p:nvPr/>
        </p:nvSpPr>
        <p:spPr>
          <a:xfrm>
            <a:off x="9020327" y="1920240"/>
            <a:ext cx="2512999" cy="9601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Next 10 slots shift</a:t>
            </a:r>
          </a:p>
          <a:p>
            <a:pPr algn="ctr">
              <a:lnSpc>
                <a:spcPct val="100000"/>
              </a:lnSpc>
              <a:spcBef>
                <a:spcPts val="0"/>
              </a:spcBef>
              <a:spcAft>
                <a:spcPts val="0"/>
              </a:spcAft>
            </a:pPr>
            <a:r>
              <a:rPr sz="1100" b="0" i="0">
                <a:solidFill>
                  <a:srgbClr val="555555"/>
                </a:solidFill>
                <a:latin typeface="Calibri"/>
              </a:rPr>
              <a:t>toward the gift's subcategory</a:t>
            </a:r>
          </a:p>
        </p:txBody>
      </p:sp>
      <p:sp>
        <p:nvSpPr>
          <p:cNvPr id="12" name="TextBox 11"/>
          <p:cNvSpPr txBox="1"/>
          <p:nvPr/>
        </p:nvSpPr>
        <p:spPr>
          <a:xfrm>
            <a:off x="658368" y="2999232"/>
            <a:ext cx="10874959"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Illustrative schematic. No review text is reproduced anywhere in this project's outputs.</a:t>
            </a:r>
          </a:p>
        </p:txBody>
      </p:sp>
      <p:sp>
        <p:nvSpPr>
          <p:cNvPr id="13" name="Rounded Rectangle 12"/>
          <p:cNvSpPr/>
          <p:nvPr/>
        </p:nvSpPr>
        <p:spPr>
          <a:xfrm>
            <a:off x="658368" y="3429000"/>
            <a:ext cx="3442106" cy="14173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4" name="TextBox 13"/>
          <p:cNvSpPr txBox="1"/>
          <p:nvPr/>
        </p:nvSpPr>
        <p:spPr>
          <a:xfrm>
            <a:off x="822959" y="3593592"/>
            <a:ext cx="3112922" cy="1097280"/>
          </a:xfrm>
          <a:prstGeom prst="rect">
            <a:avLst/>
          </a:prstGeom>
          <a:noFill/>
        </p:spPr>
        <p:txBody>
          <a:bodyPr wrap="square" lIns="0" rIns="0" tIns="0" bIns="0">
            <a:spAutoFit/>
          </a:bodyPr>
          <a:lstStyle/>
          <a:p>
            <a:pPr algn="l">
              <a:lnSpc>
                <a:spcPct val="100000"/>
              </a:lnSpc>
              <a:spcBef>
                <a:spcPts val="0"/>
              </a:spcBef>
              <a:spcAft>
                <a:spcPts val="600"/>
              </a:spcAft>
            </a:pPr>
            <a:r>
              <a:rPr sz="1450" b="1" i="0">
                <a:solidFill>
                  <a:srgbClr val="1F5C8B"/>
                </a:solidFill>
                <a:latin typeface="Calibri"/>
              </a:rPr>
              <a:t>The rating is honest.</a:t>
            </a:r>
          </a:p>
          <a:p>
            <a:pPr algn="l">
              <a:lnSpc>
                <a:spcPct val="112000"/>
              </a:lnSpc>
              <a:spcBef>
                <a:spcPts val="0"/>
              </a:spcBef>
              <a:spcAft>
                <a:spcPts val="0"/>
              </a:spcAft>
            </a:pPr>
            <a:r>
              <a:rPr sz="1150" b="0" i="0">
                <a:solidFill>
                  <a:srgbClr val="555555"/>
                </a:solidFill>
                <a:latin typeface="Calibri"/>
              </a:rPr>
              <a:t>Nothing is wrong with the review itself — the buyer really did like the item.</a:t>
            </a:r>
          </a:p>
        </p:txBody>
      </p:sp>
      <p:sp>
        <p:nvSpPr>
          <p:cNvPr id="15" name="Rounded Rectangle 14"/>
          <p:cNvSpPr/>
          <p:nvPr/>
        </p:nvSpPr>
        <p:spPr>
          <a:xfrm>
            <a:off x="4374794" y="3429000"/>
            <a:ext cx="3442106" cy="14173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6" name="TextBox 15"/>
          <p:cNvSpPr txBox="1"/>
          <p:nvPr/>
        </p:nvSpPr>
        <p:spPr>
          <a:xfrm>
            <a:off x="4539386" y="3593592"/>
            <a:ext cx="3112922" cy="1097280"/>
          </a:xfrm>
          <a:prstGeom prst="rect">
            <a:avLst/>
          </a:prstGeom>
          <a:noFill/>
        </p:spPr>
        <p:txBody>
          <a:bodyPr wrap="square" lIns="0" rIns="0" tIns="0" bIns="0">
            <a:spAutoFit/>
          </a:bodyPr>
          <a:lstStyle/>
          <a:p>
            <a:pPr algn="l">
              <a:lnSpc>
                <a:spcPct val="100000"/>
              </a:lnSpc>
              <a:spcBef>
                <a:spcPts val="0"/>
              </a:spcBef>
              <a:spcAft>
                <a:spcPts val="600"/>
              </a:spcAft>
            </a:pPr>
            <a:r>
              <a:rPr sz="1450" b="1" i="0">
                <a:solidFill>
                  <a:srgbClr val="1F5C8B"/>
                </a:solidFill>
                <a:latin typeface="Calibri"/>
              </a:rPr>
              <a:t>The preference signal is not.</a:t>
            </a:r>
          </a:p>
          <a:p>
            <a:pPr algn="l">
              <a:lnSpc>
                <a:spcPct val="112000"/>
              </a:lnSpc>
              <a:spcBef>
                <a:spcPts val="0"/>
              </a:spcBef>
              <a:spcAft>
                <a:spcPts val="0"/>
              </a:spcAft>
            </a:pPr>
            <a:r>
              <a:rPr sz="1150" b="0" i="0">
                <a:solidFill>
                  <a:srgbClr val="555555"/>
                </a:solidFill>
                <a:latin typeface="Calibri"/>
              </a:rPr>
              <a:t>The item was chosen for somebody else. It is evidence about a third party.</a:t>
            </a:r>
          </a:p>
        </p:txBody>
      </p:sp>
      <p:sp>
        <p:nvSpPr>
          <p:cNvPr id="17" name="Rounded Rectangle 16"/>
          <p:cNvSpPr/>
          <p:nvPr/>
        </p:nvSpPr>
        <p:spPr>
          <a:xfrm>
            <a:off x="8091220" y="3429000"/>
            <a:ext cx="3442106" cy="141732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8" name="TextBox 17"/>
          <p:cNvSpPr txBox="1"/>
          <p:nvPr/>
        </p:nvSpPr>
        <p:spPr>
          <a:xfrm>
            <a:off x="8255812" y="3593592"/>
            <a:ext cx="3112922" cy="1097280"/>
          </a:xfrm>
          <a:prstGeom prst="rect">
            <a:avLst/>
          </a:prstGeom>
          <a:noFill/>
        </p:spPr>
        <p:txBody>
          <a:bodyPr wrap="square" lIns="0" rIns="0" tIns="0" bIns="0">
            <a:spAutoFit/>
          </a:bodyPr>
          <a:lstStyle/>
          <a:p>
            <a:pPr algn="l">
              <a:lnSpc>
                <a:spcPct val="100000"/>
              </a:lnSpc>
              <a:spcBef>
                <a:spcPts val="0"/>
              </a:spcBef>
              <a:spcAft>
                <a:spcPts val="600"/>
              </a:spcAft>
            </a:pPr>
            <a:r>
              <a:rPr sz="1450" b="1" i="0">
                <a:solidFill>
                  <a:srgbClr val="1F5C8B"/>
                </a:solidFill>
                <a:latin typeface="Calibri"/>
              </a:rPr>
              <a:t>Nothing in the data marks it.</a:t>
            </a:r>
          </a:p>
          <a:p>
            <a:pPr algn="l">
              <a:lnSpc>
                <a:spcPct val="112000"/>
              </a:lnSpc>
              <a:spcBef>
                <a:spcPts val="0"/>
              </a:spcBef>
              <a:spcAft>
                <a:spcPts val="0"/>
              </a:spcAft>
            </a:pPr>
            <a:r>
              <a:rPr sz="1150" b="0" i="0">
                <a:solidFill>
                  <a:srgbClr val="555555"/>
                </a:solidFill>
                <a:latin typeface="Calibri"/>
              </a:rPr>
              <a:t>Purchase-type is not a field. It exists only in free text, if at all.</a:t>
            </a:r>
          </a:p>
        </p:txBody>
      </p:sp>
      <p:sp>
        <p:nvSpPr>
          <p:cNvPr id="19" name="TextBox 18"/>
          <p:cNvSpPr txBox="1"/>
          <p:nvPr/>
        </p:nvSpPr>
        <p:spPr>
          <a:xfrm>
            <a:off x="658368" y="5166360"/>
            <a:ext cx="10874959" cy="822960"/>
          </a:xfrm>
          <a:prstGeom prst="rect">
            <a:avLst/>
          </a:prstGeom>
          <a:noFill/>
        </p:spPr>
        <p:txBody>
          <a:bodyPr wrap="square" lIns="0" rIns="0" tIns="0" bIns="0">
            <a:spAutoFit/>
          </a:bodyPr>
          <a:lstStyle/>
          <a:p>
            <a:pPr algn="l">
              <a:lnSpc>
                <a:spcPct val="115000"/>
              </a:lnSpc>
              <a:spcBef>
                <a:spcPts val="0"/>
              </a:spcBef>
              <a:spcAft>
                <a:spcPts val="0"/>
              </a:spcAft>
            </a:pPr>
            <a:r>
              <a:rPr sz="1300" b="0" i="0">
                <a:solidFill>
                  <a:srgbClr val="1C1C1C"/>
                </a:solidFill>
                <a:latin typeface="Calibri"/>
              </a:rPr>
              <a:t>Recommender research treats noise as accidental — mis-clicks, bots, position bias. A gift is none of those: it is a deliberate, correctly recorded purchase whose preference content belongs to someone who is not in the dataset.</a:t>
            </a:r>
          </a:p>
        </p:txBody>
      </p:sp>
      <p:sp>
        <p:nvSpPr>
          <p:cNvPr id="20" name="TextBox 19"/>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21" name="TextBox 20"/>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WHY MARKETING SHOULD CARE</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The wrong signal does not stay in the model — it becomes spend</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847088"/>
            <a:ext cx="3429914" cy="169164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822959" y="1993392"/>
            <a:ext cx="3100730" cy="1399032"/>
          </a:xfrm>
          <a:prstGeom prst="rect">
            <a:avLst/>
          </a:prstGeom>
          <a:noFill/>
        </p:spPr>
        <p:txBody>
          <a:bodyPr wrap="square" lIns="0" rIns="0" tIns="0" bIns="0">
            <a:spAutoFit/>
          </a:bodyPr>
          <a:lstStyle/>
          <a:p>
            <a:pPr algn="l">
              <a:lnSpc>
                <a:spcPct val="90000"/>
              </a:lnSpc>
              <a:spcBef>
                <a:spcPts val="0"/>
              </a:spcBef>
              <a:spcAft>
                <a:spcPts val="200"/>
              </a:spcAft>
            </a:pPr>
            <a:r>
              <a:rPr sz="3400" b="1" i="0">
                <a:solidFill>
                  <a:srgbClr val="1F5C8B"/>
                </a:solidFill>
                <a:latin typeface="Calibri"/>
              </a:rPr>
              <a:t>+2.0 pts</a:t>
            </a:r>
          </a:p>
          <a:p>
            <a:pPr algn="l">
              <a:lnSpc>
                <a:spcPct val="100000"/>
              </a:lnSpc>
              <a:spcBef>
                <a:spcPts val="0"/>
              </a:spcBef>
              <a:spcAft>
                <a:spcPts val="300"/>
              </a:spcAft>
            </a:pPr>
            <a:r>
              <a:rPr sz="1150" b="1" i="0">
                <a:solidFill>
                  <a:srgbClr val="1C1C1C"/>
                </a:solidFill>
                <a:latin typeface="Calibri"/>
              </a:rPr>
              <a:t>of the top-10 list is handed to the gift's subcategory</a:t>
            </a:r>
          </a:p>
          <a:p>
            <a:pPr algn="l">
              <a:lnSpc>
                <a:spcPct val="105000"/>
              </a:lnSpc>
              <a:spcBef>
                <a:spcPts val="0"/>
              </a:spcBef>
              <a:spcAft>
                <a:spcPts val="0"/>
              </a:spcAft>
            </a:pPr>
            <a:r>
              <a:rPr sz="1000" b="0" i="0">
                <a:solidFill>
                  <a:srgbClr val="555555"/>
                </a:solidFill>
                <a:latin typeface="Calibri"/>
              </a:rPr>
              <a:t>Sequential model × Toys and Games, C0 vs C1, 29,577 test users</a:t>
            </a:r>
          </a:p>
        </p:txBody>
      </p:sp>
      <p:sp>
        <p:nvSpPr>
          <p:cNvPr id="7" name="Rounded Rectangle 6"/>
          <p:cNvSpPr/>
          <p:nvPr/>
        </p:nvSpPr>
        <p:spPr>
          <a:xfrm>
            <a:off x="4380890" y="1847088"/>
            <a:ext cx="3429914" cy="169164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4545482" y="1993392"/>
            <a:ext cx="3100730" cy="1399032"/>
          </a:xfrm>
          <a:prstGeom prst="rect">
            <a:avLst/>
          </a:prstGeom>
          <a:noFill/>
        </p:spPr>
        <p:txBody>
          <a:bodyPr wrap="square" lIns="0" rIns="0" tIns="0" bIns="0">
            <a:spAutoFit/>
          </a:bodyPr>
          <a:lstStyle/>
          <a:p>
            <a:pPr algn="l">
              <a:lnSpc>
                <a:spcPct val="90000"/>
              </a:lnSpc>
              <a:spcBef>
                <a:spcPts val="0"/>
              </a:spcBef>
              <a:spcAft>
                <a:spcPts val="200"/>
              </a:spcAft>
            </a:pPr>
            <a:r>
              <a:rPr sz="3400" b="1" i="0">
                <a:solidFill>
                  <a:srgbClr val="1F5C8B"/>
                </a:solidFill>
                <a:latin typeface="Calibri"/>
              </a:rPr>
              <a:t>0.66</a:t>
            </a:r>
          </a:p>
          <a:p>
            <a:pPr algn="l">
              <a:lnSpc>
                <a:spcPct val="100000"/>
              </a:lnSpc>
              <a:spcBef>
                <a:spcPts val="0"/>
              </a:spcBef>
              <a:spcAft>
                <a:spcPts val="300"/>
              </a:spcAft>
            </a:pPr>
            <a:r>
              <a:rPr sz="1150" b="1" i="0">
                <a:solidFill>
                  <a:srgbClr val="1C1C1C"/>
                </a:solidFill>
                <a:latin typeface="Calibri"/>
              </a:rPr>
              <a:t>self-purchases before that excess halves</a:t>
            </a:r>
          </a:p>
          <a:p>
            <a:pPr algn="l">
              <a:lnSpc>
                <a:spcPct val="105000"/>
              </a:lnSpc>
              <a:spcBef>
                <a:spcPts val="0"/>
              </a:spcBef>
              <a:spcAft>
                <a:spcPts val="0"/>
              </a:spcAft>
            </a:pPr>
            <a:r>
              <a:rPr sz="1000" b="0" i="0">
                <a:solidFill>
                  <a:srgbClr val="555555"/>
                </a:solidFill>
                <a:latin typeface="Calibri"/>
              </a:rPr>
              <a:t>95% CI [0.53, 0.82] · ≈2.4 weeks (approximate)</a:t>
            </a:r>
          </a:p>
        </p:txBody>
      </p:sp>
      <p:sp>
        <p:nvSpPr>
          <p:cNvPr id="9" name="Rounded Rectangle 8"/>
          <p:cNvSpPr/>
          <p:nvPr/>
        </p:nvSpPr>
        <p:spPr>
          <a:xfrm>
            <a:off x="8103412" y="1847088"/>
            <a:ext cx="3429914" cy="169164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8268004" y="1993392"/>
            <a:ext cx="3100730" cy="1399032"/>
          </a:xfrm>
          <a:prstGeom prst="rect">
            <a:avLst/>
          </a:prstGeom>
          <a:noFill/>
        </p:spPr>
        <p:txBody>
          <a:bodyPr wrap="square" lIns="0" rIns="0" tIns="0" bIns="0">
            <a:spAutoFit/>
          </a:bodyPr>
          <a:lstStyle/>
          <a:p>
            <a:pPr algn="l">
              <a:lnSpc>
                <a:spcPct val="90000"/>
              </a:lnSpc>
              <a:spcBef>
                <a:spcPts val="0"/>
              </a:spcBef>
              <a:spcAft>
                <a:spcPts val="200"/>
              </a:spcAft>
            </a:pPr>
            <a:r>
              <a:rPr sz="3400" b="1" i="0">
                <a:solidFill>
                  <a:srgbClr val="1F5C8B"/>
                </a:solidFill>
                <a:latin typeface="Calibri"/>
              </a:rPr>
              <a:t>+4.9 pts</a:t>
            </a:r>
          </a:p>
          <a:p>
            <a:pPr algn="l">
              <a:lnSpc>
                <a:spcPct val="100000"/>
              </a:lnSpc>
              <a:spcBef>
                <a:spcPts val="0"/>
              </a:spcBef>
              <a:spcAft>
                <a:spcPts val="300"/>
              </a:spcAft>
            </a:pPr>
            <a:r>
              <a:rPr sz="1150" b="1" i="0">
                <a:solidFill>
                  <a:srgbClr val="1C1C1C"/>
                </a:solidFill>
                <a:latin typeface="Calibri"/>
              </a:rPr>
              <a:t>of slots go to gift-only subcategories</a:t>
            </a:r>
          </a:p>
          <a:p>
            <a:pPr algn="l">
              <a:lnSpc>
                <a:spcPct val="105000"/>
              </a:lnSpc>
              <a:spcBef>
                <a:spcPts val="0"/>
              </a:spcBef>
              <a:spcAft>
                <a:spcPts val="0"/>
              </a:spcAft>
            </a:pPr>
            <a:r>
              <a:rPr sz="1000" b="0" i="0">
                <a:solidFill>
                  <a:srgbClr val="555555"/>
                </a:solidFill>
                <a:latin typeface="Calibri"/>
              </a:rPr>
              <a:t>Classical model × Toys, waste share C0 − C1, 95% CI [4.76, 5.04] pts</a:t>
            </a:r>
          </a:p>
        </p:txBody>
      </p:sp>
      <p:sp>
        <p:nvSpPr>
          <p:cNvPr id="11" name="TextBox 10"/>
          <p:cNvSpPr txBox="1"/>
          <p:nvPr/>
        </p:nvSpPr>
        <p:spPr>
          <a:xfrm>
            <a:off x="658368" y="3840480"/>
            <a:ext cx="10874959" cy="292608"/>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WHERE THE BUDGET LEAKS</a:t>
            </a:r>
          </a:p>
        </p:txBody>
      </p:sp>
      <p:graphicFrame>
        <p:nvGraphicFramePr>
          <p:cNvPr id="12" name="Table 11"/>
          <p:cNvGraphicFramePr>
            <a:graphicFrameLocks noGrp="1"/>
          </p:cNvGraphicFramePr>
          <p:nvPr/>
        </p:nvGraphicFramePr>
        <p:xfrm>
          <a:off x="658368" y="4123944"/>
          <a:ext cx="10874957" cy="1682496"/>
        </p:xfrm>
        <a:graphic>
          <a:graphicData uri="http://schemas.openxmlformats.org/drawingml/2006/table">
            <a:tbl>
              <a:tblPr>
                <a:tableStyleId>{2D5ABB26-0587-4C30-8999-92F81FD0307C}</a:tableStyleId>
              </a:tblPr>
              <a:tblGrid>
                <a:gridCol w="2269556"/>
                <a:gridCol w="4349983"/>
                <a:gridCol w="4255418"/>
              </a:tblGrid>
              <a:tr h="420624">
                <a:tc>
                  <a:txBody>
                    <a:bodyPr/>
                    <a:lstStyle/>
                    <a:p>
                      <a:pPr algn="l">
                        <a:spcBef>
                          <a:spcPts val="0"/>
                        </a:spcBef>
                        <a:spcAft>
                          <a:spcPts val="0"/>
                        </a:spcAft>
                      </a:pPr>
                      <a:r>
                        <a:rPr sz="1000" b="1" i="0">
                          <a:solidFill>
                            <a:srgbClr val="1F5C8B"/>
                          </a:solidFill>
                          <a:latin typeface="Calibri"/>
                        </a:rPr>
                        <a:t>Channel</a:t>
                      </a:r>
                    </a:p>
                  </a:txBody>
                  <a:tcPr marL="73152" marR="73152" marT="18288" marB="18288" anchor="ctr">
                    <a:solidFill>
                      <a:srgbClr val="E8EFF6"/>
                    </a:solidFill>
                  </a:tcPr>
                </a:tc>
                <a:tc>
                  <a:txBody>
                    <a:bodyPr/>
                    <a:lstStyle/>
                    <a:p>
                      <a:pPr algn="l">
                        <a:spcBef>
                          <a:spcPts val="0"/>
                        </a:spcBef>
                        <a:spcAft>
                          <a:spcPts val="0"/>
                        </a:spcAft>
                      </a:pPr>
                      <a:r>
                        <a:rPr sz="1000" b="1" i="0">
                          <a:solidFill>
                            <a:srgbClr val="1F5C8B"/>
                          </a:solidFill>
                          <a:latin typeface="Calibri"/>
                        </a:rPr>
                        <a:t>What the contaminated model does</a:t>
                      </a:r>
                    </a:p>
                  </a:txBody>
                  <a:tcPr marL="73152" marR="73152" marT="18288" marB="18288" anchor="ctr">
                    <a:solidFill>
                      <a:srgbClr val="E8EFF6"/>
                    </a:solidFill>
                  </a:tcPr>
                </a:tc>
                <a:tc>
                  <a:txBody>
                    <a:bodyPr/>
                    <a:lstStyle/>
                    <a:p>
                      <a:pPr algn="l">
                        <a:spcBef>
                          <a:spcPts val="0"/>
                        </a:spcBef>
                        <a:spcAft>
                          <a:spcPts val="0"/>
                        </a:spcAft>
                      </a:pPr>
                      <a:r>
                        <a:rPr sz="1000" b="1" i="0">
                          <a:solidFill>
                            <a:srgbClr val="1F5C8B"/>
                          </a:solidFill>
                          <a:latin typeface="Calibri"/>
                        </a:rPr>
                        <a:t>Consequence</a:t>
                      </a:r>
                    </a:p>
                  </a:txBody>
                  <a:tcPr marL="73152" marR="73152" marT="18288" marB="18288" anchor="ctr">
                    <a:solidFill>
                      <a:srgbClr val="E8EFF6"/>
                    </a:solidFill>
                  </a:tcPr>
                </a:tc>
              </a:tr>
              <a:tr h="420624">
                <a:tc>
                  <a:txBody>
                    <a:bodyPr/>
                    <a:lstStyle/>
                    <a:p>
                      <a:pPr algn="l">
                        <a:spcBef>
                          <a:spcPts val="0"/>
                        </a:spcBef>
                        <a:spcAft>
                          <a:spcPts val="0"/>
                        </a:spcAft>
                      </a:pPr>
                      <a:r>
                        <a:rPr sz="1100" b="0" i="0">
                          <a:solidFill>
                            <a:srgbClr val="1C1C1C"/>
                          </a:solidFill>
                          <a:latin typeface="Calibri"/>
                        </a:rPr>
                        <a:t>On-site recommendations</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Reserves slots for a subcategory the customer never buys for themselves</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Lower slot productivity; the customer's real next purchase is pushed out</a:t>
                      </a:r>
                    </a:p>
                  </a:txBody>
                  <a:tcPr marL="73152" marR="73152" marT="18288" marB="18288" anchor="ctr">
                    <a:solidFill>
                      <a:srgbClr val="FFFFFF"/>
                    </a:solidFill>
                  </a:tcPr>
                </a:tc>
              </a:tr>
              <a:tr h="420624">
                <a:tc>
                  <a:txBody>
                    <a:bodyPr/>
                    <a:lstStyle/>
                    <a:p>
                      <a:pPr algn="l">
                        <a:spcBef>
                          <a:spcPts val="0"/>
                        </a:spcBef>
                        <a:spcAft>
                          <a:spcPts val="0"/>
                        </a:spcAft>
                      </a:pPr>
                      <a:r>
                        <a:rPr sz="1100" b="0" i="0">
                          <a:solidFill>
                            <a:srgbClr val="1C1C1C"/>
                          </a:solidFill>
                          <a:latin typeface="Calibri"/>
                        </a:rPr>
                        <a:t>Retargeting / email</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Rebuilds the audience around the gift's category</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Impressions billed against an interest that does not exist</a:t>
                      </a:r>
                    </a:p>
                  </a:txBody>
                  <a:tcPr marL="73152" marR="73152" marT="18288" marB="18288" anchor="ctr">
                    <a:solidFill>
                      <a:srgbClr val="FAFAFA"/>
                    </a:solidFill>
                  </a:tcPr>
                </a:tc>
              </a:tr>
              <a:tr h="420624">
                <a:tc>
                  <a:txBody>
                    <a:bodyPr/>
                    <a:lstStyle/>
                    <a:p>
                      <a:pPr algn="l">
                        <a:spcBef>
                          <a:spcPts val="0"/>
                        </a:spcBef>
                        <a:spcAft>
                          <a:spcPts val="0"/>
                        </a:spcAft>
                      </a:pPr>
                      <a:r>
                        <a:rPr sz="1100" b="0" i="0">
                          <a:solidFill>
                            <a:srgbClr val="1C1C1C"/>
                          </a:solidFill>
                          <a:latin typeface="Calibri"/>
                        </a:rPr>
                        <a:t>Lifecycle timing</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Reads a December gift peak as a taste shift</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Seasonal campaign aimed at the wrong segment</a:t>
                      </a:r>
                    </a:p>
                  </a:txBody>
                  <a:tcPr marL="73152" marR="73152" marT="18288" marB="18288" anchor="ctr">
                    <a:solidFill>
                      <a:srgbClr val="FFFFFF"/>
                    </a:solidFill>
                  </a:tcPr>
                </a:tc>
              </a:tr>
            </a:tbl>
          </a:graphicData>
        </a:graphic>
      </p:graphicFrame>
      <p:sp>
        <p:nvSpPr>
          <p:cNvPr id="13" name="TextBox 12"/>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4" name="TextBox 13"/>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RESEARCH QUESTIONS</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Four questions, fixed before the experiment was run</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graphicFrame>
        <p:nvGraphicFramePr>
          <p:cNvPr id="5" name="Table 4"/>
          <p:cNvGraphicFramePr>
            <a:graphicFrameLocks noGrp="1"/>
          </p:cNvGraphicFramePr>
          <p:nvPr/>
        </p:nvGraphicFramePr>
        <p:xfrm>
          <a:off x="658368" y="1874519"/>
          <a:ext cx="10874957" cy="2286000"/>
        </p:xfrm>
        <a:graphic>
          <a:graphicData uri="http://schemas.openxmlformats.org/drawingml/2006/table">
            <a:tbl>
              <a:tblPr>
                <a:tableStyleId>{2D5ABB26-0587-4C30-8999-92F81FD0307C}</a:tableStyleId>
              </a:tblPr>
              <a:tblGrid>
                <a:gridCol w="685396"/>
                <a:gridCol w="5117627"/>
                <a:gridCol w="5071934"/>
              </a:tblGrid>
              <a:tr h="457200">
                <a:tc>
                  <a:txBody>
                    <a:bodyPr/>
                    <a:lstStyle/>
                    <a:p>
                      <a:pPr algn="l">
                        <a:spcBef>
                          <a:spcPts val="0"/>
                        </a:spcBef>
                        <a:spcAft>
                          <a:spcPts val="0"/>
                        </a:spcAft>
                      </a:pPr>
                      <a:r>
                        <a:rPr sz="1000" b="1" i="0">
                          <a:solidFill>
                            <a:srgbClr val="1F5C8B"/>
                          </a:solidFill>
                          <a:latin typeface="Calibri"/>
                        </a:rPr>
                        <a:t/>
                      </a:r>
                    </a:p>
                  </a:txBody>
                  <a:tcPr marL="73152" marR="73152" marT="18288" marB="18288" anchor="ctr">
                    <a:solidFill>
                      <a:srgbClr val="E8EFF6"/>
                    </a:solidFill>
                  </a:tcPr>
                </a:tc>
                <a:tc>
                  <a:txBody>
                    <a:bodyPr/>
                    <a:lstStyle/>
                    <a:p>
                      <a:pPr algn="l">
                        <a:spcBef>
                          <a:spcPts val="0"/>
                        </a:spcBef>
                        <a:spcAft>
                          <a:spcPts val="0"/>
                        </a:spcAft>
                      </a:pPr>
                      <a:r>
                        <a:rPr sz="1000" b="1" i="0">
                          <a:solidFill>
                            <a:srgbClr val="1F5C8B"/>
                          </a:solidFill>
                          <a:latin typeface="Calibri"/>
                        </a:rPr>
                        <a:t>Question</a:t>
                      </a:r>
                    </a:p>
                  </a:txBody>
                  <a:tcPr marL="73152" marR="73152" marT="18288" marB="18288" anchor="ctr">
                    <a:solidFill>
                      <a:srgbClr val="E8EFF6"/>
                    </a:solidFill>
                  </a:tcPr>
                </a:tc>
                <a:tc>
                  <a:txBody>
                    <a:bodyPr/>
                    <a:lstStyle/>
                    <a:p>
                      <a:pPr algn="l">
                        <a:spcBef>
                          <a:spcPts val="0"/>
                        </a:spcBef>
                        <a:spcAft>
                          <a:spcPts val="0"/>
                        </a:spcAft>
                      </a:pPr>
                      <a:r>
                        <a:rPr sz="1000" b="1" i="0">
                          <a:solidFill>
                            <a:srgbClr val="1F5C8B"/>
                          </a:solidFill>
                          <a:latin typeface="Calibri"/>
                        </a:rPr>
                        <a:t>How it is answered</a:t>
                      </a:r>
                    </a:p>
                  </a:txBody>
                  <a:tcPr marL="73152" marR="73152" marT="18288" marB="18288" anchor="ctr">
                    <a:solidFill>
                      <a:srgbClr val="E8EFF6"/>
                    </a:solidFill>
                  </a:tcPr>
                </a:tc>
              </a:tr>
              <a:tr h="457200">
                <a:tc>
                  <a:txBody>
                    <a:bodyPr/>
                    <a:lstStyle/>
                    <a:p>
                      <a:pPr algn="l">
                        <a:spcBef>
                          <a:spcPts val="0"/>
                        </a:spcBef>
                        <a:spcAft>
                          <a:spcPts val="0"/>
                        </a:spcAft>
                      </a:pPr>
                      <a:r>
                        <a:rPr sz="1150" b="1" i="0">
                          <a:solidFill>
                            <a:srgbClr val="1C1C1C"/>
                          </a:solidFill>
                          <a:latin typeface="Calibri"/>
                        </a:rPr>
                        <a:t>RQ1</a:t>
                      </a:r>
                    </a:p>
                  </a:txBody>
                  <a:tcPr marL="73152" marR="73152" marT="18288" marB="18288" anchor="ctr">
                    <a:solidFill>
                      <a:srgbClr val="FFFFFF"/>
                    </a:solidFill>
                  </a:tcPr>
                </a:tc>
                <a:tc>
                  <a:txBody>
                    <a:bodyPr/>
                    <a:lstStyle/>
                    <a:p>
                      <a:pPr algn="l">
                        <a:spcBef>
                          <a:spcPts val="0"/>
                        </a:spcBef>
                        <a:spcAft>
                          <a:spcPts val="0"/>
                        </a:spcAft>
                      </a:pPr>
                      <a:r>
                        <a:rPr sz="1150" b="0" i="0">
                          <a:solidFill>
                            <a:srgbClr val="1C1C1C"/>
                          </a:solidFill>
                          <a:latin typeface="Calibri"/>
                        </a:rPr>
                        <a:t>How common are gift purchases, and when?</a:t>
                      </a:r>
                    </a:p>
                  </a:txBody>
                  <a:tcPr marL="73152" marR="73152" marT="18288" marB="18288" anchor="ctr">
                    <a:solidFill>
                      <a:srgbClr val="FFFFFF"/>
                    </a:solidFill>
                  </a:tcPr>
                </a:tc>
                <a:tc>
                  <a:txBody>
                    <a:bodyPr/>
                    <a:lstStyle/>
                    <a:p>
                      <a:pPr algn="l">
                        <a:spcBef>
                          <a:spcPts val="0"/>
                        </a:spcBef>
                        <a:spcAft>
                          <a:spcPts val="0"/>
                        </a:spcAft>
                      </a:pPr>
                      <a:r>
                        <a:rPr sz="1150" b="0" i="0">
                          <a:solidFill>
                            <a:srgbClr val="1C1C1C"/>
                          </a:solidFill>
                          <a:latin typeface="Calibri"/>
                        </a:rPr>
                        <a:t>Human-calibrated prevalence per category + month-of-year profile</a:t>
                      </a:r>
                    </a:p>
                  </a:txBody>
                  <a:tcPr marL="73152" marR="73152" marT="18288" marB="18288" anchor="ctr">
                    <a:solidFill>
                      <a:srgbClr val="FFFFFF"/>
                    </a:solidFill>
                  </a:tcPr>
                </a:tc>
              </a:tr>
              <a:tr h="457200">
                <a:tc>
                  <a:txBody>
                    <a:bodyPr/>
                    <a:lstStyle/>
                    <a:p>
                      <a:pPr algn="l">
                        <a:spcBef>
                          <a:spcPts val="0"/>
                        </a:spcBef>
                        <a:spcAft>
                          <a:spcPts val="0"/>
                        </a:spcAft>
                      </a:pPr>
                      <a:r>
                        <a:rPr sz="1150" b="1" i="0">
                          <a:solidFill>
                            <a:srgbClr val="1C1C1C"/>
                          </a:solidFill>
                          <a:latin typeface="Calibri"/>
                        </a:rPr>
                        <a:t>RQ2</a:t>
                      </a:r>
                    </a:p>
                  </a:txBody>
                  <a:tcPr marL="73152" marR="73152" marT="18288" marB="18288" anchor="ctr">
                    <a:solidFill>
                      <a:srgbClr val="FAFAFA"/>
                    </a:solidFill>
                  </a:tcPr>
                </a:tc>
                <a:tc>
                  <a:txBody>
                    <a:bodyPr/>
                    <a:lstStyle/>
                    <a:p>
                      <a:pPr algn="l">
                        <a:spcBef>
                          <a:spcPts val="0"/>
                        </a:spcBef>
                        <a:spcAft>
                          <a:spcPts val="0"/>
                        </a:spcAft>
                      </a:pPr>
                      <a:r>
                        <a:rPr sz="1150" b="0" i="0">
                          <a:solidFill>
                            <a:srgbClr val="1C1C1C"/>
                          </a:solidFill>
                          <a:latin typeface="Calibri"/>
                        </a:rPr>
                        <a:t>Does removing gift rows improve prediction of the user's own next purchase?</a:t>
                      </a:r>
                    </a:p>
                  </a:txBody>
                  <a:tcPr marL="73152" marR="73152" marT="18288" marB="18288" anchor="ctr">
                    <a:solidFill>
                      <a:srgbClr val="FAFAFA"/>
                    </a:solidFill>
                  </a:tcPr>
                </a:tc>
                <a:tc>
                  <a:txBody>
                    <a:bodyPr/>
                    <a:lstStyle/>
                    <a:p>
                      <a:pPr algn="l">
                        <a:spcBef>
                          <a:spcPts val="0"/>
                        </a:spcBef>
                        <a:spcAft>
                          <a:spcPts val="0"/>
                        </a:spcAft>
                      </a:pPr>
                      <a:r>
                        <a:rPr sz="1150" b="0" i="0">
                          <a:solidFill>
                            <a:srgbClr val="1C1C1C"/>
                          </a:solidFill>
                          <a:latin typeface="Calibri"/>
                        </a:rPr>
                        <a:t>C1 vs a placebo (C4) that deletes the same NUMBER of random rows</a:t>
                      </a:r>
                    </a:p>
                  </a:txBody>
                  <a:tcPr marL="73152" marR="73152" marT="18288" marB="18288" anchor="ctr">
                    <a:solidFill>
                      <a:srgbClr val="FAFAFA"/>
                    </a:solidFill>
                  </a:tcPr>
                </a:tc>
              </a:tr>
              <a:tr h="457200">
                <a:tc>
                  <a:txBody>
                    <a:bodyPr/>
                    <a:lstStyle/>
                    <a:p>
                      <a:pPr algn="l">
                        <a:spcBef>
                          <a:spcPts val="0"/>
                        </a:spcBef>
                        <a:spcAft>
                          <a:spcPts val="0"/>
                        </a:spcAft>
                      </a:pPr>
                      <a:r>
                        <a:rPr sz="1150" b="1" i="0">
                          <a:solidFill>
                            <a:srgbClr val="1C1C1C"/>
                          </a:solidFill>
                          <a:latin typeface="Calibri"/>
                        </a:rPr>
                        <a:t>RQ3</a:t>
                      </a:r>
                    </a:p>
                  </a:txBody>
                  <a:tcPr marL="73152" marR="73152" marT="18288" marB="18288" anchor="ctr">
                    <a:solidFill>
                      <a:srgbClr val="FFFFFF"/>
                    </a:solidFill>
                  </a:tcPr>
                </a:tc>
                <a:tc>
                  <a:txBody>
                    <a:bodyPr/>
                    <a:lstStyle/>
                    <a:p>
                      <a:pPr algn="l">
                        <a:spcBef>
                          <a:spcPts val="0"/>
                        </a:spcBef>
                        <a:spcAft>
                          <a:spcPts val="0"/>
                        </a:spcAft>
                      </a:pPr>
                      <a:r>
                        <a:rPr sz="1150" b="0" i="0">
                          <a:solidFill>
                            <a:srgbClr val="1C1C1C"/>
                          </a:solidFill>
                          <a:latin typeface="Calibri"/>
                        </a:rPr>
                        <a:t>Is it better to delete gifts or to flag them?</a:t>
                      </a:r>
                    </a:p>
                  </a:txBody>
                  <a:tcPr marL="73152" marR="73152" marT="18288" marB="18288" anchor="ctr">
                    <a:solidFill>
                      <a:srgbClr val="FFFFFF"/>
                    </a:solidFill>
                  </a:tcPr>
                </a:tc>
                <a:tc>
                  <a:txBody>
                    <a:bodyPr/>
                    <a:lstStyle/>
                    <a:p>
                      <a:pPr algn="l">
                        <a:spcBef>
                          <a:spcPts val="0"/>
                        </a:spcBef>
                        <a:spcAft>
                          <a:spcPts val="0"/>
                        </a:spcAft>
                      </a:pPr>
                      <a:r>
                        <a:rPr sz="1150" b="0" i="0">
                          <a:solidFill>
                            <a:srgbClr val="1C1C1C"/>
                          </a:solidFill>
                          <a:latin typeface="Calibri"/>
                        </a:rPr>
                        <a:t>C3 (shadow token) against both C1 (delete) and C0 (do nothing)</a:t>
                      </a:r>
                    </a:p>
                  </a:txBody>
                  <a:tcPr marL="73152" marR="73152" marT="18288" marB="18288" anchor="ctr">
                    <a:solidFill>
                      <a:srgbClr val="FFFFFF"/>
                    </a:solidFill>
                  </a:tcPr>
                </a:tc>
              </a:tr>
              <a:tr h="457200">
                <a:tc>
                  <a:txBody>
                    <a:bodyPr/>
                    <a:lstStyle/>
                    <a:p>
                      <a:pPr algn="l">
                        <a:spcBef>
                          <a:spcPts val="0"/>
                        </a:spcBef>
                        <a:spcAft>
                          <a:spcPts val="0"/>
                        </a:spcAft>
                      </a:pPr>
                      <a:r>
                        <a:rPr sz="1150" b="1" i="0">
                          <a:solidFill>
                            <a:srgbClr val="1C1C1C"/>
                          </a:solidFill>
                          <a:latin typeface="Calibri"/>
                        </a:rPr>
                        <a:t>RQ4</a:t>
                      </a:r>
                    </a:p>
                  </a:txBody>
                  <a:tcPr marL="73152" marR="73152" marT="18288" marB="18288" anchor="ctr">
                    <a:solidFill>
                      <a:srgbClr val="FAFAFA"/>
                    </a:solidFill>
                  </a:tcPr>
                </a:tc>
                <a:tc>
                  <a:txBody>
                    <a:bodyPr/>
                    <a:lstStyle/>
                    <a:p>
                      <a:pPr algn="l">
                        <a:spcBef>
                          <a:spcPts val="0"/>
                        </a:spcBef>
                        <a:spcAft>
                          <a:spcPts val="0"/>
                        </a:spcAft>
                      </a:pPr>
                      <a:r>
                        <a:rPr sz="1150" b="0" i="0">
                          <a:solidFill>
                            <a:srgbClr val="1C1C1C"/>
                          </a:solidFill>
                          <a:latin typeface="Calibri"/>
                        </a:rPr>
                        <a:t>How long does a recommendation list stay contaminated?</a:t>
                      </a:r>
                    </a:p>
                  </a:txBody>
                  <a:tcPr marL="73152" marR="73152" marT="18288" marB="18288" anchor="ctr">
                    <a:solidFill>
                      <a:srgbClr val="FAFAFA"/>
                    </a:solidFill>
                  </a:tcPr>
                </a:tc>
                <a:tc>
                  <a:txBody>
                    <a:bodyPr/>
                    <a:lstStyle/>
                    <a:p>
                      <a:pPr algn="l">
                        <a:spcBef>
                          <a:spcPts val="0"/>
                        </a:spcBef>
                        <a:spcAft>
                          <a:spcPts val="0"/>
                        </a:spcAft>
                      </a:pPr>
                      <a:r>
                        <a:rPr sz="1150" b="0" i="0">
                          <a:solidFill>
                            <a:srgbClr val="1C1C1C"/>
                          </a:solidFill>
                          <a:latin typeface="Calibri"/>
                        </a:rPr>
                        <a:t>M2 half-life in self-purchases, M1 wasted slot share</a:t>
                      </a:r>
                    </a:p>
                  </a:txBody>
                  <a:tcPr marL="73152" marR="73152" marT="18288" marB="18288" anchor="ctr">
                    <a:solidFill>
                      <a:srgbClr val="FAFAFA"/>
                    </a:solidFill>
                  </a:tcPr>
                </a:tc>
              </a:tr>
            </a:tbl>
          </a:graphicData>
        </a:graphic>
      </p:graphicFrame>
      <p:sp>
        <p:nvSpPr>
          <p:cNvPr id="6" name="Rounded Rectangle 5"/>
          <p:cNvSpPr/>
          <p:nvPr/>
        </p:nvSpPr>
        <p:spPr>
          <a:xfrm>
            <a:off x="658368" y="4434840"/>
            <a:ext cx="10874959" cy="141732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7" name="TextBox 6"/>
          <p:cNvSpPr txBox="1"/>
          <p:nvPr/>
        </p:nvSpPr>
        <p:spPr>
          <a:xfrm>
            <a:off x="859536" y="4572000"/>
            <a:ext cx="10472623" cy="1188720"/>
          </a:xfrm>
          <a:prstGeom prst="rect">
            <a:avLst/>
          </a:prstGeom>
          <a:noFill/>
        </p:spPr>
        <p:txBody>
          <a:bodyPr wrap="square" lIns="0" rIns="0" tIns="0" bIns="0">
            <a:spAutoFit/>
          </a:bodyPr>
          <a:lstStyle/>
          <a:p>
            <a:pPr algn="l">
              <a:spcBef>
                <a:spcPts val="0"/>
              </a:spcBef>
              <a:spcAft>
                <a:spcPts val="600"/>
              </a:spcAft>
            </a:pPr>
            <a:r>
              <a:rPr sz="1350" b="1" i="0">
                <a:solidFill>
                  <a:srgbClr val="1F5C8B"/>
                </a:solidFill>
                <a:latin typeface="Calibri"/>
              </a:rPr>
              <a:t>The interpretation rule was written down BEFORE any result was seen</a:t>
            </a:r>
          </a:p>
          <a:p>
            <a:pPr algn="l">
              <a:lnSpc>
                <a:spcPct val="115000"/>
              </a:lnSpc>
              <a:spcBef>
                <a:spcPts val="0"/>
              </a:spcBef>
              <a:spcAft>
                <a:spcPts val="400"/>
              </a:spcAft>
            </a:pPr>
            <a:r>
              <a:rPr sz="1150" b="0" i="0">
                <a:solidFill>
                  <a:srgbClr val="1C1C1C"/>
                </a:solidFill>
                <a:latin typeface="Calibri"/>
              </a:rPr>
              <a:t>A 95 % bootstrap interval that excludes zero in the expected direction → reported as a LOWER BOUND (alt_sınır), because label noise pulls a placebo contrast toward the placebo.   An interval containing zero → NOT DETECTABLE (saptanamadı) — never "no effect".   An interval excluding zero in the opposite direction → NEGATIVE (negatif), reported as such.</a:t>
            </a:r>
          </a:p>
          <a:p>
            <a:pPr algn="l">
              <a:spcBef>
                <a:spcPts val="0"/>
              </a:spcBef>
              <a:spcAft>
                <a:spcPts val="0"/>
              </a:spcAft>
            </a:pPr>
            <a:r>
              <a:rPr sz="1050" b="0" i="1">
                <a:solidFill>
                  <a:srgbClr val="555555"/>
                </a:solidFill>
                <a:latin typeface="Calibri"/>
              </a:rPr>
              <a:t>Dated in repo/docs/DECISIONS.md. Thresholds were never edited after a result was seen; the 500 human-labelled rows were never used for tuning.</a:t>
            </a:r>
          </a:p>
        </p:txBody>
      </p:sp>
      <p:sp>
        <p:nvSpPr>
          <p:cNvPr id="8" name="TextBox 7"/>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9" name="TextBox 8"/>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HOW IT WAS BUILT</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300" b="1" i="0">
                <a:solidFill>
                  <a:srgbClr val="1C1C1C"/>
                </a:solidFill>
                <a:latin typeface="Calibri"/>
              </a:rPr>
              <a:t>One pipeline: a big model teaches a small one, then the small one labels everything</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901952"/>
            <a:ext cx="1984796" cy="1143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Amazon Reviews 2023</a:t>
            </a:r>
          </a:p>
          <a:p>
            <a:pPr algn="ctr">
              <a:lnSpc>
                <a:spcPct val="100000"/>
              </a:lnSpc>
              <a:spcBef>
                <a:spcPts val="0"/>
              </a:spcBef>
              <a:spcAft>
                <a:spcPts val="0"/>
              </a:spcAft>
            </a:pPr>
            <a:r>
              <a:rPr sz="1050" b="0" i="0">
                <a:solidFill>
                  <a:srgbClr val="555555"/>
                </a:solidFill>
                <a:latin typeface="Calibri"/>
              </a:rPr>
              <a:t>4 categories · 35,905,069 raw reviews</a:t>
            </a:r>
          </a:p>
        </p:txBody>
      </p:sp>
      <p:sp>
        <p:nvSpPr>
          <p:cNvPr id="6" name="Right Arrow 5"/>
          <p:cNvSpPr/>
          <p:nvPr/>
        </p:nvSpPr>
        <p:spPr>
          <a:xfrm>
            <a:off x="2684312" y="2395728"/>
            <a:ext cx="155448"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7" name="Rounded Rectangle 6"/>
          <p:cNvSpPr/>
          <p:nvPr/>
        </p:nvSpPr>
        <p:spPr>
          <a:xfrm>
            <a:off x="2880908" y="1901952"/>
            <a:ext cx="1984796" cy="1143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Teacher: Qwen3-4B-Instruct-2507</a:t>
            </a:r>
          </a:p>
          <a:p>
            <a:pPr algn="ctr">
              <a:lnSpc>
                <a:spcPct val="100000"/>
              </a:lnSpc>
              <a:spcBef>
                <a:spcPts val="0"/>
              </a:spcBef>
              <a:spcAft>
                <a:spcPts val="0"/>
              </a:spcAft>
            </a:pPr>
            <a:r>
              <a:rPr sz="1050" b="0" i="0">
                <a:solidFill>
                  <a:srgbClr val="555555"/>
                </a:solidFill>
                <a:latin typeface="Calibri"/>
              </a:rPr>
              <a:t>prompt v3 · vllm on 2×T4 · 47,200 labels</a:t>
            </a:r>
          </a:p>
        </p:txBody>
      </p:sp>
      <p:sp>
        <p:nvSpPr>
          <p:cNvPr id="8" name="Right Arrow 7"/>
          <p:cNvSpPr/>
          <p:nvPr/>
        </p:nvSpPr>
        <p:spPr>
          <a:xfrm>
            <a:off x="4906853" y="2395728"/>
            <a:ext cx="155448"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9" name="Rounded Rectangle 8"/>
          <p:cNvSpPr/>
          <p:nvPr/>
        </p:nvSpPr>
        <p:spPr>
          <a:xfrm>
            <a:off x="5103449" y="1901952"/>
            <a:ext cx="1984796" cy="1143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Human check</a:t>
            </a:r>
          </a:p>
          <a:p>
            <a:pPr algn="ctr">
              <a:lnSpc>
                <a:spcPct val="100000"/>
              </a:lnSpc>
              <a:spcBef>
                <a:spcPts val="0"/>
              </a:spcBef>
              <a:spcAft>
                <a:spcPts val="0"/>
              </a:spcAft>
            </a:pPr>
            <a:r>
              <a:rPr sz="1050" b="0" i="0">
                <a:solidFill>
                  <a:srgbClr val="555555"/>
                </a:solidFill>
                <a:latin typeface="Calibri"/>
              </a:rPr>
              <a:t>500 rows, 5-class schema, 1 annotator</a:t>
            </a:r>
          </a:p>
        </p:txBody>
      </p:sp>
      <p:sp>
        <p:nvSpPr>
          <p:cNvPr id="10" name="Right Arrow 9"/>
          <p:cNvSpPr/>
          <p:nvPr/>
        </p:nvSpPr>
        <p:spPr>
          <a:xfrm>
            <a:off x="7129393" y="2395728"/>
            <a:ext cx="155448"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1" name="Rounded Rectangle 10"/>
          <p:cNvSpPr/>
          <p:nvPr/>
        </p:nvSpPr>
        <p:spPr>
          <a:xfrm>
            <a:off x="7325989" y="1901952"/>
            <a:ext cx="1984796" cy="1143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Student: ModernBERT-base</a:t>
            </a:r>
          </a:p>
          <a:p>
            <a:pPr algn="ctr">
              <a:lnSpc>
                <a:spcPct val="100000"/>
              </a:lnSpc>
              <a:spcBef>
                <a:spcPts val="0"/>
              </a:spcBef>
              <a:spcAft>
                <a:spcPts val="0"/>
              </a:spcAft>
            </a:pPr>
            <a:r>
              <a:rPr sz="1050" b="0" i="0">
                <a:solidFill>
                  <a:srgbClr val="555555"/>
                </a:solidFill>
                <a:latin typeface="Calibri"/>
              </a:rPr>
              <a:t>fidelity gate PASS · 4,598,612 rows labelled</a:t>
            </a:r>
          </a:p>
        </p:txBody>
      </p:sp>
      <p:sp>
        <p:nvSpPr>
          <p:cNvPr id="12" name="Right Arrow 11"/>
          <p:cNvSpPr/>
          <p:nvPr/>
        </p:nvSpPr>
        <p:spPr>
          <a:xfrm>
            <a:off x="9351934" y="2395728"/>
            <a:ext cx="155448"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Rounded Rectangle 12"/>
          <p:cNvSpPr/>
          <p:nvPr/>
        </p:nvSpPr>
        <p:spPr>
          <a:xfrm>
            <a:off x="9548530" y="1901952"/>
            <a:ext cx="1984796" cy="1143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150" b="1" i="0">
                <a:solidFill>
                  <a:srgbClr val="1F5C8B"/>
                </a:solidFill>
                <a:latin typeface="Calibri"/>
              </a:rPr>
              <a:t>RecBole experiment</a:t>
            </a:r>
          </a:p>
          <a:p>
            <a:pPr algn="ctr">
              <a:lnSpc>
                <a:spcPct val="100000"/>
              </a:lnSpc>
              <a:spcBef>
                <a:spcPts val="0"/>
              </a:spcBef>
              <a:spcAft>
                <a:spcPts val="0"/>
              </a:spcAft>
            </a:pPr>
            <a:r>
              <a:rPr sz="1050" b="0" i="0">
                <a:solidFill>
                  <a:srgbClr val="555555"/>
                </a:solidFill>
                <a:latin typeface="Calibri"/>
              </a:rPr>
              <a:t>6 conditions × 2 models × 3 seeds = 72 runs</a:t>
            </a:r>
          </a:p>
        </p:txBody>
      </p:sp>
      <p:sp>
        <p:nvSpPr>
          <p:cNvPr id="14" name="TextBox 13"/>
          <p:cNvSpPr txBox="1"/>
          <p:nvPr/>
        </p:nvSpPr>
        <p:spPr>
          <a:xfrm>
            <a:off x="658368" y="3291840"/>
            <a:ext cx="10874959" cy="292608"/>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FROM RAW REVIEWS TO A TRAINABLE CORPUS</a:t>
            </a:r>
          </a:p>
        </p:txBody>
      </p:sp>
      <p:graphicFrame>
        <p:nvGraphicFramePr>
          <p:cNvPr id="15" name="Table 14"/>
          <p:cNvGraphicFramePr>
            <a:graphicFrameLocks noGrp="1"/>
          </p:cNvGraphicFramePr>
          <p:nvPr/>
        </p:nvGraphicFramePr>
        <p:xfrm>
          <a:off x="658368" y="3584448"/>
          <a:ext cx="10874958" cy="1737360"/>
        </p:xfrm>
        <a:graphic>
          <a:graphicData uri="http://schemas.openxmlformats.org/drawingml/2006/table">
            <a:tbl>
              <a:tblPr>
                <a:tableStyleId>{2D5ABB26-0587-4C30-8999-92F81FD0307C}</a:tableStyleId>
              </a:tblPr>
              <a:tblGrid>
                <a:gridCol w="2832972"/>
                <a:gridCol w="1736338"/>
                <a:gridCol w="1736338"/>
                <a:gridCol w="4569310"/>
              </a:tblGrid>
              <a:tr h="347472">
                <a:tc>
                  <a:txBody>
                    <a:bodyPr/>
                    <a:lstStyle/>
                    <a:p>
                      <a:pPr algn="l">
                        <a:spcBef>
                          <a:spcPts val="0"/>
                        </a:spcBef>
                        <a:spcAft>
                          <a:spcPts val="0"/>
                        </a:spcAft>
                      </a:pPr>
                      <a:r>
                        <a:rPr sz="1000" b="1" i="0">
                          <a:solidFill>
                            <a:srgbClr val="1F5C8B"/>
                          </a:solidFill>
                          <a:latin typeface="Calibri"/>
                        </a:rPr>
                        <a:t>Category</a:t>
                      </a:r>
                    </a:p>
                  </a:txBody>
                  <a:tcPr marL="73152" marR="73152" marT="18288" marB="18288" anchor="ctr">
                    <a:solidFill>
                      <a:srgbClr val="E8EFF6"/>
                    </a:solidFill>
                  </a:tcPr>
                </a:tc>
                <a:tc>
                  <a:txBody>
                    <a:bodyPr/>
                    <a:lstStyle/>
                    <a:p>
                      <a:pPr algn="r">
                        <a:spcBef>
                          <a:spcPts val="0"/>
                        </a:spcBef>
                        <a:spcAft>
                          <a:spcPts val="0"/>
                        </a:spcAft>
                      </a:pPr>
                      <a:r>
                        <a:rPr sz="1000" b="1" i="0">
                          <a:solidFill>
                            <a:srgbClr val="1F5C8B"/>
                          </a:solidFill>
                          <a:latin typeface="Calibri"/>
                        </a:rPr>
                        <a:t>Raw reviews</a:t>
                      </a:r>
                    </a:p>
                  </a:txBody>
                  <a:tcPr marL="73152" marR="73152" marT="18288" marB="18288" anchor="ctr">
                    <a:solidFill>
                      <a:srgbClr val="E8EFF6"/>
                    </a:solidFill>
                  </a:tcPr>
                </a:tc>
                <a:tc>
                  <a:txBody>
                    <a:bodyPr/>
                    <a:lstStyle/>
                    <a:p>
                      <a:pPr algn="r">
                        <a:spcBef>
                          <a:spcPts val="0"/>
                        </a:spcBef>
                        <a:spcAft>
                          <a:spcPts val="0"/>
                        </a:spcAft>
                      </a:pPr>
                      <a:r>
                        <a:rPr sz="1000" b="1" i="0">
                          <a:solidFill>
                            <a:srgbClr val="1F5C8B"/>
                          </a:solidFill>
                          <a:latin typeface="Calibri"/>
                        </a:rPr>
                        <a:t>After 5-core</a:t>
                      </a:r>
                    </a:p>
                  </a:txBody>
                  <a:tcPr marL="73152" marR="73152" marT="18288" marB="18288" anchor="ctr">
                    <a:solidFill>
                      <a:srgbClr val="E8EFF6"/>
                    </a:solidFill>
                  </a:tcPr>
                </a:tc>
                <a:tc>
                  <a:txBody>
                    <a:bodyPr/>
                    <a:lstStyle/>
                    <a:p>
                      <a:pPr algn="l">
                        <a:spcBef>
                          <a:spcPts val="0"/>
                        </a:spcBef>
                        <a:spcAft>
                          <a:spcPts val="0"/>
                        </a:spcAft>
                      </a:pPr>
                      <a:r>
                        <a:rPr sz="1000" b="1" i="0">
                          <a:solidFill>
                            <a:srgbClr val="1F5C8B"/>
                          </a:solidFill>
                          <a:latin typeface="Calibri"/>
                        </a:rPr>
                        <a:t>Role in the study</a:t>
                      </a:r>
                    </a:p>
                  </a:txBody>
                  <a:tcPr marL="73152" marR="73152" marT="18288" marB="18288" anchor="ctr">
                    <a:solidFill>
                      <a:srgbClr val="E8EFF6"/>
                    </a:solidFill>
                  </a:tcPr>
                </a:tc>
              </a:tr>
              <a:tr h="347472">
                <a:tc>
                  <a:txBody>
                    <a:bodyPr/>
                    <a:lstStyle/>
                    <a:p>
                      <a:pPr algn="l">
                        <a:spcBef>
                          <a:spcPts val="0"/>
                        </a:spcBef>
                        <a:spcAft>
                          <a:spcPts val="0"/>
                        </a:spcAft>
                      </a:pPr>
                      <a:r>
                        <a:rPr sz="1100" b="0" i="0">
                          <a:solidFill>
                            <a:srgbClr val="1C1C1C"/>
                          </a:solidFill>
                          <a:latin typeface="Calibri"/>
                        </a:rPr>
                        <a:t>Toys and Games</a:t>
                      </a:r>
                    </a:p>
                  </a:txBody>
                  <a:tcPr marL="73152" marR="73152" marT="18288" marB="18288" anchor="ctr">
                    <a:solidFill>
                      <a:srgbClr val="FFFFFF"/>
                    </a:solidFill>
                  </a:tcPr>
                </a:tc>
                <a:tc>
                  <a:txBody>
                    <a:bodyPr/>
                    <a:lstStyle/>
                    <a:p>
                      <a:pPr algn="r">
                        <a:spcBef>
                          <a:spcPts val="0"/>
                        </a:spcBef>
                        <a:spcAft>
                          <a:spcPts val="0"/>
                        </a:spcAft>
                      </a:pPr>
                      <a:r>
                        <a:rPr sz="1100" b="0" i="0">
                          <a:solidFill>
                            <a:srgbClr val="1C1C1C"/>
                          </a:solidFill>
                          <a:latin typeface="Calibri"/>
                        </a:rPr>
                        <a:t>16,260,406</a:t>
                      </a:r>
                    </a:p>
                  </a:txBody>
                  <a:tcPr marL="73152" marR="73152" marT="18288" marB="18288" anchor="ctr">
                    <a:solidFill>
                      <a:srgbClr val="FFFFFF"/>
                    </a:solidFill>
                  </a:tcPr>
                </a:tc>
                <a:tc>
                  <a:txBody>
                    <a:bodyPr/>
                    <a:lstStyle/>
                    <a:p>
                      <a:pPr algn="r">
                        <a:spcBef>
                          <a:spcPts val="0"/>
                        </a:spcBef>
                        <a:spcAft>
                          <a:spcPts val="0"/>
                        </a:spcAft>
                      </a:pPr>
                      <a:r>
                        <a:rPr sz="1100" b="0" i="0">
                          <a:solidFill>
                            <a:srgbClr val="1C1C1C"/>
                          </a:solidFill>
                          <a:latin typeface="Calibri"/>
                        </a:rPr>
                        <a:t>2,164,018</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High-gift treatment category</a:t>
                      </a:r>
                    </a:p>
                  </a:txBody>
                  <a:tcPr marL="73152" marR="73152" marT="18288" marB="18288" anchor="ctr">
                    <a:solidFill>
                      <a:srgbClr val="FFFFFF"/>
                    </a:solidFill>
                  </a:tcPr>
                </a:tc>
              </a:tr>
              <a:tr h="347472">
                <a:tc>
                  <a:txBody>
                    <a:bodyPr/>
                    <a:lstStyle/>
                    <a:p>
                      <a:pPr algn="l">
                        <a:spcBef>
                          <a:spcPts val="0"/>
                        </a:spcBef>
                        <a:spcAft>
                          <a:spcPts val="0"/>
                        </a:spcAft>
                      </a:pPr>
                      <a:r>
                        <a:rPr sz="1100" b="0" i="0">
                          <a:solidFill>
                            <a:srgbClr val="1C1C1C"/>
                          </a:solidFill>
                          <a:latin typeface="Calibri"/>
                        </a:rPr>
                        <a:t>Grocery and Gourmet Food</a:t>
                      </a:r>
                    </a:p>
                  </a:txBody>
                  <a:tcPr marL="73152" marR="73152" marT="18288" marB="18288" anchor="ctr">
                    <a:solidFill>
                      <a:srgbClr val="FAFAFA"/>
                    </a:solidFill>
                  </a:tcPr>
                </a:tc>
                <a:tc>
                  <a:txBody>
                    <a:bodyPr/>
                    <a:lstStyle/>
                    <a:p>
                      <a:pPr algn="r">
                        <a:spcBef>
                          <a:spcPts val="0"/>
                        </a:spcBef>
                        <a:spcAft>
                          <a:spcPts val="0"/>
                        </a:spcAft>
                      </a:pPr>
                      <a:r>
                        <a:rPr sz="1100" b="0" i="0">
                          <a:solidFill>
                            <a:srgbClr val="1C1C1C"/>
                          </a:solidFill>
                          <a:latin typeface="Calibri"/>
                        </a:rPr>
                        <a:t>14,318,520</a:t>
                      </a:r>
                    </a:p>
                  </a:txBody>
                  <a:tcPr marL="73152" marR="73152" marT="18288" marB="18288" anchor="ctr">
                    <a:solidFill>
                      <a:srgbClr val="FAFAFA"/>
                    </a:solidFill>
                  </a:tcPr>
                </a:tc>
                <a:tc>
                  <a:txBody>
                    <a:bodyPr/>
                    <a:lstStyle/>
                    <a:p>
                      <a:pPr algn="r">
                        <a:spcBef>
                          <a:spcPts val="0"/>
                        </a:spcBef>
                        <a:spcAft>
                          <a:spcPts val="0"/>
                        </a:spcAft>
                      </a:pPr>
                      <a:r>
                        <a:rPr sz="1100" b="0" i="0">
                          <a:solidFill>
                            <a:srgbClr val="1C1C1C"/>
                          </a:solidFill>
                          <a:latin typeface="Calibri"/>
                        </a:rPr>
                        <a:t>2,434,594</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Low-gift control category</a:t>
                      </a:r>
                    </a:p>
                  </a:txBody>
                  <a:tcPr marL="73152" marR="73152" marT="18288" marB="18288" anchor="ctr">
                    <a:solidFill>
                      <a:srgbClr val="FAFAFA"/>
                    </a:solidFill>
                  </a:tcPr>
                </a:tc>
              </a:tr>
              <a:tr h="347472">
                <a:tc>
                  <a:txBody>
                    <a:bodyPr/>
                    <a:lstStyle/>
                    <a:p>
                      <a:pPr algn="l">
                        <a:spcBef>
                          <a:spcPts val="0"/>
                        </a:spcBef>
                        <a:spcAft>
                          <a:spcPts val="0"/>
                        </a:spcAft>
                      </a:pPr>
                      <a:r>
                        <a:rPr sz="1100" b="0" i="0">
                          <a:solidFill>
                            <a:srgbClr val="1C1C1C"/>
                          </a:solidFill>
                          <a:latin typeface="Calibri"/>
                        </a:rPr>
                        <a:t>Video Games</a:t>
                      </a:r>
                    </a:p>
                  </a:txBody>
                  <a:tcPr marL="73152" marR="73152" marT="18288" marB="18288" anchor="ctr">
                    <a:solidFill>
                      <a:srgbClr val="FFFFFF"/>
                    </a:solidFill>
                  </a:tcPr>
                </a:tc>
                <a:tc>
                  <a:txBody>
                    <a:bodyPr/>
                    <a:lstStyle/>
                    <a:p>
                      <a:pPr algn="r">
                        <a:spcBef>
                          <a:spcPts val="0"/>
                        </a:spcBef>
                        <a:spcAft>
                          <a:spcPts val="0"/>
                        </a:spcAft>
                      </a:pPr>
                      <a:r>
                        <a:rPr sz="1100" b="0" i="0">
                          <a:solidFill>
                            <a:srgbClr val="1C1C1C"/>
                          </a:solidFill>
                          <a:latin typeface="Calibri"/>
                        </a:rPr>
                        <a:t>4,624,615</a:t>
                      </a:r>
                    </a:p>
                  </a:txBody>
                  <a:tcPr marL="73152" marR="73152" marT="18288" marB="18288" anchor="ctr">
                    <a:solidFill>
                      <a:srgbClr val="FFFFFF"/>
                    </a:solidFill>
                  </a:tcPr>
                </a:tc>
                <a:tc>
                  <a:txBody>
                    <a:bodyPr/>
                    <a:lstStyle/>
                    <a:p>
                      <a:pPr algn="r">
                        <a:spcBef>
                          <a:spcPts val="0"/>
                        </a:spcBef>
                        <a:spcAft>
                          <a:spcPts val="0"/>
                        </a:spcAft>
                      </a:pPr>
                      <a:r>
                        <a:rPr sz="1100" b="0" i="0">
                          <a:solidFill>
                            <a:srgbClr val="1C1C1C"/>
                          </a:solidFill>
                          <a:latin typeface="Calibri"/>
                        </a:rPr>
                        <a:t>368,476</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Detector validation only</a:t>
                      </a:r>
                    </a:p>
                  </a:txBody>
                  <a:tcPr marL="73152" marR="73152" marT="18288" marB="18288" anchor="ctr">
                    <a:solidFill>
                      <a:srgbClr val="FFFFFF"/>
                    </a:solidFill>
                  </a:tcPr>
                </a:tc>
              </a:tr>
              <a:tr h="347472">
                <a:tc>
                  <a:txBody>
                    <a:bodyPr/>
                    <a:lstStyle/>
                    <a:p>
                      <a:pPr algn="l">
                        <a:spcBef>
                          <a:spcPts val="0"/>
                        </a:spcBef>
                        <a:spcAft>
                          <a:spcPts val="0"/>
                        </a:spcAft>
                      </a:pPr>
                      <a:r>
                        <a:rPr sz="1100" b="0" i="0">
                          <a:solidFill>
                            <a:srgbClr val="1C1C1C"/>
                          </a:solidFill>
                          <a:latin typeface="Calibri"/>
                        </a:rPr>
                        <a:t>All Beauty</a:t>
                      </a:r>
                    </a:p>
                  </a:txBody>
                  <a:tcPr marL="73152" marR="73152" marT="18288" marB="18288" anchor="ctr">
                    <a:solidFill>
                      <a:srgbClr val="FAFAFA"/>
                    </a:solidFill>
                  </a:tcPr>
                </a:tc>
                <a:tc>
                  <a:txBody>
                    <a:bodyPr/>
                    <a:lstStyle/>
                    <a:p>
                      <a:pPr algn="r">
                        <a:spcBef>
                          <a:spcPts val="0"/>
                        </a:spcBef>
                        <a:spcAft>
                          <a:spcPts val="0"/>
                        </a:spcAft>
                      </a:pPr>
                      <a:r>
                        <a:rPr sz="1100" b="0" i="0">
                          <a:solidFill>
                            <a:srgbClr val="1C1C1C"/>
                          </a:solidFill>
                          <a:latin typeface="Calibri"/>
                        </a:rPr>
                        <a:t>701,528</a:t>
                      </a:r>
                    </a:p>
                  </a:txBody>
                  <a:tcPr marL="73152" marR="73152" marT="18288" marB="18288" anchor="ctr">
                    <a:solidFill>
                      <a:srgbClr val="FAFAFA"/>
                    </a:solidFill>
                  </a:tcPr>
                </a:tc>
                <a:tc>
                  <a:txBody>
                    <a:bodyPr/>
                    <a:lstStyle/>
                    <a:p>
                      <a:pPr algn="r">
                        <a:spcBef>
                          <a:spcPts val="0"/>
                        </a:spcBef>
                        <a:spcAft>
                          <a:spcPts val="0"/>
                        </a:spcAft>
                      </a:pPr>
                      <a:r>
                        <a:rPr sz="1100" b="0" i="0">
                          <a:solidFill>
                            <a:srgbClr val="1C1C1C"/>
                          </a:solidFill>
                          <a:latin typeface="Calibri"/>
                        </a:rPr>
                        <a:t>0</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Detector only — 5-core is empty, so no experiment is possible</a:t>
                      </a:r>
                    </a:p>
                  </a:txBody>
                  <a:tcPr marL="73152" marR="73152" marT="18288" marB="18288" anchor="ctr">
                    <a:solidFill>
                      <a:srgbClr val="FAFAFA"/>
                    </a:solidFill>
                  </a:tcPr>
                </a:tc>
              </a:tr>
            </a:tbl>
          </a:graphicData>
        </a:graphic>
      </p:graphicFrame>
      <p:sp>
        <p:nvSpPr>
          <p:cNvPr id="16" name="TextBox 15"/>
          <p:cNvSpPr txBox="1"/>
          <p:nvPr/>
        </p:nvSpPr>
        <p:spPr>
          <a:xfrm>
            <a:off x="658368" y="5440680"/>
            <a:ext cx="10874959" cy="685800"/>
          </a:xfrm>
          <a:prstGeom prst="rect">
            <a:avLst/>
          </a:prstGeom>
          <a:noFill/>
        </p:spPr>
        <p:txBody>
          <a:bodyPr wrap="square" lIns="0" rIns="0" tIns="0" bIns="0">
            <a:spAutoFit/>
          </a:bodyPr>
          <a:lstStyle/>
          <a:p>
            <a:pPr algn="l">
              <a:lnSpc>
                <a:spcPct val="115000"/>
              </a:lnSpc>
              <a:spcBef>
                <a:spcPts val="0"/>
              </a:spcBef>
              <a:spcAft>
                <a:spcPts val="0"/>
              </a:spcAft>
            </a:pPr>
            <a:r>
              <a:rPr sz="1100" b="0" i="0">
                <a:solidFill>
                  <a:srgbClr val="555555"/>
                </a:solidFill>
                <a:latin typeface="Calibri"/>
              </a:rPr>
              <a:t>Filters, in order: verified purchase → at least 5 words of text → de-duplication → 5-core on users and items. Only the two experiment categories were labelled at full scale; the distilled student exists because labelling 4.6 M rows with the teacher was not affordable.</a:t>
            </a:r>
          </a:p>
        </p:txBody>
      </p:sp>
      <p:sp>
        <p:nvSpPr>
          <p:cNvPr id="17" name="TextBox 16"/>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8" name="TextBox 17"/>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DETECTION · GATE 1</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400" b="1" i="0">
                <a:solidFill>
                  <a:srgbClr val="1C1C1C"/>
                </a:solidFill>
                <a:latin typeface="Calibri"/>
              </a:rPr>
              <a:t>The detector had to earn its use — four criteria, all fixed in advance</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17_llm_vs_proxy_by_month_Toys_and_Games.png"/>
          <p:cNvPicPr>
            <a:picLocks noChangeAspect="1"/>
          </p:cNvPicPr>
          <p:nvPr/>
        </p:nvPicPr>
        <p:blipFill>
          <a:blip r:embed="rId2"/>
          <a:stretch>
            <a:fillRect/>
          </a:stretch>
        </p:blipFill>
        <p:spPr>
          <a:xfrm>
            <a:off x="658368" y="1822616"/>
            <a:ext cx="5943600" cy="3761408"/>
          </a:xfrm>
          <a:prstGeom prst="rect">
            <a:avLst/>
          </a:prstGeom>
        </p:spPr>
      </p:pic>
      <p:sp>
        <p:nvSpPr>
          <p:cNvPr id="6" name="TextBox 5"/>
          <p:cNvSpPr txBox="1"/>
          <p:nvPr/>
        </p:nvSpPr>
        <p:spPr>
          <a:xfrm>
            <a:off x="658368" y="5669280"/>
            <a:ext cx="594360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F17 · Toys and Games: LLM label rate vs the lexical keyword proxy, by month</a:t>
            </a:r>
          </a:p>
        </p:txBody>
      </p:sp>
      <p:sp>
        <p:nvSpPr>
          <p:cNvPr id="7" name="TextBox 6"/>
          <p:cNvSpPr txBox="1"/>
          <p:nvPr/>
        </p:nvSpPr>
        <p:spPr>
          <a:xfrm>
            <a:off x="6876288" y="1783080"/>
            <a:ext cx="465703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GATE 1 — ALL FOUR CATEGORIES</a:t>
            </a:r>
          </a:p>
        </p:txBody>
      </p:sp>
      <p:graphicFrame>
        <p:nvGraphicFramePr>
          <p:cNvPr id="8" name="Table 7"/>
          <p:cNvGraphicFramePr>
            <a:graphicFrameLocks noGrp="1"/>
          </p:cNvGraphicFramePr>
          <p:nvPr/>
        </p:nvGraphicFramePr>
        <p:xfrm>
          <a:off x="6876288" y="2084831"/>
          <a:ext cx="4657037" cy="1737360"/>
        </p:xfrm>
        <a:graphic>
          <a:graphicData uri="http://schemas.openxmlformats.org/drawingml/2006/table">
            <a:tbl>
              <a:tblPr>
                <a:tableStyleId>{2D5ABB26-0587-4C30-8999-92F81FD0307C}</a:tableStyleId>
              </a:tblPr>
              <a:tblGrid>
                <a:gridCol w="2611423"/>
                <a:gridCol w="1175140"/>
                <a:gridCol w="870474"/>
              </a:tblGrid>
              <a:tr h="347472">
                <a:tc>
                  <a:txBody>
                    <a:bodyPr/>
                    <a:lstStyle/>
                    <a:p>
                      <a:pPr algn="l">
                        <a:spcBef>
                          <a:spcPts val="0"/>
                        </a:spcBef>
                        <a:spcAft>
                          <a:spcPts val="0"/>
                        </a:spcAft>
                      </a:pPr>
                      <a:r>
                        <a:rPr sz="950" b="1" i="0">
                          <a:solidFill>
                            <a:srgbClr val="1F5C8B"/>
                          </a:solidFill>
                          <a:latin typeface="Calibri"/>
                        </a:rPr>
                        <a:t>Criterion</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Threshold</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Toys</a:t>
                      </a:r>
                    </a:p>
                  </a:txBody>
                  <a:tcPr marL="73152" marR="73152" marT="18288" marB="18288" anchor="ctr">
                    <a:solidFill>
                      <a:srgbClr val="E8EFF6"/>
                    </a:solidFill>
                  </a:tcPr>
                </a:tc>
              </a:tr>
              <a:tr h="347472">
                <a:tc>
                  <a:txBody>
                    <a:bodyPr/>
                    <a:lstStyle/>
                    <a:p>
                      <a:pPr algn="l">
                        <a:spcBef>
                          <a:spcPts val="0"/>
                        </a:spcBef>
                        <a:spcAft>
                          <a:spcPts val="0"/>
                        </a:spcAft>
                      </a:pPr>
                      <a:r>
                        <a:rPr sz="1050" b="0" i="0">
                          <a:solidFill>
                            <a:srgbClr val="1C1C1C"/>
                          </a:solidFill>
                          <a:latin typeface="Calibri"/>
                        </a:rPr>
                        <a:t>1 · December–January vs summer</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 1.25×</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1.58×</a:t>
                      </a:r>
                    </a:p>
                  </a:txBody>
                  <a:tcPr marL="73152" marR="73152" marT="18288" marB="18288" anchor="ctr">
                    <a:solidFill>
                      <a:srgbClr val="FFFFFF"/>
                    </a:solidFill>
                  </a:tcPr>
                </a:tc>
              </a:tr>
              <a:tr h="347472">
                <a:tc>
                  <a:txBody>
                    <a:bodyPr/>
                    <a:lstStyle/>
                    <a:p>
                      <a:pPr algn="l">
                        <a:spcBef>
                          <a:spcPts val="0"/>
                        </a:spcBef>
                        <a:spcAft>
                          <a:spcPts val="0"/>
                        </a:spcAft>
                      </a:pPr>
                      <a:r>
                        <a:rPr sz="1050" b="0" i="0">
                          <a:solidFill>
                            <a:srgbClr val="1C1C1C"/>
                          </a:solidFill>
                          <a:latin typeface="Calibri"/>
                        </a:rPr>
                        <a:t>2 · Found beyond the keyword proxy</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 1%</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18.0%</a:t>
                      </a:r>
                    </a:p>
                  </a:txBody>
                  <a:tcPr marL="73152" marR="73152" marT="18288" marB="18288" anchor="ctr">
                    <a:solidFill>
                      <a:srgbClr val="FAFAFA"/>
                    </a:solidFill>
                  </a:tcPr>
                </a:tc>
              </a:tr>
              <a:tr h="347472">
                <a:tc>
                  <a:txBody>
                    <a:bodyPr/>
                    <a:lstStyle/>
                    <a:p>
                      <a:pPr algn="l">
                        <a:spcBef>
                          <a:spcPts val="0"/>
                        </a:spcBef>
                        <a:spcAft>
                          <a:spcPts val="0"/>
                        </a:spcAft>
                      </a:pPr>
                      <a:r>
                        <a:rPr sz="1050" b="0" i="0">
                          <a:solidFill>
                            <a:srgbClr val="1C1C1C"/>
                          </a:solidFill>
                          <a:latin typeface="Calibri"/>
                        </a:rPr>
                        <a:t>3 · Schema health (parse, class mix)</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no failure</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r>
              <a:tr h="347472">
                <a:tc>
                  <a:txBody>
                    <a:bodyPr/>
                    <a:lstStyle/>
                    <a:p>
                      <a:pPr algn="l">
                        <a:spcBef>
                          <a:spcPts val="0"/>
                        </a:spcBef>
                        <a:spcAft>
                          <a:spcPts val="0"/>
                        </a:spcAft>
                      </a:pPr>
                      <a:r>
                        <a:rPr sz="1050" b="0" i="0">
                          <a:solidFill>
                            <a:srgbClr val="1C1C1C"/>
                          </a:solidFill>
                          <a:latin typeface="Calibri"/>
                        </a:rPr>
                        <a:t>4 · 200-row trial agreement</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 0.7</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0.835</a:t>
                      </a:r>
                    </a:p>
                  </a:txBody>
                  <a:tcPr marL="73152" marR="73152" marT="18288" marB="18288" anchor="ctr">
                    <a:solidFill>
                      <a:srgbClr val="FAFAFA"/>
                    </a:solidFill>
                  </a:tcPr>
                </a:tc>
              </a:tr>
            </a:tbl>
          </a:graphicData>
        </a:graphic>
      </p:graphicFrame>
      <p:sp>
        <p:nvSpPr>
          <p:cNvPr id="9" name="TextBox 8"/>
          <p:cNvSpPr txBox="1"/>
          <p:nvPr/>
        </p:nvSpPr>
        <p:spPr>
          <a:xfrm>
            <a:off x="6876288" y="4096512"/>
            <a:ext cx="465703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VERDICT PER CATEGORY</a:t>
            </a:r>
          </a:p>
        </p:txBody>
      </p:sp>
      <p:sp>
        <p:nvSpPr>
          <p:cNvPr id="10" name="TextBox 9"/>
          <p:cNvSpPr txBox="1"/>
          <p:nvPr/>
        </p:nvSpPr>
        <p:spPr>
          <a:xfrm>
            <a:off x="6876288" y="4407408"/>
            <a:ext cx="2887364" cy="256032"/>
          </a:xfrm>
          <a:prstGeom prst="rect">
            <a:avLst/>
          </a:prstGeom>
          <a:noFill/>
        </p:spPr>
        <p:txBody>
          <a:bodyPr wrap="square" lIns="0" rIns="0" tIns="0" bIns="0">
            <a:spAutoFit/>
          </a:bodyPr>
          <a:lstStyle/>
          <a:p>
            <a:pPr algn="l">
              <a:spcBef>
                <a:spcPts val="0"/>
              </a:spcBef>
              <a:spcAft>
                <a:spcPts val="0"/>
              </a:spcAft>
            </a:pPr>
            <a:r>
              <a:rPr sz="1100" b="0" i="0">
                <a:solidFill>
                  <a:srgbClr val="1C1C1C"/>
                </a:solidFill>
                <a:latin typeface="Calibri"/>
              </a:rPr>
              <a:t>Toys &amp; Games</a:t>
            </a:r>
          </a:p>
        </p:txBody>
      </p:sp>
      <p:sp>
        <p:nvSpPr>
          <p:cNvPr id="11" name="Rounded Rectangle 10"/>
          <p:cNvSpPr/>
          <p:nvPr/>
        </p:nvSpPr>
        <p:spPr>
          <a:xfrm>
            <a:off x="9810222" y="4379976"/>
            <a:ext cx="914400" cy="237744"/>
          </a:xfrm>
          <a:prstGeom prst="roundRect">
            <a:avLst>
              <a:gd name="adj" fmla="val 25000"/>
            </a:avLst>
          </a:prstGeom>
          <a:solidFill>
            <a:srgbClr val="E8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Bef>
                <a:spcPts val="0"/>
              </a:spcBef>
              <a:spcAft>
                <a:spcPts val="0"/>
              </a:spcAft>
            </a:pPr>
            <a:r>
              <a:rPr sz="950" b="1" i="0">
                <a:solidFill>
                  <a:srgbClr val="1F5C8B"/>
                </a:solidFill>
                <a:latin typeface="Calibri"/>
              </a:rPr>
              <a:t>PASS 4/4</a:t>
            </a:r>
          </a:p>
        </p:txBody>
      </p:sp>
      <p:sp>
        <p:nvSpPr>
          <p:cNvPr id="12" name="TextBox 11"/>
          <p:cNvSpPr txBox="1"/>
          <p:nvPr/>
        </p:nvSpPr>
        <p:spPr>
          <a:xfrm>
            <a:off x="6876288" y="4709160"/>
            <a:ext cx="2887364" cy="256032"/>
          </a:xfrm>
          <a:prstGeom prst="rect">
            <a:avLst/>
          </a:prstGeom>
          <a:noFill/>
        </p:spPr>
        <p:txBody>
          <a:bodyPr wrap="square" lIns="0" rIns="0" tIns="0" bIns="0">
            <a:spAutoFit/>
          </a:bodyPr>
          <a:lstStyle/>
          <a:p>
            <a:pPr algn="l">
              <a:spcBef>
                <a:spcPts val="0"/>
              </a:spcBef>
              <a:spcAft>
                <a:spcPts val="0"/>
              </a:spcAft>
            </a:pPr>
            <a:r>
              <a:rPr sz="1100" b="0" i="0">
                <a:solidFill>
                  <a:srgbClr val="1C1C1C"/>
                </a:solidFill>
                <a:latin typeface="Calibri"/>
              </a:rPr>
              <a:t>Grocery &amp; Gourmet Food</a:t>
            </a:r>
          </a:p>
        </p:txBody>
      </p:sp>
      <p:sp>
        <p:nvSpPr>
          <p:cNvPr id="13" name="Rounded Rectangle 12"/>
          <p:cNvSpPr/>
          <p:nvPr/>
        </p:nvSpPr>
        <p:spPr>
          <a:xfrm>
            <a:off x="9810222" y="4681728"/>
            <a:ext cx="914400" cy="237744"/>
          </a:xfrm>
          <a:prstGeom prst="roundRect">
            <a:avLst>
              <a:gd name="adj" fmla="val 25000"/>
            </a:avLst>
          </a:prstGeom>
          <a:solidFill>
            <a:srgbClr val="E8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Bef>
                <a:spcPts val="0"/>
              </a:spcBef>
              <a:spcAft>
                <a:spcPts val="0"/>
              </a:spcAft>
            </a:pPr>
            <a:r>
              <a:rPr sz="950" b="1" i="0">
                <a:solidFill>
                  <a:srgbClr val="1F5C8B"/>
                </a:solidFill>
                <a:latin typeface="Calibri"/>
              </a:rPr>
              <a:t>PASS 4/4</a:t>
            </a:r>
          </a:p>
        </p:txBody>
      </p:sp>
      <p:sp>
        <p:nvSpPr>
          <p:cNvPr id="14" name="TextBox 13"/>
          <p:cNvSpPr txBox="1"/>
          <p:nvPr/>
        </p:nvSpPr>
        <p:spPr>
          <a:xfrm>
            <a:off x="6876288" y="5010912"/>
            <a:ext cx="2887364" cy="256032"/>
          </a:xfrm>
          <a:prstGeom prst="rect">
            <a:avLst/>
          </a:prstGeom>
          <a:noFill/>
        </p:spPr>
        <p:txBody>
          <a:bodyPr wrap="square" lIns="0" rIns="0" tIns="0" bIns="0">
            <a:spAutoFit/>
          </a:bodyPr>
          <a:lstStyle/>
          <a:p>
            <a:pPr algn="l">
              <a:spcBef>
                <a:spcPts val="0"/>
              </a:spcBef>
              <a:spcAft>
                <a:spcPts val="0"/>
              </a:spcAft>
            </a:pPr>
            <a:r>
              <a:rPr sz="1100" b="0" i="0">
                <a:solidFill>
                  <a:srgbClr val="1C1C1C"/>
                </a:solidFill>
                <a:latin typeface="Calibri"/>
              </a:rPr>
              <a:t>Video Games</a:t>
            </a:r>
          </a:p>
        </p:txBody>
      </p:sp>
      <p:sp>
        <p:nvSpPr>
          <p:cNvPr id="15" name="Rounded Rectangle 14"/>
          <p:cNvSpPr/>
          <p:nvPr/>
        </p:nvSpPr>
        <p:spPr>
          <a:xfrm>
            <a:off x="9810222" y="4983480"/>
            <a:ext cx="914400" cy="237744"/>
          </a:xfrm>
          <a:prstGeom prst="roundRect">
            <a:avLst>
              <a:gd name="adj" fmla="val 25000"/>
            </a:avLst>
          </a:prstGeom>
          <a:solidFill>
            <a:srgbClr val="E8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Bef>
                <a:spcPts val="0"/>
              </a:spcBef>
              <a:spcAft>
                <a:spcPts val="0"/>
              </a:spcAft>
            </a:pPr>
            <a:r>
              <a:rPr sz="950" b="1" i="0">
                <a:solidFill>
                  <a:srgbClr val="1F5C8B"/>
                </a:solidFill>
                <a:latin typeface="Calibri"/>
              </a:rPr>
              <a:t>PASS 4/4</a:t>
            </a:r>
          </a:p>
        </p:txBody>
      </p:sp>
      <p:sp>
        <p:nvSpPr>
          <p:cNvPr id="16" name="TextBox 15"/>
          <p:cNvSpPr txBox="1"/>
          <p:nvPr/>
        </p:nvSpPr>
        <p:spPr>
          <a:xfrm>
            <a:off x="6876288" y="5312664"/>
            <a:ext cx="2887364" cy="256032"/>
          </a:xfrm>
          <a:prstGeom prst="rect">
            <a:avLst/>
          </a:prstGeom>
          <a:noFill/>
        </p:spPr>
        <p:txBody>
          <a:bodyPr wrap="square" lIns="0" rIns="0" tIns="0" bIns="0">
            <a:spAutoFit/>
          </a:bodyPr>
          <a:lstStyle/>
          <a:p>
            <a:pPr algn="l">
              <a:spcBef>
                <a:spcPts val="0"/>
              </a:spcBef>
              <a:spcAft>
                <a:spcPts val="0"/>
              </a:spcAft>
            </a:pPr>
            <a:r>
              <a:rPr sz="1100" b="0" i="0">
                <a:solidFill>
                  <a:srgbClr val="1C1C1C"/>
                </a:solidFill>
                <a:latin typeface="Calibri"/>
              </a:rPr>
              <a:t>All Beauty</a:t>
            </a:r>
          </a:p>
        </p:txBody>
      </p:sp>
      <p:sp>
        <p:nvSpPr>
          <p:cNvPr id="17" name="Rounded Rectangle 16"/>
          <p:cNvSpPr/>
          <p:nvPr/>
        </p:nvSpPr>
        <p:spPr>
          <a:xfrm>
            <a:off x="9810222" y="5285232"/>
            <a:ext cx="914400" cy="237744"/>
          </a:xfrm>
          <a:prstGeom prst="roundRect">
            <a:avLst>
              <a:gd name="adj" fmla="val 25000"/>
            </a:avLst>
          </a:prstGeom>
          <a:solidFill>
            <a:srgbClr val="E8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Bef>
                <a:spcPts val="0"/>
              </a:spcBef>
              <a:spcAft>
                <a:spcPts val="0"/>
              </a:spcAft>
            </a:pPr>
            <a:r>
              <a:rPr sz="950" b="1" i="0">
                <a:solidFill>
                  <a:srgbClr val="1F5C8B"/>
                </a:solidFill>
                <a:latin typeface="Calibri"/>
              </a:rPr>
              <a:t>PASS 4/4</a:t>
            </a:r>
          </a:p>
        </p:txBody>
      </p:sp>
      <p:sp>
        <p:nvSpPr>
          <p:cNvPr id="18" name="TextBox 17"/>
          <p:cNvSpPr txBox="1"/>
          <p:nvPr/>
        </p:nvSpPr>
        <p:spPr>
          <a:xfrm>
            <a:off x="6876288" y="5687568"/>
            <a:ext cx="4657039" cy="502920"/>
          </a:xfrm>
          <a:prstGeom prst="rect">
            <a:avLst/>
          </a:prstGeom>
          <a:noFill/>
        </p:spPr>
        <p:txBody>
          <a:bodyPr wrap="square" lIns="0" rIns="0" tIns="0" bIns="0">
            <a:spAutoFit/>
          </a:bodyPr>
          <a:lstStyle/>
          <a:p>
            <a:pPr algn="l">
              <a:lnSpc>
                <a:spcPct val="110000"/>
              </a:lnSpc>
              <a:spcBef>
                <a:spcPts val="0"/>
              </a:spcBef>
              <a:spcAft>
                <a:spcPts val="0"/>
              </a:spcAft>
            </a:pPr>
            <a:r>
              <a:rPr sz="1000" b="0" i="1">
                <a:solidFill>
                  <a:srgbClr val="555555"/>
                </a:solidFill>
                <a:latin typeface="Calibri"/>
              </a:rPr>
              <a:t>Seasonality is the criterion a keyword list cannot fake: it is a property of the calendar, not of the wording.</a:t>
            </a:r>
          </a:p>
        </p:txBody>
      </p:sp>
      <p:sp>
        <p:nvSpPr>
          <p:cNvPr id="19" name="TextBox 18"/>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20" name="TextBox 19"/>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8A520A"/>
                </a:solidFill>
                <a:latin typeface="Calibri"/>
              </a:rPr>
              <a:t>HONESTY SLIDE · WEEK 4</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400" b="1" i="0">
                <a:solidFill>
                  <a:srgbClr val="1C1C1C"/>
                </a:solidFill>
                <a:latin typeface="Calibri"/>
              </a:rPr>
              <a:t>The detector did not meet its own accuracy thresholds. We report that first.</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18_llm_vs_human_500.png"/>
          <p:cNvPicPr>
            <a:picLocks noChangeAspect="1"/>
          </p:cNvPicPr>
          <p:nvPr/>
        </p:nvPicPr>
        <p:blipFill>
          <a:blip r:embed="rId2"/>
          <a:stretch>
            <a:fillRect/>
          </a:stretch>
        </p:blipFill>
        <p:spPr>
          <a:xfrm>
            <a:off x="733522" y="1783080"/>
            <a:ext cx="5518971" cy="3749039"/>
          </a:xfrm>
          <a:prstGeom prst="rect">
            <a:avLst/>
          </a:prstGeom>
        </p:spPr>
      </p:pic>
      <p:sp>
        <p:nvSpPr>
          <p:cNvPr id="6" name="TextBox 5"/>
          <p:cNvSpPr txBox="1"/>
          <p:nvPr/>
        </p:nvSpPr>
        <p:spPr>
          <a:xfrm>
            <a:off x="658368" y="5577840"/>
            <a:ext cx="566928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F18 · per-class F1 of the LLM labels against 500 independently human-labelled rows</a:t>
            </a:r>
          </a:p>
        </p:txBody>
      </p:sp>
      <p:sp>
        <p:nvSpPr>
          <p:cNvPr id="7" name="Rounded Rectangle 6"/>
          <p:cNvSpPr/>
          <p:nvPr/>
        </p:nvSpPr>
        <p:spPr>
          <a:xfrm>
            <a:off x="6601968" y="1783080"/>
            <a:ext cx="4931359" cy="1691640"/>
          </a:xfrm>
          <a:prstGeom prst="roundRect">
            <a:avLst>
              <a:gd name="adj" fmla="val 5000"/>
            </a:avLst>
          </a:prstGeom>
          <a:solidFill>
            <a:srgbClr val="FBF2E3"/>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6784848" y="1920240"/>
            <a:ext cx="4565599" cy="1463040"/>
          </a:xfrm>
          <a:prstGeom prst="rect">
            <a:avLst/>
          </a:prstGeom>
          <a:noFill/>
        </p:spPr>
        <p:txBody>
          <a:bodyPr wrap="square" lIns="0" rIns="0" tIns="0" bIns="0">
            <a:spAutoFit/>
          </a:bodyPr>
          <a:lstStyle/>
          <a:p>
            <a:pPr algn="l">
              <a:spcBef>
                <a:spcPts val="0"/>
              </a:spcBef>
              <a:spcAft>
                <a:spcPts val="600"/>
              </a:spcAft>
            </a:pPr>
            <a:r>
              <a:rPr sz="1300" b="1" i="0">
                <a:solidFill>
                  <a:srgbClr val="8A520A"/>
                </a:solidFill>
                <a:latin typeface="Calibri"/>
              </a:rPr>
              <a:t>Two pre-registered gates were MISSED</a:t>
            </a:r>
          </a:p>
          <a:p>
            <a:pPr algn="l">
              <a:spcBef>
                <a:spcPts val="0"/>
              </a:spcBef>
              <a:spcAft>
                <a:spcPts val="300"/>
              </a:spcAft>
            </a:pPr>
            <a:r>
              <a:rPr sz="1150" b="0" i="0">
                <a:solidFill>
                  <a:srgbClr val="1C1C1C"/>
                </a:solidFill>
                <a:latin typeface="Calibri"/>
              </a:rPr>
              <a:t>macro-F1 ≥ 0.75  →  measured 0.5404  [0.4897, 0.5869]</a:t>
            </a:r>
          </a:p>
          <a:p>
            <a:pPr algn="l">
              <a:spcBef>
                <a:spcPts val="0"/>
              </a:spcBef>
              <a:spcAft>
                <a:spcPts val="300"/>
              </a:spcAft>
            </a:pPr>
            <a:r>
              <a:rPr sz="1150" b="0" i="0">
                <a:solidFill>
                  <a:srgbClr val="1C1C1C"/>
                </a:solidFill>
                <a:latin typeface="Calibri"/>
              </a:rPr>
              <a:t>gift precision ≥ 0.80  →  measured 0.68  (recall 0.79, F1 0.7312)</a:t>
            </a:r>
          </a:p>
          <a:p>
            <a:pPr algn="l">
              <a:spcBef>
                <a:spcPts val="0"/>
              </a:spcBef>
              <a:spcAft>
                <a:spcPts val="0"/>
              </a:spcAft>
            </a:pPr>
            <a:r>
              <a:rPr sz="1100" b="1" i="0">
                <a:solidFill>
                  <a:srgbClr val="8A520A"/>
                </a:solidFill>
                <a:latin typeface="Calibri"/>
              </a:rPr>
              <a:t>Week-4 verdict recorded in the artefact: INCOMPLETE</a:t>
            </a:r>
          </a:p>
        </p:txBody>
      </p:sp>
      <p:sp>
        <p:nvSpPr>
          <p:cNvPr id="9" name="Rounded Rectangle 8"/>
          <p:cNvSpPr/>
          <p:nvPr/>
        </p:nvSpPr>
        <p:spPr>
          <a:xfrm>
            <a:off x="6601968" y="3611880"/>
            <a:ext cx="4931359" cy="123444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6784848" y="3730752"/>
            <a:ext cx="4565599" cy="1005840"/>
          </a:xfrm>
          <a:prstGeom prst="rect">
            <a:avLst/>
          </a:prstGeom>
          <a:noFill/>
        </p:spPr>
        <p:txBody>
          <a:bodyPr wrap="square" lIns="0" rIns="0" tIns="0" bIns="0">
            <a:spAutoFit/>
          </a:bodyPr>
          <a:lstStyle/>
          <a:p>
            <a:pPr algn="l">
              <a:spcBef>
                <a:spcPts val="0"/>
              </a:spcBef>
              <a:spcAft>
                <a:spcPts val="500"/>
              </a:spcAft>
            </a:pPr>
            <a:r>
              <a:rPr sz="1250" b="1" i="0">
                <a:solidFill>
                  <a:srgbClr val="1F5C8B"/>
                </a:solidFill>
                <a:latin typeface="Calibri"/>
              </a:rPr>
              <a:t>Label reliability was never measured</a:t>
            </a:r>
          </a:p>
          <a:p>
            <a:pPr algn="l">
              <a:lnSpc>
                <a:spcPct val="112000"/>
              </a:lnSpc>
              <a:spcBef>
                <a:spcPts val="0"/>
              </a:spcBef>
              <a:spcAft>
                <a:spcPts val="0"/>
              </a:spcAft>
            </a:pPr>
            <a:r>
              <a:rPr sz="1100" b="0" i="0">
                <a:solidFill>
                  <a:srgbClr val="1C1C1C"/>
                </a:solidFill>
                <a:latin typeface="Calibri"/>
              </a:rPr>
              <a:t>Planned: 3 annotators, Fleiss kappa ≥ 0.6.  Actual: 1 annotator, so no agreement statistic exists.</a:t>
            </a:r>
          </a:p>
        </p:txBody>
      </p:sp>
      <p:sp>
        <p:nvSpPr>
          <p:cNvPr id="11" name="Rounded Rectangle 10"/>
          <p:cNvSpPr/>
          <p:nvPr/>
        </p:nvSpPr>
        <p:spPr>
          <a:xfrm>
            <a:off x="6601968" y="4983480"/>
            <a:ext cx="4931359" cy="114300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2" name="TextBox 11"/>
          <p:cNvSpPr txBox="1"/>
          <p:nvPr/>
        </p:nvSpPr>
        <p:spPr>
          <a:xfrm>
            <a:off x="6784848" y="5102352"/>
            <a:ext cx="4565599" cy="914400"/>
          </a:xfrm>
          <a:prstGeom prst="rect">
            <a:avLst/>
          </a:prstGeom>
          <a:noFill/>
        </p:spPr>
        <p:txBody>
          <a:bodyPr wrap="square" lIns="0" rIns="0" tIns="0" bIns="0">
            <a:spAutoFit/>
          </a:bodyPr>
          <a:lstStyle/>
          <a:p>
            <a:pPr algn="l">
              <a:spcBef>
                <a:spcPts val="0"/>
              </a:spcBef>
              <a:spcAft>
                <a:spcPts val="500"/>
              </a:spcAft>
            </a:pPr>
            <a:r>
              <a:rPr sz="1250" b="1" i="0">
                <a:solidFill>
                  <a:srgbClr val="1F5C8B"/>
                </a:solidFill>
                <a:latin typeface="Calibri"/>
              </a:rPr>
              <a:t>Why the study is still readable</a:t>
            </a:r>
          </a:p>
          <a:p>
            <a:pPr algn="l">
              <a:lnSpc>
                <a:spcPct val="112000"/>
              </a:lnSpc>
              <a:spcBef>
                <a:spcPts val="0"/>
              </a:spcBef>
              <a:spcAft>
                <a:spcPts val="0"/>
              </a:spcAft>
            </a:pPr>
            <a:r>
              <a:rPr sz="1050" b="0" i="0">
                <a:solidFill>
                  <a:srgbClr val="1C1C1C"/>
                </a:solidFill>
                <a:latin typeface="Calibri"/>
              </a:rPr>
              <a:t>Label noise makes a gift-deletion condition look MORE like its random-deletion placebo, not less. So every effect on the next slides is a lower bound, and the direction cannot be an artefact of a weak detector.</a:t>
            </a:r>
          </a:p>
        </p:txBody>
      </p:sp>
      <p:sp>
        <p:nvSpPr>
          <p:cNvPr id="13" name="TextBox 12"/>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4" name="TextBox 13"/>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DISTILLATION · FIDELITY GATE</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400" b="1" i="0">
                <a:solidFill>
                  <a:srgbClr val="1C1C1C"/>
                </a:solidFill>
                <a:latin typeface="Calibri"/>
              </a:rPr>
              <a:t>A distilled student reproduced the teacher's labels closely enough to scale</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20_distill_fidelity_base.png"/>
          <p:cNvPicPr>
            <a:picLocks noChangeAspect="1"/>
          </p:cNvPicPr>
          <p:nvPr/>
        </p:nvPicPr>
        <p:blipFill>
          <a:blip r:embed="rId2"/>
          <a:stretch>
            <a:fillRect/>
          </a:stretch>
        </p:blipFill>
        <p:spPr>
          <a:xfrm>
            <a:off x="658368" y="2222389"/>
            <a:ext cx="5760720" cy="2870420"/>
          </a:xfrm>
          <a:prstGeom prst="rect">
            <a:avLst/>
          </a:prstGeom>
        </p:spPr>
      </p:pic>
      <p:sp>
        <p:nvSpPr>
          <p:cNvPr id="6" name="TextBox 5"/>
          <p:cNvSpPr txBox="1"/>
          <p:nvPr/>
        </p:nvSpPr>
        <p:spPr>
          <a:xfrm>
            <a:off x="658368" y="5577840"/>
            <a:ext cx="576072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F20 · student vs teacher on the held-out split</a:t>
            </a:r>
          </a:p>
        </p:txBody>
      </p:sp>
      <p:sp>
        <p:nvSpPr>
          <p:cNvPr id="7" name="TextBox 6"/>
          <p:cNvSpPr txBox="1"/>
          <p:nvPr/>
        </p:nvSpPr>
        <p:spPr>
          <a:xfrm>
            <a:off x="6693407" y="1783080"/>
            <a:ext cx="483991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FIDELITY GATE — 3 CRITERIA, FIXED BEFORE TRAINING</a:t>
            </a:r>
          </a:p>
        </p:txBody>
      </p:sp>
      <p:graphicFrame>
        <p:nvGraphicFramePr>
          <p:cNvPr id="8" name="Table 7"/>
          <p:cNvGraphicFramePr>
            <a:graphicFrameLocks noGrp="1"/>
          </p:cNvGraphicFramePr>
          <p:nvPr/>
        </p:nvGraphicFramePr>
        <p:xfrm>
          <a:off x="6693407" y="2084831"/>
          <a:ext cx="4839917" cy="1828800"/>
        </p:xfrm>
        <a:graphic>
          <a:graphicData uri="http://schemas.openxmlformats.org/drawingml/2006/table">
            <a:tbl>
              <a:tblPr>
                <a:tableStyleId>{2D5ABB26-0587-4C30-8999-92F81FD0307C}</a:tableStyleId>
              </a:tblPr>
              <a:tblGrid>
                <a:gridCol w="2547325"/>
                <a:gridCol w="1018930"/>
                <a:gridCol w="1273662"/>
              </a:tblGrid>
              <a:tr h="457200">
                <a:tc>
                  <a:txBody>
                    <a:bodyPr/>
                    <a:lstStyle/>
                    <a:p>
                      <a:pPr algn="l">
                        <a:spcBef>
                          <a:spcPts val="0"/>
                        </a:spcBef>
                        <a:spcAft>
                          <a:spcPts val="0"/>
                        </a:spcAft>
                      </a:pPr>
                      <a:r>
                        <a:rPr sz="950" b="1" i="0">
                          <a:solidFill>
                            <a:srgbClr val="1F5C8B"/>
                          </a:solidFill>
                          <a:latin typeface="Calibri"/>
                        </a:rPr>
                        <a:t>Criterion</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Threshold</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Measured</a:t>
                      </a:r>
                    </a:p>
                  </a:txBody>
                  <a:tcPr marL="73152" marR="73152" marT="18288" marB="18288" anchor="ctr">
                    <a:solidFill>
                      <a:srgbClr val="E8EFF6"/>
                    </a:solidFill>
                  </a:tcPr>
                </a:tc>
              </a:tr>
              <a:tr h="457200">
                <a:tc>
                  <a:txBody>
                    <a:bodyPr/>
                    <a:lstStyle/>
                    <a:p>
                      <a:pPr algn="l">
                        <a:spcBef>
                          <a:spcPts val="0"/>
                        </a:spcBef>
                        <a:spcAft>
                          <a:spcPts val="0"/>
                        </a:spcAft>
                      </a:pPr>
                      <a:r>
                        <a:rPr sz="1050" b="0" i="0">
                          <a:solidFill>
                            <a:srgbClr val="1C1C1C"/>
                          </a:solidFill>
                          <a:latin typeface="Calibri"/>
                        </a:rPr>
                        <a:t>F1 vs teacher, narrow axis (C1)</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 0.85</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0.9098</a:t>
                      </a:r>
                    </a:p>
                  </a:txBody>
                  <a:tcPr marL="73152" marR="73152" marT="18288" marB="18288" anchor="ctr">
                    <a:solidFill>
                      <a:srgbClr val="FFFFFF"/>
                    </a:solidFill>
                  </a:tcPr>
                </a:tc>
              </a:tr>
              <a:tr h="457200">
                <a:tc>
                  <a:txBody>
                    <a:bodyPr/>
                    <a:lstStyle/>
                    <a:p>
                      <a:pPr algn="l">
                        <a:spcBef>
                          <a:spcPts val="0"/>
                        </a:spcBef>
                        <a:spcAft>
                          <a:spcPts val="0"/>
                        </a:spcAft>
                      </a:pPr>
                      <a:r>
                        <a:rPr sz="1050" b="0" i="0">
                          <a:solidFill>
                            <a:srgbClr val="1C1C1C"/>
                          </a:solidFill>
                          <a:latin typeface="Calibri"/>
                        </a:rPr>
                        <a:t>F1 vs teacher, broad axis (C1b)</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 0.85</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0.9313</a:t>
                      </a:r>
                    </a:p>
                  </a:txBody>
                  <a:tcPr marL="73152" marR="73152" marT="18288" marB="18288" anchor="ctr">
                    <a:solidFill>
                      <a:srgbClr val="FAFAFA"/>
                    </a:solidFill>
                  </a:tcPr>
                </a:tc>
              </a:tr>
              <a:tr h="457200">
                <a:tc>
                  <a:txBody>
                    <a:bodyPr/>
                    <a:lstStyle/>
                    <a:p>
                      <a:pPr algn="l">
                        <a:spcBef>
                          <a:spcPts val="0"/>
                        </a:spcBef>
                        <a:spcAft>
                          <a:spcPts val="0"/>
                        </a:spcAft>
                      </a:pPr>
                      <a:r>
                        <a:rPr sz="1050" b="0" i="0">
                          <a:solidFill>
                            <a:srgbClr val="1C1C1C"/>
                          </a:solidFill>
                          <a:latin typeface="Calibri"/>
                        </a:rPr>
                        <a:t>Not worse than teacher vs human</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drop ≤ 0.05</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0.7415 vs 0.7312</a:t>
                      </a:r>
                    </a:p>
                  </a:txBody>
                  <a:tcPr marL="73152" marR="73152" marT="18288" marB="18288" anchor="ctr">
                    <a:solidFill>
                      <a:srgbClr val="FFFFFF"/>
                    </a:solidFill>
                  </a:tcPr>
                </a:tc>
              </a:tr>
            </a:tbl>
          </a:graphicData>
        </a:graphic>
      </p:graphicFrame>
      <p:sp>
        <p:nvSpPr>
          <p:cNvPr id="9" name="Rounded Rectangle 8"/>
          <p:cNvSpPr/>
          <p:nvPr/>
        </p:nvSpPr>
        <p:spPr>
          <a:xfrm>
            <a:off x="6693407" y="4069080"/>
            <a:ext cx="1737360" cy="292608"/>
          </a:xfrm>
          <a:prstGeom prst="roundRect">
            <a:avLst>
              <a:gd name="adj" fmla="val 25000"/>
            </a:avLst>
          </a:prstGeom>
          <a:solidFill>
            <a:srgbClr val="E8EF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spcBef>
                <a:spcPts val="0"/>
              </a:spcBef>
              <a:spcAft>
                <a:spcPts val="0"/>
              </a:spcAft>
            </a:pPr>
            <a:r>
              <a:rPr sz="1200" b="1" i="0">
                <a:solidFill>
                  <a:srgbClr val="1F5C8B"/>
                </a:solidFill>
                <a:latin typeface="Calibri"/>
              </a:rPr>
              <a:t>GATE PASS · 3/3</a:t>
            </a:r>
          </a:p>
        </p:txBody>
      </p:sp>
      <p:sp>
        <p:nvSpPr>
          <p:cNvPr id="10" name="TextBox 9"/>
          <p:cNvSpPr txBox="1"/>
          <p:nvPr/>
        </p:nvSpPr>
        <p:spPr>
          <a:xfrm>
            <a:off x="6693407" y="4572000"/>
            <a:ext cx="4839919" cy="1600200"/>
          </a:xfrm>
          <a:prstGeom prst="rect">
            <a:avLst/>
          </a:prstGeom>
          <a:noFill/>
        </p:spPr>
        <p:txBody>
          <a:bodyPr wrap="square" lIns="0" rIns="0" tIns="0" bIns="0">
            <a:spAutoFit/>
          </a:bodyPr>
          <a:lstStyle/>
          <a:p>
            <a:pPr algn="l">
              <a:spcBef>
                <a:spcPts val="0"/>
              </a:spcBef>
              <a:spcAft>
                <a:spcPts val="600"/>
              </a:spcAft>
            </a:pPr>
            <a:r>
              <a:rPr sz="1250" b="1" i="0">
                <a:solidFill>
                  <a:srgbClr val="1F5C8B"/>
                </a:solidFill>
                <a:latin typeface="Calibri"/>
              </a:rPr>
              <a:t>What this does and does not say</a:t>
            </a:r>
          </a:p>
          <a:p>
            <a:pPr algn="l">
              <a:lnSpc>
                <a:spcPct val="112000"/>
              </a:lnSpc>
              <a:spcBef>
                <a:spcPts val="0"/>
              </a:spcBef>
              <a:spcAft>
                <a:spcPts val="600"/>
              </a:spcAft>
            </a:pPr>
            <a:r>
              <a:rPr sz="1100" b="0" i="0">
                <a:solidFill>
                  <a:srgbClr val="1C1C1C"/>
                </a:solidFill>
                <a:latin typeface="Calibri"/>
              </a:rPr>
              <a:t>Trained on 41,988 teacher labels, checked on 4,667 held-out rows, then run over 4,598,612 interactions (2,164,018 Toys + 2,434,594 Grocery).</a:t>
            </a:r>
          </a:p>
          <a:p>
            <a:pPr algn="l">
              <a:lnSpc>
                <a:spcPct val="112000"/>
              </a:lnSpc>
              <a:spcBef>
                <a:spcPts val="0"/>
              </a:spcBef>
              <a:spcAft>
                <a:spcPts val="0"/>
              </a:spcAft>
            </a:pPr>
            <a:r>
              <a:rPr sz="1050" b="0" i="0">
                <a:solidFill>
                  <a:srgbClr val="555555"/>
                </a:solidFill>
                <a:latin typeface="Calibri"/>
              </a:rPr>
              <a:t>The gate measures agreement with the TEACHER, not correctness. The student inherits the teacher's errors — which is exactly why the accuracy limits on the previous slide still apply at 4.6 M rows.</a:t>
            </a:r>
          </a:p>
        </p:txBody>
      </p:sp>
      <p:sp>
        <p:nvSpPr>
          <p:cNvPr id="11" name="TextBox 10"/>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2" name="TextBox 11"/>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1 · PREVALENCE</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200" b="1" i="0">
                <a:solidFill>
                  <a:srgbClr val="1C1C1C"/>
                </a:solidFill>
                <a:latin typeface="Calibri"/>
              </a:rPr>
              <a:t>RQ1 · About one in five Toys reviews is a gift — and every category peaks in December</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19_prevalence_by_category.png"/>
          <p:cNvPicPr>
            <a:picLocks noChangeAspect="1"/>
          </p:cNvPicPr>
          <p:nvPr/>
        </p:nvPicPr>
        <p:blipFill>
          <a:blip r:embed="rId2"/>
          <a:stretch>
            <a:fillRect/>
          </a:stretch>
        </p:blipFill>
        <p:spPr>
          <a:xfrm>
            <a:off x="658368" y="1913107"/>
            <a:ext cx="6035040" cy="3717584"/>
          </a:xfrm>
          <a:prstGeom prst="rect">
            <a:avLst/>
          </a:prstGeom>
        </p:spPr>
      </p:pic>
      <p:sp>
        <p:nvSpPr>
          <p:cNvPr id="6" name="TextBox 5"/>
          <p:cNvSpPr txBox="1"/>
          <p:nvPr/>
        </p:nvSpPr>
        <p:spPr>
          <a:xfrm>
            <a:off x="658368" y="5779008"/>
            <a:ext cx="603504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F19 · human-calibrated prevalence, narrow (gift_given) axis</a:t>
            </a:r>
          </a:p>
        </p:txBody>
      </p:sp>
      <p:graphicFrame>
        <p:nvGraphicFramePr>
          <p:cNvPr id="7" name="Table 6"/>
          <p:cNvGraphicFramePr>
            <a:graphicFrameLocks noGrp="1"/>
          </p:cNvGraphicFramePr>
          <p:nvPr/>
        </p:nvGraphicFramePr>
        <p:xfrm>
          <a:off x="6967728" y="1783080"/>
          <a:ext cx="4565597" cy="1828800"/>
        </p:xfrm>
        <a:graphic>
          <a:graphicData uri="http://schemas.openxmlformats.org/drawingml/2006/table">
            <a:tbl>
              <a:tblPr>
                <a:tableStyleId>{2D5ABB26-0587-4C30-8999-92F81FD0307C}</a:tableStyleId>
              </a:tblPr>
              <a:tblGrid>
                <a:gridCol w="1521866"/>
                <a:gridCol w="961178"/>
                <a:gridCol w="1201473"/>
                <a:gridCol w="881080"/>
              </a:tblGrid>
              <a:tr h="365760">
                <a:tc>
                  <a:txBody>
                    <a:bodyPr/>
                    <a:lstStyle/>
                    <a:p>
                      <a:pPr algn="l">
                        <a:spcBef>
                          <a:spcPts val="0"/>
                        </a:spcBef>
                        <a:spcAft>
                          <a:spcPts val="0"/>
                        </a:spcAft>
                      </a:pPr>
                      <a:r>
                        <a:rPr sz="950" b="1" i="0">
                          <a:solidFill>
                            <a:srgbClr val="1F5C8B"/>
                          </a:solidFill>
                          <a:latin typeface="Calibri"/>
                        </a:rPr>
                        <a:t>Category</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Calibrated</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95 % CI</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Raw LLM</a:t>
                      </a:r>
                    </a:p>
                  </a:txBody>
                  <a:tcPr marL="73152" marR="73152" marT="18288" marB="18288" anchor="ctr">
                    <a:solidFill>
                      <a:srgbClr val="E8EFF6"/>
                    </a:solidFill>
                  </a:tcPr>
                </a:tc>
              </a:tr>
              <a:tr h="365760">
                <a:tc>
                  <a:txBody>
                    <a:bodyPr/>
                    <a:lstStyle/>
                    <a:p>
                      <a:pPr algn="l">
                        <a:spcBef>
                          <a:spcPts val="0"/>
                        </a:spcBef>
                        <a:spcAft>
                          <a:spcPts val="0"/>
                        </a:spcAft>
                      </a:pPr>
                      <a:r>
                        <a:rPr sz="1050" b="0" i="0">
                          <a:solidFill>
                            <a:srgbClr val="1C1C1C"/>
                          </a:solidFill>
                          <a:latin typeface="Calibri"/>
                        </a:rPr>
                        <a:t>Toys &amp; Games</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19.0%</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[15.8, 22.3]</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23.2%</a:t>
                      </a:r>
                    </a:p>
                  </a:txBody>
                  <a:tcPr marL="73152" marR="73152" marT="18288" marB="18288" anchor="ctr">
                    <a:solidFill>
                      <a:srgbClr val="FFFFFF"/>
                    </a:solidFill>
                  </a:tcPr>
                </a:tc>
              </a:tr>
              <a:tr h="365760">
                <a:tc>
                  <a:txBody>
                    <a:bodyPr/>
                    <a:lstStyle/>
                    <a:p>
                      <a:pPr algn="l">
                        <a:spcBef>
                          <a:spcPts val="0"/>
                        </a:spcBef>
                        <a:spcAft>
                          <a:spcPts val="0"/>
                        </a:spcAft>
                      </a:pPr>
                      <a:r>
                        <a:rPr sz="1050" b="0" i="0">
                          <a:solidFill>
                            <a:srgbClr val="1C1C1C"/>
                          </a:solidFill>
                          <a:latin typeface="Calibri"/>
                        </a:rPr>
                        <a:t>Grocery</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5.4%</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[3.4, 8.3]</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4.3%</a:t>
                      </a:r>
                    </a:p>
                  </a:txBody>
                  <a:tcPr marL="73152" marR="73152" marT="18288" marB="18288" anchor="ctr">
                    <a:solidFill>
                      <a:srgbClr val="FAFAFA"/>
                    </a:solidFill>
                  </a:tcPr>
                </a:tc>
              </a:tr>
              <a:tr h="365760">
                <a:tc>
                  <a:txBody>
                    <a:bodyPr/>
                    <a:lstStyle/>
                    <a:p>
                      <a:pPr algn="l">
                        <a:spcBef>
                          <a:spcPts val="0"/>
                        </a:spcBef>
                        <a:spcAft>
                          <a:spcPts val="0"/>
                        </a:spcAft>
                      </a:pPr>
                      <a:r>
                        <a:rPr sz="1050" b="0" i="0">
                          <a:solidFill>
                            <a:srgbClr val="1C1C1C"/>
                          </a:solidFill>
                          <a:latin typeface="Calibri"/>
                        </a:rPr>
                        <a:t>Video Games</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7.9%</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[5.8, 10.6]</a:t>
                      </a:r>
                    </a:p>
                  </a:txBody>
                  <a:tcPr marL="73152" marR="73152" marT="18288" marB="18288" anchor="ctr">
                    <a:solidFill>
                      <a:srgbClr val="FFFFFF"/>
                    </a:solidFill>
                  </a:tcPr>
                </a:tc>
                <a:tc>
                  <a:txBody>
                    <a:bodyPr/>
                    <a:lstStyle/>
                    <a:p>
                      <a:pPr algn="r">
                        <a:spcBef>
                          <a:spcPts val="0"/>
                        </a:spcBef>
                        <a:spcAft>
                          <a:spcPts val="0"/>
                        </a:spcAft>
                      </a:pPr>
                      <a:r>
                        <a:rPr sz="1050" b="0" i="0">
                          <a:solidFill>
                            <a:srgbClr val="1C1C1C"/>
                          </a:solidFill>
                          <a:latin typeface="Calibri"/>
                        </a:rPr>
                        <a:t>7.9%</a:t>
                      </a:r>
                    </a:p>
                  </a:txBody>
                  <a:tcPr marL="73152" marR="73152" marT="18288" marB="18288" anchor="ctr">
                    <a:solidFill>
                      <a:srgbClr val="FFFFFF"/>
                    </a:solidFill>
                  </a:tcPr>
                </a:tc>
              </a:tr>
              <a:tr h="365760">
                <a:tc>
                  <a:txBody>
                    <a:bodyPr/>
                    <a:lstStyle/>
                    <a:p>
                      <a:pPr algn="l">
                        <a:spcBef>
                          <a:spcPts val="0"/>
                        </a:spcBef>
                        <a:spcAft>
                          <a:spcPts val="0"/>
                        </a:spcAft>
                      </a:pPr>
                      <a:r>
                        <a:rPr sz="1050" b="0" i="0">
                          <a:solidFill>
                            <a:srgbClr val="1C1C1C"/>
                          </a:solidFill>
                          <a:latin typeface="Calibri"/>
                        </a:rPr>
                        <a:t>All Beauty</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5.5%</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[3.4, 8.4]</a:t>
                      </a:r>
                    </a:p>
                  </a:txBody>
                  <a:tcPr marL="73152" marR="73152" marT="18288" marB="18288" anchor="ctr">
                    <a:solidFill>
                      <a:srgbClr val="FAFAFA"/>
                    </a:solidFill>
                  </a:tcPr>
                </a:tc>
                <a:tc>
                  <a:txBody>
                    <a:bodyPr/>
                    <a:lstStyle/>
                    <a:p>
                      <a:pPr algn="r">
                        <a:spcBef>
                          <a:spcPts val="0"/>
                        </a:spcBef>
                        <a:spcAft>
                          <a:spcPts val="0"/>
                        </a:spcAft>
                      </a:pPr>
                      <a:r>
                        <a:rPr sz="1050" b="0" i="0">
                          <a:solidFill>
                            <a:srgbClr val="1C1C1C"/>
                          </a:solidFill>
                          <a:latin typeface="Calibri"/>
                        </a:rPr>
                        <a:t>4.7%</a:t>
                      </a:r>
                    </a:p>
                  </a:txBody>
                  <a:tcPr marL="73152" marR="73152" marT="18288" marB="18288" anchor="ctr">
                    <a:solidFill>
                      <a:srgbClr val="FAFAFA"/>
                    </a:solidFill>
                  </a:tcPr>
                </a:tc>
              </a:tr>
            </a:tbl>
          </a:graphicData>
        </a:graphic>
      </p:graphicFrame>
      <p:sp>
        <p:nvSpPr>
          <p:cNvPr id="8" name="TextBox 7"/>
          <p:cNvSpPr txBox="1"/>
          <p:nvPr/>
        </p:nvSpPr>
        <p:spPr>
          <a:xfrm>
            <a:off x="6967728" y="3794760"/>
            <a:ext cx="456559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DECEMBER–JANUARY ÷ SUMMER</a:t>
            </a:r>
          </a:p>
        </p:txBody>
      </p:sp>
      <p:sp>
        <p:nvSpPr>
          <p:cNvPr id="9" name="TextBox 8"/>
          <p:cNvSpPr txBox="1"/>
          <p:nvPr/>
        </p:nvSpPr>
        <p:spPr>
          <a:xfrm>
            <a:off x="6967728" y="4096512"/>
            <a:ext cx="4565599" cy="256032"/>
          </a:xfrm>
          <a:prstGeom prst="rect">
            <a:avLst/>
          </a:prstGeom>
          <a:noFill/>
        </p:spPr>
        <p:txBody>
          <a:bodyPr wrap="square" lIns="0" rIns="0" tIns="0" bIns="0">
            <a:spAutoFit/>
          </a:bodyPr>
          <a:lstStyle/>
          <a:p>
            <a:pPr algn="l">
              <a:spcBef>
                <a:spcPts val="0"/>
              </a:spcBef>
              <a:spcAft>
                <a:spcPts val="0"/>
              </a:spcAft>
            </a:pPr>
            <a:r>
              <a:rPr sz="1050" b="0" i="0">
                <a:solidFill>
                  <a:srgbClr val="1C1C1C"/>
                </a:solidFill>
                <a:latin typeface="Calibri"/>
              </a:rPr>
              <a:t>Toys &amp; Games   1.58×   [1.43, 1.73]</a:t>
            </a:r>
          </a:p>
        </p:txBody>
      </p:sp>
      <p:sp>
        <p:nvSpPr>
          <p:cNvPr id="10" name="TextBox 9"/>
          <p:cNvSpPr txBox="1"/>
          <p:nvPr/>
        </p:nvSpPr>
        <p:spPr>
          <a:xfrm>
            <a:off x="6967728" y="4379976"/>
            <a:ext cx="4565599" cy="256032"/>
          </a:xfrm>
          <a:prstGeom prst="rect">
            <a:avLst/>
          </a:prstGeom>
          <a:noFill/>
        </p:spPr>
        <p:txBody>
          <a:bodyPr wrap="square" lIns="0" rIns="0" tIns="0" bIns="0">
            <a:spAutoFit/>
          </a:bodyPr>
          <a:lstStyle/>
          <a:p>
            <a:pPr algn="l">
              <a:spcBef>
                <a:spcPts val="0"/>
              </a:spcBef>
              <a:spcAft>
                <a:spcPts val="0"/>
              </a:spcAft>
            </a:pPr>
            <a:r>
              <a:rPr sz="1050" b="0" i="0">
                <a:solidFill>
                  <a:srgbClr val="1C1C1C"/>
                </a:solidFill>
                <a:latin typeface="Calibri"/>
              </a:rPr>
              <a:t>Grocery   1.71×   [1.33, 2.23]</a:t>
            </a:r>
          </a:p>
        </p:txBody>
      </p:sp>
      <p:sp>
        <p:nvSpPr>
          <p:cNvPr id="11" name="TextBox 10"/>
          <p:cNvSpPr txBox="1"/>
          <p:nvPr/>
        </p:nvSpPr>
        <p:spPr>
          <a:xfrm>
            <a:off x="6967728" y="4663440"/>
            <a:ext cx="4565599" cy="256032"/>
          </a:xfrm>
          <a:prstGeom prst="rect">
            <a:avLst/>
          </a:prstGeom>
          <a:noFill/>
        </p:spPr>
        <p:txBody>
          <a:bodyPr wrap="square" lIns="0" rIns="0" tIns="0" bIns="0">
            <a:spAutoFit/>
          </a:bodyPr>
          <a:lstStyle/>
          <a:p>
            <a:pPr algn="l">
              <a:spcBef>
                <a:spcPts val="0"/>
              </a:spcBef>
              <a:spcAft>
                <a:spcPts val="0"/>
              </a:spcAft>
            </a:pPr>
            <a:r>
              <a:rPr sz="1050" b="0" i="0">
                <a:solidFill>
                  <a:srgbClr val="1C1C1C"/>
                </a:solidFill>
                <a:latin typeface="Calibri"/>
              </a:rPr>
              <a:t>Video Games   2.08×   [1.74, 2.49]</a:t>
            </a:r>
          </a:p>
        </p:txBody>
      </p:sp>
      <p:sp>
        <p:nvSpPr>
          <p:cNvPr id="12" name="TextBox 11"/>
          <p:cNvSpPr txBox="1"/>
          <p:nvPr/>
        </p:nvSpPr>
        <p:spPr>
          <a:xfrm>
            <a:off x="6967728" y="4946903"/>
            <a:ext cx="4565599" cy="256032"/>
          </a:xfrm>
          <a:prstGeom prst="rect">
            <a:avLst/>
          </a:prstGeom>
          <a:noFill/>
        </p:spPr>
        <p:txBody>
          <a:bodyPr wrap="square" lIns="0" rIns="0" tIns="0" bIns="0">
            <a:spAutoFit/>
          </a:bodyPr>
          <a:lstStyle/>
          <a:p>
            <a:pPr algn="l">
              <a:spcBef>
                <a:spcPts val="0"/>
              </a:spcBef>
              <a:spcAft>
                <a:spcPts val="0"/>
              </a:spcAft>
            </a:pPr>
            <a:r>
              <a:rPr sz="1050" b="0" i="0">
                <a:solidFill>
                  <a:srgbClr val="1C1C1C"/>
                </a:solidFill>
                <a:latin typeface="Calibri"/>
              </a:rPr>
              <a:t>All Beauty   2.06×   [1.61, 2.63]</a:t>
            </a:r>
          </a:p>
        </p:txBody>
      </p:sp>
      <p:sp>
        <p:nvSpPr>
          <p:cNvPr id="13" name="TextBox 12"/>
          <p:cNvSpPr txBox="1"/>
          <p:nvPr/>
        </p:nvSpPr>
        <p:spPr>
          <a:xfrm>
            <a:off x="6967728" y="5349240"/>
            <a:ext cx="4565599" cy="777240"/>
          </a:xfrm>
          <a:prstGeom prst="rect">
            <a:avLst/>
          </a:prstGeom>
          <a:noFill/>
        </p:spPr>
        <p:txBody>
          <a:bodyPr wrap="square" lIns="0" rIns="0" tIns="0" bIns="0">
            <a:spAutoFit/>
          </a:bodyPr>
          <a:lstStyle/>
          <a:p>
            <a:pPr algn="l">
              <a:lnSpc>
                <a:spcPct val="112000"/>
              </a:lnSpc>
              <a:spcBef>
                <a:spcPts val="0"/>
              </a:spcBef>
              <a:spcAft>
                <a:spcPts val="0"/>
              </a:spcAft>
            </a:pPr>
            <a:r>
              <a:rPr sz="1000" b="0" i="0">
                <a:solidFill>
                  <a:srgbClr val="555555"/>
                </a:solidFill>
                <a:latin typeface="Calibri"/>
              </a:rPr>
              <a:t>Calibration maps the LLM's raw rate through the confusion matrix measured on the 500 human rows, so the interval carries the detector's error — this is why Toys moves from 23.2 % to 19.0 %.</a:t>
            </a:r>
          </a:p>
        </p:txBody>
      </p:sp>
      <p:sp>
        <p:nvSpPr>
          <p:cNvPr id="14" name="TextBox 13"/>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5" name="TextBox 14"/>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DESIGN · WHY A PLACEBO</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300" b="1" i="0">
                <a:solidFill>
                  <a:srgbClr val="1C1C1C"/>
                </a:solidFill>
                <a:latin typeface="Calibri"/>
              </a:rPr>
              <a:t>Deleting gifts also deletes data — so the comparison must hold the data loss fixed</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874519"/>
            <a:ext cx="3320186" cy="9144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300" b="1" i="0">
                <a:solidFill>
                  <a:srgbClr val="1F5C8B"/>
                </a:solidFill>
                <a:latin typeface="Calibri"/>
              </a:rPr>
              <a:t>C0 · do nothing</a:t>
            </a:r>
          </a:p>
          <a:p>
            <a:pPr algn="ctr">
              <a:lnSpc>
                <a:spcPct val="100000"/>
              </a:lnSpc>
              <a:spcBef>
                <a:spcPts val="0"/>
              </a:spcBef>
              <a:spcAft>
                <a:spcPts val="0"/>
              </a:spcAft>
            </a:pPr>
            <a:r>
              <a:rPr sz="1150" b="0" i="0">
                <a:solidFill>
                  <a:srgbClr val="555555"/>
                </a:solidFill>
                <a:latin typeface="Calibri"/>
              </a:rPr>
              <a:t>all rows kept</a:t>
            </a:r>
          </a:p>
        </p:txBody>
      </p:sp>
      <p:sp>
        <p:nvSpPr>
          <p:cNvPr id="6" name="Right Arrow 5"/>
          <p:cNvSpPr/>
          <p:nvPr/>
        </p:nvSpPr>
        <p:spPr>
          <a:xfrm>
            <a:off x="4019702" y="2253996"/>
            <a:ext cx="374904"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7" name="Rounded Rectangle 6"/>
          <p:cNvSpPr/>
          <p:nvPr/>
        </p:nvSpPr>
        <p:spPr>
          <a:xfrm>
            <a:off x="4435754" y="1874519"/>
            <a:ext cx="3320186" cy="9144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300" b="1" i="0">
                <a:solidFill>
                  <a:srgbClr val="1F5C8B"/>
                </a:solidFill>
                <a:latin typeface="Calibri"/>
              </a:rPr>
              <a:t>C1 · delete gifts</a:t>
            </a:r>
          </a:p>
          <a:p>
            <a:pPr algn="ctr">
              <a:lnSpc>
                <a:spcPct val="100000"/>
              </a:lnSpc>
              <a:spcBef>
                <a:spcPts val="0"/>
              </a:spcBef>
              <a:spcAft>
                <a:spcPts val="0"/>
              </a:spcAft>
            </a:pPr>
            <a:r>
              <a:rPr sz="1150" b="0" i="0">
                <a:solidFill>
                  <a:srgbClr val="555555"/>
                </a:solidFill>
                <a:latin typeface="Calibri"/>
              </a:rPr>
              <a:t>n gift rows removed</a:t>
            </a:r>
          </a:p>
        </p:txBody>
      </p:sp>
      <p:sp>
        <p:nvSpPr>
          <p:cNvPr id="8" name="Right Arrow 7"/>
          <p:cNvSpPr/>
          <p:nvPr/>
        </p:nvSpPr>
        <p:spPr>
          <a:xfrm>
            <a:off x="7797088" y="2253996"/>
            <a:ext cx="374904" cy="155448"/>
          </a:xfrm>
          <a:prstGeom prst="rightArrow">
            <a:avLst/>
          </a:prstGeom>
          <a:solidFill>
            <a:srgbClr val="C2C9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9" name="Rounded Rectangle 8"/>
          <p:cNvSpPr/>
          <p:nvPr/>
        </p:nvSpPr>
        <p:spPr>
          <a:xfrm>
            <a:off x="8213140" y="1874519"/>
            <a:ext cx="3320186" cy="9144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lnSpc>
                <a:spcPct val="95000"/>
              </a:lnSpc>
              <a:spcBef>
                <a:spcPts val="0"/>
              </a:spcBef>
              <a:spcAft>
                <a:spcPts val="200"/>
              </a:spcAft>
            </a:pPr>
            <a:r>
              <a:rPr sz="1300" b="1" i="0">
                <a:solidFill>
                  <a:srgbClr val="1F5C8B"/>
                </a:solidFill>
                <a:latin typeface="Calibri"/>
              </a:rPr>
              <a:t>C4 · PLACEBO</a:t>
            </a:r>
          </a:p>
          <a:p>
            <a:pPr algn="ctr">
              <a:lnSpc>
                <a:spcPct val="100000"/>
              </a:lnSpc>
              <a:spcBef>
                <a:spcPts val="0"/>
              </a:spcBef>
              <a:spcAft>
                <a:spcPts val="0"/>
              </a:spcAft>
            </a:pPr>
            <a:r>
              <a:rPr sz="1150" b="0" i="0">
                <a:solidFill>
                  <a:srgbClr val="555555"/>
                </a:solidFill>
                <a:latin typeface="Calibri"/>
              </a:rPr>
              <a:t>the same n RANDOM rows removed</a:t>
            </a:r>
          </a:p>
        </p:txBody>
      </p:sp>
      <p:sp>
        <p:nvSpPr>
          <p:cNvPr id="10" name="Rounded Rectangle 9"/>
          <p:cNvSpPr/>
          <p:nvPr/>
        </p:nvSpPr>
        <p:spPr>
          <a:xfrm>
            <a:off x="658368" y="2999232"/>
            <a:ext cx="5274355" cy="1188720"/>
          </a:xfrm>
          <a:prstGeom prst="roundRect">
            <a:avLst>
              <a:gd name="adj" fmla="val 5000"/>
            </a:avLst>
          </a:prstGeom>
          <a:solidFill>
            <a:srgbClr val="FAFA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1" name="TextBox 10"/>
          <p:cNvSpPr txBox="1"/>
          <p:nvPr/>
        </p:nvSpPr>
        <p:spPr>
          <a:xfrm>
            <a:off x="841247" y="3127248"/>
            <a:ext cx="4908595" cy="1005840"/>
          </a:xfrm>
          <a:prstGeom prst="rect">
            <a:avLst/>
          </a:prstGeom>
          <a:noFill/>
        </p:spPr>
        <p:txBody>
          <a:bodyPr wrap="square" lIns="0" rIns="0" tIns="0" bIns="0">
            <a:spAutoFit/>
          </a:bodyPr>
          <a:lstStyle/>
          <a:p>
            <a:pPr algn="l">
              <a:spcBef>
                <a:spcPts val="0"/>
              </a:spcBef>
              <a:spcAft>
                <a:spcPts val="500"/>
              </a:spcAft>
            </a:pPr>
            <a:r>
              <a:rPr sz="1300" b="1" i="0">
                <a:solidFill>
                  <a:srgbClr val="8A520A"/>
                </a:solidFill>
                <a:latin typeface="Calibri"/>
              </a:rPr>
              <a:t>C1 vs C0 cannot answer RQ2</a:t>
            </a:r>
          </a:p>
          <a:p>
            <a:pPr algn="l">
              <a:lnSpc>
                <a:spcPct val="112000"/>
              </a:lnSpc>
              <a:spcBef>
                <a:spcPts val="0"/>
              </a:spcBef>
              <a:spcAft>
                <a:spcPts val="0"/>
              </a:spcAft>
            </a:pPr>
            <a:r>
              <a:rPr sz="1100" b="0" i="0">
                <a:solidFill>
                  <a:srgbClr val="1C1C1C"/>
                </a:solidFill>
                <a:latin typeface="Calibri"/>
              </a:rPr>
              <a:t>Two things change at once: the gift rows are gone AND the training set is smaller. A drop could be the missing rows; a gain could be luck.</a:t>
            </a:r>
          </a:p>
        </p:txBody>
      </p:sp>
      <p:sp>
        <p:nvSpPr>
          <p:cNvPr id="12" name="Rounded Rectangle 11"/>
          <p:cNvSpPr/>
          <p:nvPr/>
        </p:nvSpPr>
        <p:spPr>
          <a:xfrm>
            <a:off x="6258971" y="2999232"/>
            <a:ext cx="5274355" cy="118872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TextBox 12"/>
          <p:cNvSpPr txBox="1"/>
          <p:nvPr/>
        </p:nvSpPr>
        <p:spPr>
          <a:xfrm>
            <a:off x="6441851" y="3127248"/>
            <a:ext cx="4908595" cy="1005840"/>
          </a:xfrm>
          <a:prstGeom prst="rect">
            <a:avLst/>
          </a:prstGeom>
          <a:noFill/>
        </p:spPr>
        <p:txBody>
          <a:bodyPr wrap="square" lIns="0" rIns="0" tIns="0" bIns="0">
            <a:spAutoFit/>
          </a:bodyPr>
          <a:lstStyle/>
          <a:p>
            <a:pPr algn="l">
              <a:spcBef>
                <a:spcPts val="0"/>
              </a:spcBef>
              <a:spcAft>
                <a:spcPts val="500"/>
              </a:spcAft>
            </a:pPr>
            <a:r>
              <a:rPr sz="1300" b="1" i="0">
                <a:solidFill>
                  <a:srgbClr val="1F5C8B"/>
                </a:solidFill>
                <a:latin typeface="Calibri"/>
              </a:rPr>
              <a:t>C1 vs C4 can</a:t>
            </a:r>
          </a:p>
          <a:p>
            <a:pPr algn="l">
              <a:lnSpc>
                <a:spcPct val="112000"/>
              </a:lnSpc>
              <a:spcBef>
                <a:spcPts val="0"/>
              </a:spcBef>
              <a:spcAft>
                <a:spcPts val="0"/>
              </a:spcAft>
            </a:pPr>
            <a:r>
              <a:rPr sz="1100" b="0" i="0">
                <a:solidFill>
                  <a:srgbClr val="1C1C1C"/>
                </a:solidFill>
                <a:latin typeface="Calibri"/>
              </a:rPr>
              <a:t>Identical training-set size, identical test pairs, same seeds. The only difference is WHICH rows went. Positive means gift rows were worth less than random rows.</a:t>
            </a:r>
          </a:p>
        </p:txBody>
      </p:sp>
      <p:sp>
        <p:nvSpPr>
          <p:cNvPr id="14" name="TextBox 13"/>
          <p:cNvSpPr txBox="1"/>
          <p:nvPr/>
        </p:nvSpPr>
        <p:spPr>
          <a:xfrm>
            <a:off x="658368" y="4370832"/>
            <a:ext cx="10874959" cy="292608"/>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ALL SIX CONDITIONS</a:t>
            </a:r>
          </a:p>
        </p:txBody>
      </p:sp>
      <p:graphicFrame>
        <p:nvGraphicFramePr>
          <p:cNvPr id="15" name="Table 14"/>
          <p:cNvGraphicFramePr>
            <a:graphicFrameLocks noGrp="1"/>
          </p:cNvGraphicFramePr>
          <p:nvPr/>
        </p:nvGraphicFramePr>
        <p:xfrm>
          <a:off x="658368" y="4663440"/>
          <a:ext cx="10874958" cy="914400"/>
        </p:xfrm>
        <a:graphic>
          <a:graphicData uri="http://schemas.openxmlformats.org/drawingml/2006/table">
            <a:tbl>
              <a:tblPr>
                <a:tableStyleId>{2D5ABB26-0587-4C30-8999-92F81FD0307C}</a:tableStyleId>
              </a:tblPr>
              <a:tblGrid>
                <a:gridCol w="1812493"/>
                <a:gridCol w="1812493"/>
                <a:gridCol w="1812493"/>
                <a:gridCol w="1812493"/>
                <a:gridCol w="1812493"/>
                <a:gridCol w="1812493"/>
              </a:tblGrid>
              <a:tr h="457200">
                <a:tc>
                  <a:txBody>
                    <a:bodyPr/>
                    <a:lstStyle/>
                    <a:p>
                      <a:pPr algn="ctr">
                        <a:spcBef>
                          <a:spcPts val="0"/>
                        </a:spcBef>
                        <a:spcAft>
                          <a:spcPts val="0"/>
                        </a:spcAft>
                      </a:pPr>
                      <a:r>
                        <a:rPr sz="1200" b="1" i="0">
                          <a:solidFill>
                            <a:srgbClr val="1F5C8B"/>
                          </a:solidFill>
                          <a:latin typeface="Calibri"/>
                        </a:rPr>
                        <a:t>C0</a:t>
                      </a:r>
                    </a:p>
                  </a:txBody>
                  <a:tcPr marL="73152" marR="73152" marT="18288" marB="18288" anchor="ctr">
                    <a:solidFill>
                      <a:srgbClr val="E8EFF6"/>
                    </a:solidFill>
                  </a:tcPr>
                </a:tc>
                <a:tc>
                  <a:txBody>
                    <a:bodyPr/>
                    <a:lstStyle/>
                    <a:p>
                      <a:pPr algn="ctr">
                        <a:spcBef>
                          <a:spcPts val="0"/>
                        </a:spcBef>
                        <a:spcAft>
                          <a:spcPts val="0"/>
                        </a:spcAft>
                      </a:pPr>
                      <a:r>
                        <a:rPr sz="1200" b="1" i="0">
                          <a:solidFill>
                            <a:srgbClr val="1F5C8B"/>
                          </a:solidFill>
                          <a:latin typeface="Calibri"/>
                        </a:rPr>
                        <a:t>C1</a:t>
                      </a:r>
                    </a:p>
                  </a:txBody>
                  <a:tcPr marL="73152" marR="73152" marT="18288" marB="18288" anchor="ctr">
                    <a:solidFill>
                      <a:srgbClr val="E8EFF6"/>
                    </a:solidFill>
                  </a:tcPr>
                </a:tc>
                <a:tc>
                  <a:txBody>
                    <a:bodyPr/>
                    <a:lstStyle/>
                    <a:p>
                      <a:pPr algn="ctr">
                        <a:spcBef>
                          <a:spcPts val="0"/>
                        </a:spcBef>
                        <a:spcAft>
                          <a:spcPts val="0"/>
                        </a:spcAft>
                      </a:pPr>
                      <a:r>
                        <a:rPr sz="1200" b="1" i="0">
                          <a:solidFill>
                            <a:srgbClr val="1F5C8B"/>
                          </a:solidFill>
                          <a:latin typeface="Calibri"/>
                        </a:rPr>
                        <a:t>C4</a:t>
                      </a:r>
                    </a:p>
                  </a:txBody>
                  <a:tcPr marL="73152" marR="73152" marT="18288" marB="18288" anchor="ctr">
                    <a:solidFill>
                      <a:srgbClr val="E8EFF6"/>
                    </a:solidFill>
                  </a:tcPr>
                </a:tc>
                <a:tc>
                  <a:txBody>
                    <a:bodyPr/>
                    <a:lstStyle/>
                    <a:p>
                      <a:pPr algn="ctr">
                        <a:spcBef>
                          <a:spcPts val="0"/>
                        </a:spcBef>
                        <a:spcAft>
                          <a:spcPts val="0"/>
                        </a:spcAft>
                      </a:pPr>
                      <a:r>
                        <a:rPr sz="1200" b="1" i="0">
                          <a:solidFill>
                            <a:srgbClr val="1F5C8B"/>
                          </a:solidFill>
                          <a:latin typeface="Calibri"/>
                        </a:rPr>
                        <a:t>C1b</a:t>
                      </a:r>
                    </a:p>
                  </a:txBody>
                  <a:tcPr marL="73152" marR="73152" marT="18288" marB="18288" anchor="ctr">
                    <a:solidFill>
                      <a:srgbClr val="E8EFF6"/>
                    </a:solidFill>
                  </a:tcPr>
                </a:tc>
                <a:tc>
                  <a:txBody>
                    <a:bodyPr/>
                    <a:lstStyle/>
                    <a:p>
                      <a:pPr algn="ctr">
                        <a:spcBef>
                          <a:spcPts val="0"/>
                        </a:spcBef>
                        <a:spcAft>
                          <a:spcPts val="0"/>
                        </a:spcAft>
                      </a:pPr>
                      <a:r>
                        <a:rPr sz="1200" b="1" i="0">
                          <a:solidFill>
                            <a:srgbClr val="1F5C8B"/>
                          </a:solidFill>
                          <a:latin typeface="Calibri"/>
                        </a:rPr>
                        <a:t>C4b</a:t>
                      </a:r>
                    </a:p>
                  </a:txBody>
                  <a:tcPr marL="73152" marR="73152" marT="18288" marB="18288" anchor="ctr">
                    <a:solidFill>
                      <a:srgbClr val="E8EFF6"/>
                    </a:solidFill>
                  </a:tcPr>
                </a:tc>
                <a:tc>
                  <a:txBody>
                    <a:bodyPr/>
                    <a:lstStyle/>
                    <a:p>
                      <a:pPr algn="ctr">
                        <a:spcBef>
                          <a:spcPts val="0"/>
                        </a:spcBef>
                        <a:spcAft>
                          <a:spcPts val="0"/>
                        </a:spcAft>
                      </a:pPr>
                      <a:r>
                        <a:rPr sz="1200" b="1" i="0">
                          <a:solidFill>
                            <a:srgbClr val="1F5C8B"/>
                          </a:solidFill>
                          <a:latin typeface="Calibri"/>
                        </a:rPr>
                        <a:t>C3</a:t>
                      </a:r>
                    </a:p>
                  </a:txBody>
                  <a:tcPr marL="73152" marR="73152" marT="18288" marB="18288" anchor="ctr">
                    <a:solidFill>
                      <a:srgbClr val="E8EFF6"/>
                    </a:solidFill>
                  </a:tcPr>
                </a:tc>
              </a:tr>
              <a:tr h="457200">
                <a:tc>
                  <a:txBody>
                    <a:bodyPr/>
                    <a:lstStyle/>
                    <a:p>
                      <a:pPr algn="ctr">
                        <a:spcBef>
                          <a:spcPts val="0"/>
                        </a:spcBef>
                        <a:spcAft>
                          <a:spcPts val="0"/>
                        </a:spcAft>
                      </a:pPr>
                      <a:r>
                        <a:rPr sz="1000" b="0" i="0">
                          <a:solidFill>
                            <a:srgbClr val="1C1C1C"/>
                          </a:solidFill>
                          <a:latin typeface="Calibri"/>
                        </a:rPr>
                        <a:t>baseline
nothing removed</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narrow
gift_given removed</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placebo for C1
same n, random</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broad
+ household, received</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placebo for C1b
same n, random</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flag, don't delete
shadow token</a:t>
                      </a:r>
                    </a:p>
                  </a:txBody>
                  <a:tcPr marL="73152" marR="73152" marT="18288" marB="18288" anchor="ctr">
                    <a:solidFill>
                      <a:srgbClr val="FFFFFF"/>
                    </a:solidFill>
                  </a:tcPr>
                </a:tc>
              </a:tr>
            </a:tbl>
          </a:graphicData>
        </a:graphic>
      </p:graphicFrame>
      <p:sp>
        <p:nvSpPr>
          <p:cNvPr id="16" name="TextBox 15"/>
          <p:cNvSpPr txBox="1"/>
          <p:nvPr/>
        </p:nvSpPr>
        <p:spPr>
          <a:xfrm>
            <a:off x="658368" y="5687568"/>
            <a:ext cx="10874959" cy="457200"/>
          </a:xfrm>
          <a:prstGeom prst="rect">
            <a:avLst/>
          </a:prstGeom>
          <a:noFill/>
        </p:spPr>
        <p:txBody>
          <a:bodyPr wrap="square" lIns="0" rIns="0" tIns="0" bIns="0">
            <a:spAutoFit/>
          </a:bodyPr>
          <a:lstStyle/>
          <a:p>
            <a:pPr algn="l">
              <a:lnSpc>
                <a:spcPct val="112000"/>
              </a:lnSpc>
              <a:spcBef>
                <a:spcPts val="0"/>
              </a:spcBef>
              <a:spcAft>
                <a:spcPts val="0"/>
              </a:spcAft>
            </a:pPr>
            <a:r>
              <a:rPr sz="1050" b="0" i="1">
                <a:solidFill>
                  <a:srgbClr val="555555"/>
                </a:solidFill>
                <a:latin typeface="Calibri"/>
              </a:rPr>
              <a:t>C2 (down-weighting) was specified but not run: RecBole's SASRec loss does not accept per-interaction weights without patching the library, and patching it would have broken the "same code for every condition" rule.</a:t>
            </a:r>
          </a:p>
        </p:txBody>
      </p:sp>
      <p:sp>
        <p:nvSpPr>
          <p:cNvPr id="17" name="TextBox 16"/>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8" name="TextBox 17"/>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VALIDITY</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400" b="1" i="0">
                <a:solidFill>
                  <a:srgbClr val="1C1C1C"/>
                </a:solidFill>
                <a:latin typeface="Calibri"/>
              </a:rPr>
              <a:t>Gate 2 · the setup is valid in all four cells, so the contrasts mean something</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graphicFrame>
        <p:nvGraphicFramePr>
          <p:cNvPr id="5" name="Table 4"/>
          <p:cNvGraphicFramePr>
            <a:graphicFrameLocks noGrp="1"/>
          </p:cNvGraphicFramePr>
          <p:nvPr/>
        </p:nvGraphicFramePr>
        <p:xfrm>
          <a:off x="658368" y="1874519"/>
          <a:ext cx="10874954" cy="1920240"/>
        </p:xfrm>
        <a:graphic>
          <a:graphicData uri="http://schemas.openxmlformats.org/drawingml/2006/table">
            <a:tbl>
              <a:tblPr>
                <a:tableStyleId>{2D5ABB26-0587-4C30-8999-92F81FD0307C}</a:tableStyleId>
              </a:tblPr>
              <a:tblGrid>
                <a:gridCol w="3398424"/>
                <a:gridCol w="2548818"/>
                <a:gridCol w="1231928"/>
                <a:gridCol w="1231928"/>
                <a:gridCol w="1231928"/>
                <a:gridCol w="1231928"/>
              </a:tblGrid>
              <a:tr h="384048">
                <a:tc>
                  <a:txBody>
                    <a:bodyPr/>
                    <a:lstStyle/>
                    <a:p>
                      <a:pPr algn="l">
                        <a:spcBef>
                          <a:spcPts val="0"/>
                        </a:spcBef>
                        <a:spcAft>
                          <a:spcPts val="0"/>
                        </a:spcAft>
                      </a:pPr>
                      <a:r>
                        <a:rPr sz="950" b="1" i="0">
                          <a:solidFill>
                            <a:srgbClr val="1F5C8B"/>
                          </a:solidFill>
                          <a:latin typeface="Calibri"/>
                        </a:rPr>
                        <a:t>Criterion</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What it rules out</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BPR</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BPR</a:t>
                      </a:r>
                    </a:p>
                  </a:txBody>
                  <a:tcPr marL="73152" marR="73152" marT="18288" marB="18288" anchor="ctr">
                    <a:solidFill>
                      <a:srgbClr val="E8EFF6"/>
                    </a:solidFill>
                  </a:tcPr>
                </a:tc>
              </a:tr>
              <a:tr h="384048">
                <a:tc>
                  <a:txBody>
                    <a:bodyPr/>
                    <a:lstStyle/>
                    <a:p>
                      <a:pPr algn="l">
                        <a:spcBef>
                          <a:spcPts val="0"/>
                        </a:spcBef>
                        <a:spcAft>
                          <a:spcPts val="0"/>
                        </a:spcAft>
                      </a:pPr>
                      <a:r>
                        <a:rPr sz="1050" b="0" i="0">
                          <a:solidFill>
                            <a:srgbClr val="1C1C1C"/>
                          </a:solidFill>
                          <a:latin typeface="Calibri"/>
                        </a:rPr>
                        <a:t>1 · Every run scored on the same test pairs</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Comparing different test sets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r>
              <a:tr h="384048">
                <a:tc>
                  <a:txBody>
                    <a:bodyPr/>
                    <a:lstStyle/>
                    <a:p>
                      <a:pPr algn="l">
                        <a:spcBef>
                          <a:spcPts val="0"/>
                        </a:spcBef>
                        <a:spcAft>
                          <a:spcPts val="0"/>
                        </a:spcAft>
                      </a:pPr>
                      <a:r>
                        <a:rPr sz="1050" b="0" i="0">
                          <a:solidFill>
                            <a:srgbClr val="1C1C1C"/>
                          </a:solidFill>
                          <a:latin typeface="Calibri"/>
                        </a:rPr>
                        <a:t>2 · Each condition's item universe ⊆ C0's</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A condition inventing items</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AFAFA"/>
                    </a:solidFill>
                  </a:tcPr>
                </a:tc>
              </a:tr>
              <a:tr h="384048">
                <a:tc>
                  <a:txBody>
                    <a:bodyPr/>
                    <a:lstStyle/>
                    <a:p>
                      <a:pPr algn="l">
                        <a:spcBef>
                          <a:spcPts val="0"/>
                        </a:spcBef>
                        <a:spcAft>
                          <a:spcPts val="0"/>
                        </a:spcAft>
                      </a:pPr>
                      <a:r>
                        <a:rPr sz="1050" b="0" i="0">
                          <a:solidFill>
                            <a:srgbClr val="1C1C1C"/>
                          </a:solidFill>
                          <a:latin typeface="Calibri"/>
                        </a:rPr>
                        <a:t>3 · Neither placebo is BETTER than C0</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Deletion helping by itself</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PASS</a:t>
                      </a:r>
                    </a:p>
                  </a:txBody>
                  <a:tcPr marL="73152" marR="73152" marT="18288" marB="18288" anchor="ctr">
                    <a:solidFill>
                      <a:srgbClr val="FFFFFF"/>
                    </a:solidFill>
                  </a:tcPr>
                </a:tc>
              </a:tr>
              <a:tr h="384048">
                <a:tc>
                  <a:txBody>
                    <a:bodyPr/>
                    <a:lstStyle/>
                    <a:p>
                      <a:pPr algn="l">
                        <a:spcBef>
                          <a:spcPts val="0"/>
                        </a:spcBef>
                        <a:spcAft>
                          <a:spcPts val="0"/>
                        </a:spcAft>
                      </a:pPr>
                      <a:r>
                        <a:rPr sz="1050" b="0" i="0">
                          <a:solidFill>
                            <a:srgbClr val="1C1C1C"/>
                          </a:solidFill>
                          <a:latin typeface="Calibri"/>
                        </a:rPr>
                        <a:t>4 · C0 seed-to-seed CV &lt; 0.1</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Runs too unstable to compare</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 · 0.012</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 · 0.025</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 · 0.005</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PASS · 0.002</a:t>
                      </a:r>
                    </a:p>
                  </a:txBody>
                  <a:tcPr marL="73152" marR="73152" marT="18288" marB="18288" anchor="ctr">
                    <a:solidFill>
                      <a:srgbClr val="FAFAFA"/>
                    </a:solidFill>
                  </a:tcPr>
                </a:tc>
              </a:tr>
            </a:tbl>
          </a:graphicData>
        </a:graphic>
      </p:graphicFrame>
      <p:sp>
        <p:nvSpPr>
          <p:cNvPr id="6" name="TextBox 5"/>
          <p:cNvSpPr txBox="1"/>
          <p:nvPr/>
        </p:nvSpPr>
        <p:spPr>
          <a:xfrm>
            <a:off x="658368" y="3931920"/>
            <a:ext cx="108749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CRITERION 3 IN NUMBERS — NEITHER PLACEBO IS BETTER THAN C0 (THE CI'S UPPER END MAY TOUCH ZERO, BUT NEVER RISES ABOVE IT)</a:t>
            </a:r>
          </a:p>
        </p:txBody>
      </p:sp>
      <p:graphicFrame>
        <p:nvGraphicFramePr>
          <p:cNvPr id="7" name="Table 6"/>
          <p:cNvGraphicFramePr>
            <a:graphicFrameLocks noGrp="1"/>
          </p:cNvGraphicFramePr>
          <p:nvPr/>
        </p:nvGraphicFramePr>
        <p:xfrm>
          <a:off x="658368" y="4233672"/>
          <a:ext cx="10874957" cy="1463040"/>
        </p:xfrm>
        <a:graphic>
          <a:graphicData uri="http://schemas.openxmlformats.org/drawingml/2006/table">
            <a:tbl>
              <a:tblPr>
                <a:tableStyleId>{2D5ABB26-0587-4C30-8999-92F81FD0307C}</a:tableStyleId>
              </a:tblPr>
              <a:tblGrid>
                <a:gridCol w="2396177"/>
                <a:gridCol w="4239390"/>
                <a:gridCol w="4239390"/>
              </a:tblGrid>
              <a:tr h="292608">
                <a:tc>
                  <a:txBody>
                    <a:bodyPr/>
                    <a:lstStyle/>
                    <a:p>
                      <a:pPr algn="l">
                        <a:spcBef>
                          <a:spcPts val="0"/>
                        </a:spcBef>
                        <a:spcAft>
                          <a:spcPts val="0"/>
                        </a:spcAft>
                      </a:pPr>
                      <a:r>
                        <a:rPr sz="950" b="1" i="0">
                          <a:solidFill>
                            <a:srgbClr val="1F5C8B"/>
                          </a:solidFill>
                          <a:latin typeface="Calibri"/>
                        </a:rPr>
                        <a:t>Cell</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C4 − C0, Recall@10</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C4b − C0, Recall@10</a:t>
                      </a:r>
                    </a:p>
                  </a:txBody>
                  <a:tcPr marL="73152" marR="73152" marT="18288" marB="18288" anchor="ctr">
                    <a:solidFill>
                      <a:srgbClr val="E8EFF6"/>
                    </a:solidFill>
                  </a:tcPr>
                </a:tc>
              </a:tr>
              <a:tr h="292608">
                <a:tc>
                  <a:txBody>
                    <a:bodyPr/>
                    <a:lstStyle/>
                    <a:p>
                      <a:pPr algn="l">
                        <a:spcBef>
                          <a:spcPts val="0"/>
                        </a:spcBef>
                        <a:spcAft>
                          <a:spcPts val="0"/>
                        </a:spcAft>
                      </a:pPr>
                      <a:r>
                        <a:rPr sz="1050" b="0" i="0">
                          <a:solidFill>
                            <a:srgbClr val="1C1C1C"/>
                          </a:solidFill>
                          <a:latin typeface="Calibri"/>
                        </a:rPr>
                        <a:t>Toys · SASRec</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-0.008510  [-0.0092, -0.0079]</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-0.022462  [-0.0234, -0.0216]</a:t>
                      </a:r>
                    </a:p>
                  </a:txBody>
                  <a:tcPr marL="73152" marR="73152" marT="18288" marB="18288" anchor="ctr">
                    <a:solidFill>
                      <a:srgbClr val="FFFFFF"/>
                    </a:solidFill>
                  </a:tcPr>
                </a:tc>
              </a:tr>
              <a:tr h="292608">
                <a:tc>
                  <a:txBody>
                    <a:bodyPr/>
                    <a:lstStyle/>
                    <a:p>
                      <a:pPr algn="l">
                        <a:spcBef>
                          <a:spcPts val="0"/>
                        </a:spcBef>
                        <a:spcAft>
                          <a:spcPts val="0"/>
                        </a:spcAft>
                      </a:pPr>
                      <a:r>
                        <a:rPr sz="1050" b="0" i="0">
                          <a:solidFill>
                            <a:srgbClr val="1C1C1C"/>
                          </a:solidFill>
                          <a:latin typeface="Calibri"/>
                        </a:rPr>
                        <a:t>Toys · BPR</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-0.004109  [-0.0046, -0.0036]</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-0.010853  [-0.0114, -0.0103]</a:t>
                      </a:r>
                    </a:p>
                  </a:txBody>
                  <a:tcPr marL="73152" marR="73152" marT="18288" marB="18288" anchor="ctr">
                    <a:solidFill>
                      <a:srgbClr val="FAFAFA"/>
                    </a:solidFill>
                  </a:tcPr>
                </a:tc>
              </a:tr>
              <a:tr h="292608">
                <a:tc>
                  <a:txBody>
                    <a:bodyPr/>
                    <a:lstStyle/>
                    <a:p>
                      <a:pPr algn="l">
                        <a:spcBef>
                          <a:spcPts val="0"/>
                        </a:spcBef>
                        <a:spcAft>
                          <a:spcPts val="0"/>
                        </a:spcAft>
                      </a:pPr>
                      <a:r>
                        <a:rPr sz="1050" b="0" i="0">
                          <a:solidFill>
                            <a:srgbClr val="1C1C1C"/>
                          </a:solidFill>
                          <a:latin typeface="Calibri"/>
                        </a:rPr>
                        <a:t>Grocery · SASRec</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-0.000201  [-0.0005, 0.0001]</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-0.001638  [-0.0020, -0.0013]</a:t>
                      </a:r>
                    </a:p>
                  </a:txBody>
                  <a:tcPr marL="73152" marR="73152" marT="18288" marB="18288" anchor="ctr">
                    <a:solidFill>
                      <a:srgbClr val="FFFFFF"/>
                    </a:solidFill>
                  </a:tcPr>
                </a:tc>
              </a:tr>
              <a:tr h="292608">
                <a:tc>
                  <a:txBody>
                    <a:bodyPr/>
                    <a:lstStyle/>
                    <a:p>
                      <a:pPr algn="l">
                        <a:spcBef>
                          <a:spcPts val="0"/>
                        </a:spcBef>
                        <a:spcAft>
                          <a:spcPts val="0"/>
                        </a:spcAft>
                      </a:pPr>
                      <a:r>
                        <a:rPr sz="1050" b="0" i="0">
                          <a:solidFill>
                            <a:srgbClr val="1C1C1C"/>
                          </a:solidFill>
                          <a:latin typeface="Calibri"/>
                        </a:rPr>
                        <a:t>Grocery · BPR</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-0.000235  [-0.0005, 0.0000]</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-0.001357  [-0.0017, -0.0011]</a:t>
                      </a:r>
                    </a:p>
                  </a:txBody>
                  <a:tcPr marL="73152" marR="73152" marT="18288" marB="18288" anchor="ctr">
                    <a:solidFill>
                      <a:srgbClr val="FAFAFA"/>
                    </a:solidFill>
                  </a:tcPr>
                </a:tc>
              </a:tr>
            </a:tbl>
          </a:graphicData>
        </a:graphic>
      </p:graphicFrame>
      <p:sp>
        <p:nvSpPr>
          <p:cNvPr id="8" name="TextBox 7"/>
          <p:cNvSpPr txBox="1"/>
          <p:nvPr/>
        </p:nvSpPr>
        <p:spPr>
          <a:xfrm>
            <a:off x="658368" y="5797296"/>
            <a:ext cx="10874959" cy="457200"/>
          </a:xfrm>
          <a:prstGeom prst="rect">
            <a:avLst/>
          </a:prstGeom>
          <a:noFill/>
        </p:spPr>
        <p:txBody>
          <a:bodyPr wrap="square" lIns="0" rIns="0" tIns="0" bIns="0">
            <a:spAutoFit/>
          </a:bodyPr>
          <a:lstStyle/>
          <a:p>
            <a:pPr algn="l">
              <a:lnSpc>
                <a:spcPct val="112000"/>
              </a:lnSpc>
              <a:spcBef>
                <a:spcPts val="0"/>
              </a:spcBef>
              <a:spcAft>
                <a:spcPts val="0"/>
              </a:spcAft>
            </a:pPr>
            <a:r>
              <a:rPr sz="1050" b="0" i="0">
                <a:solidFill>
                  <a:srgbClr val="555555"/>
                </a:solidFill>
                <a:latin typeface="Calibri"/>
              </a:rPr>
              <a:t>18 runs per cell, 72 in total. Criterion 1 is enforced by a SHA-256 hash of the test pairs written into every run report — one distinct hash per cell, checked by the gate rather than assumed.</a:t>
            </a:r>
          </a:p>
        </p:txBody>
      </p:sp>
      <p:sp>
        <p:nvSpPr>
          <p:cNvPr id="9" name="TextBox 8"/>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0" name="TextBox 9"/>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2 · THE CORE FINDING</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RQ2 · Removing gifts beats removing the same number of random rows</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21_condition_contrasts.png"/>
          <p:cNvPicPr>
            <a:picLocks noChangeAspect="1"/>
          </p:cNvPicPr>
          <p:nvPr/>
        </p:nvPicPr>
        <p:blipFill>
          <a:blip r:embed="rId2"/>
          <a:stretch>
            <a:fillRect/>
          </a:stretch>
        </p:blipFill>
        <p:spPr>
          <a:xfrm>
            <a:off x="658368" y="2475159"/>
            <a:ext cx="5897880" cy="2547762"/>
          </a:xfrm>
          <a:prstGeom prst="rect">
            <a:avLst/>
          </a:prstGeom>
        </p:spPr>
      </p:pic>
      <p:sp>
        <p:nvSpPr>
          <p:cNvPr id="6" name="TextBox 5"/>
          <p:cNvSpPr txBox="1"/>
          <p:nvPr/>
        </p:nvSpPr>
        <p:spPr>
          <a:xfrm>
            <a:off x="658368" y="5742432"/>
            <a:ext cx="589788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F21 · per-cell contrasts with 95 % paired-bootstrap intervals</a:t>
            </a:r>
          </a:p>
        </p:txBody>
      </p:sp>
      <p:sp>
        <p:nvSpPr>
          <p:cNvPr id="7" name="TextBox 6"/>
          <p:cNvSpPr txBox="1"/>
          <p:nvPr/>
        </p:nvSpPr>
        <p:spPr>
          <a:xfrm>
            <a:off x="6830568" y="1783080"/>
            <a:ext cx="47027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C1 − C4, RECALL@10 (PRIMARY)</a:t>
            </a:r>
          </a:p>
        </p:txBody>
      </p:sp>
      <p:graphicFrame>
        <p:nvGraphicFramePr>
          <p:cNvPr id="8" name="Table 7"/>
          <p:cNvGraphicFramePr>
            <a:graphicFrameLocks noGrp="1"/>
          </p:cNvGraphicFramePr>
          <p:nvPr/>
        </p:nvGraphicFramePr>
        <p:xfrm>
          <a:off x="6830568" y="2084831"/>
          <a:ext cx="4702757" cy="1828800"/>
        </p:xfrm>
        <a:graphic>
          <a:graphicData uri="http://schemas.openxmlformats.org/drawingml/2006/table">
            <a:tbl>
              <a:tblPr>
                <a:tableStyleId>{2D5ABB26-0587-4C30-8999-92F81FD0307C}</a:tableStyleId>
              </a:tblPr>
              <a:tblGrid>
                <a:gridCol w="1166284"/>
                <a:gridCol w="790063"/>
                <a:gridCol w="1166284"/>
                <a:gridCol w="639575"/>
                <a:gridCol w="940551"/>
              </a:tblGrid>
              <a:tr h="365760">
                <a:tc>
                  <a:txBody>
                    <a:bodyPr/>
                    <a:lstStyle/>
                    <a:p>
                      <a:pPr algn="l">
                        <a:spcBef>
                          <a:spcPts val="0"/>
                        </a:spcBef>
                        <a:spcAft>
                          <a:spcPts val="0"/>
                        </a:spcAft>
                      </a:pPr>
                      <a:r>
                        <a:rPr sz="900" b="1" i="0">
                          <a:solidFill>
                            <a:srgbClr val="1F5C8B"/>
                          </a:solidFill>
                          <a:latin typeface="Calibri"/>
                        </a:rPr>
                        <a:t>Cell</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Δ</a:t>
                      </a:r>
                    </a:p>
                  </a:txBody>
                  <a:tcPr marL="73152" marR="73152" marT="18288" marB="18288" anchor="ctr">
                    <a:solidFill>
                      <a:srgbClr val="E8EFF6"/>
                    </a:solidFill>
                  </a:tcPr>
                </a:tc>
                <a:tc>
                  <a:txBody>
                    <a:bodyPr/>
                    <a:lstStyle/>
                    <a:p>
                      <a:pPr algn="ctr">
                        <a:spcBef>
                          <a:spcPts val="0"/>
                        </a:spcBef>
                        <a:spcAft>
                          <a:spcPts val="0"/>
                        </a:spcAft>
                      </a:pPr>
                      <a:r>
                        <a:rPr sz="900" b="1" i="0">
                          <a:solidFill>
                            <a:srgbClr val="1F5C8B"/>
                          </a:solidFill>
                          <a:latin typeface="Calibri"/>
                        </a:rPr>
                        <a:t>95 % CI</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Rel.</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Rule</a:t>
                      </a:r>
                    </a:p>
                  </a:txBody>
                  <a:tcPr marL="73152" marR="73152" marT="18288" marB="18288" anchor="ctr">
                    <a:solidFill>
                      <a:srgbClr val="E8EFF6"/>
                    </a:solidFill>
                  </a:tcPr>
                </a:tc>
              </a:tr>
              <a:tr h="365760">
                <a:tc>
                  <a:txBody>
                    <a:bodyPr/>
                    <a:lstStyle/>
                    <a:p>
                      <a:pPr algn="l">
                        <a:spcBef>
                          <a:spcPts val="0"/>
                        </a:spcBef>
                        <a:spcAft>
                          <a:spcPts val="0"/>
                        </a:spcAft>
                      </a:pPr>
                      <a:r>
                        <a:rPr sz="950" b="0" i="0">
                          <a:solidFill>
                            <a:srgbClr val="1C1C1C"/>
                          </a:solidFill>
                          <a:latin typeface="Calibri"/>
                        </a:rPr>
                        <a:t>Toys · SASRec</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+0.005449</a:t>
                      </a:r>
                    </a:p>
                  </a:txBody>
                  <a:tcPr marL="73152" marR="73152" marT="18288" marB="18288" anchor="ctr">
                    <a:solidFill>
                      <a:srgbClr val="FFFFFF"/>
                    </a:solidFill>
                  </a:tcPr>
                </a:tc>
                <a:tc>
                  <a:txBody>
                    <a:bodyPr/>
                    <a:lstStyle/>
                    <a:p>
                      <a:pPr algn="ctr">
                        <a:spcBef>
                          <a:spcPts val="0"/>
                        </a:spcBef>
                        <a:spcAft>
                          <a:spcPts val="0"/>
                        </a:spcAft>
                      </a:pPr>
                      <a:r>
                        <a:rPr sz="950" b="0" i="0">
                          <a:solidFill>
                            <a:srgbClr val="1C1C1C"/>
                          </a:solidFill>
                          <a:latin typeface="Calibri"/>
                        </a:rPr>
                        <a:t>[0.0048, 0.0061]</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+15.7%</a:t>
                      </a:r>
                    </a:p>
                  </a:txBody>
                  <a:tcPr marL="73152" marR="73152" marT="18288" marB="18288" anchor="ctr">
                    <a:solidFill>
                      <a:srgbClr val="FFFFFF"/>
                    </a:solidFill>
                  </a:tcPr>
                </a:tc>
                <a:tc>
                  <a:txBody>
                    <a:bodyPr/>
                    <a:lstStyle/>
                    <a:p>
                      <a:pPr algn="l">
                        <a:spcBef>
                          <a:spcPts val="0"/>
                        </a:spcBef>
                        <a:spcAft>
                          <a:spcPts val="0"/>
                        </a:spcAft>
                      </a:pPr>
                      <a:r>
                        <a:rPr sz="950" b="0" i="0">
                          <a:solidFill>
                            <a:srgbClr val="1C1C1C"/>
                          </a:solidFill>
                          <a:latin typeface="Calibri"/>
                        </a:rPr>
                        <a:t>lower bound</a:t>
                      </a:r>
                    </a:p>
                  </a:txBody>
                  <a:tcPr marL="73152" marR="73152" marT="18288" marB="18288" anchor="ctr">
                    <a:solidFill>
                      <a:srgbClr val="FFFFFF"/>
                    </a:solidFill>
                  </a:tcPr>
                </a:tc>
              </a:tr>
              <a:tr h="365760">
                <a:tc>
                  <a:txBody>
                    <a:bodyPr/>
                    <a:lstStyle/>
                    <a:p>
                      <a:pPr algn="l">
                        <a:spcBef>
                          <a:spcPts val="0"/>
                        </a:spcBef>
                        <a:spcAft>
                          <a:spcPts val="0"/>
                        </a:spcAft>
                      </a:pPr>
                      <a:r>
                        <a:rPr sz="950" b="0" i="0">
                          <a:solidFill>
                            <a:srgbClr val="1C1C1C"/>
                          </a:solidFill>
                          <a:latin typeface="Calibri"/>
                        </a:rPr>
                        <a:t>Toys · BPR</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+0.004822</a:t>
                      </a:r>
                    </a:p>
                  </a:txBody>
                  <a:tcPr marL="73152" marR="73152" marT="18288" marB="18288" anchor="ctr">
                    <a:solidFill>
                      <a:srgbClr val="FAFAFA"/>
                    </a:solidFill>
                  </a:tcPr>
                </a:tc>
                <a:tc>
                  <a:txBody>
                    <a:bodyPr/>
                    <a:lstStyle/>
                    <a:p>
                      <a:pPr algn="ctr">
                        <a:spcBef>
                          <a:spcPts val="0"/>
                        </a:spcBef>
                        <a:spcAft>
                          <a:spcPts val="0"/>
                        </a:spcAft>
                      </a:pPr>
                      <a:r>
                        <a:rPr sz="950" b="0" i="0">
                          <a:solidFill>
                            <a:srgbClr val="1C1C1C"/>
                          </a:solidFill>
                          <a:latin typeface="Calibri"/>
                        </a:rPr>
                        <a:t>[0.0044, 0.0053]</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+40.0%</a:t>
                      </a:r>
                    </a:p>
                  </a:txBody>
                  <a:tcPr marL="73152" marR="73152" marT="18288" marB="18288" anchor="ctr">
                    <a:solidFill>
                      <a:srgbClr val="FAFAFA"/>
                    </a:solidFill>
                  </a:tcPr>
                </a:tc>
                <a:tc>
                  <a:txBody>
                    <a:bodyPr/>
                    <a:lstStyle/>
                    <a:p>
                      <a:pPr algn="l">
                        <a:spcBef>
                          <a:spcPts val="0"/>
                        </a:spcBef>
                        <a:spcAft>
                          <a:spcPts val="0"/>
                        </a:spcAft>
                      </a:pPr>
                      <a:r>
                        <a:rPr sz="950" b="0" i="0">
                          <a:solidFill>
                            <a:srgbClr val="1C1C1C"/>
                          </a:solidFill>
                          <a:latin typeface="Calibri"/>
                        </a:rPr>
                        <a:t>lower bound</a:t>
                      </a:r>
                    </a:p>
                  </a:txBody>
                  <a:tcPr marL="73152" marR="73152" marT="18288" marB="18288" anchor="ctr">
                    <a:solidFill>
                      <a:srgbClr val="FAFAFA"/>
                    </a:solidFill>
                  </a:tcPr>
                </a:tc>
              </a:tr>
              <a:tr h="365760">
                <a:tc>
                  <a:txBody>
                    <a:bodyPr/>
                    <a:lstStyle/>
                    <a:p>
                      <a:pPr algn="l">
                        <a:spcBef>
                          <a:spcPts val="0"/>
                        </a:spcBef>
                        <a:spcAft>
                          <a:spcPts val="0"/>
                        </a:spcAft>
                      </a:pPr>
                      <a:r>
                        <a:rPr sz="950" b="0" i="0">
                          <a:solidFill>
                            <a:srgbClr val="1C1C1C"/>
                          </a:solidFill>
                          <a:latin typeface="Calibri"/>
                        </a:rPr>
                        <a:t>Grocery · SASRec</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+0.000360</a:t>
                      </a:r>
                    </a:p>
                  </a:txBody>
                  <a:tcPr marL="73152" marR="73152" marT="18288" marB="18288" anchor="ctr">
                    <a:solidFill>
                      <a:srgbClr val="FFFFFF"/>
                    </a:solidFill>
                  </a:tcPr>
                </a:tc>
                <a:tc>
                  <a:txBody>
                    <a:bodyPr/>
                    <a:lstStyle/>
                    <a:p>
                      <a:pPr algn="ctr">
                        <a:spcBef>
                          <a:spcPts val="0"/>
                        </a:spcBef>
                        <a:spcAft>
                          <a:spcPts val="0"/>
                        </a:spcAft>
                      </a:pPr>
                      <a:r>
                        <a:rPr sz="950" b="0" i="0">
                          <a:solidFill>
                            <a:srgbClr val="1C1C1C"/>
                          </a:solidFill>
                          <a:latin typeface="Calibri"/>
                        </a:rPr>
                        <a:t>[0.0000, 0.0007]</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+1.2%</a:t>
                      </a:r>
                    </a:p>
                  </a:txBody>
                  <a:tcPr marL="73152" marR="73152" marT="18288" marB="18288" anchor="ctr">
                    <a:solidFill>
                      <a:srgbClr val="FFFFFF"/>
                    </a:solidFill>
                  </a:tcPr>
                </a:tc>
                <a:tc>
                  <a:txBody>
                    <a:bodyPr/>
                    <a:lstStyle/>
                    <a:p>
                      <a:pPr algn="l">
                        <a:spcBef>
                          <a:spcPts val="0"/>
                        </a:spcBef>
                        <a:spcAft>
                          <a:spcPts val="0"/>
                        </a:spcAft>
                      </a:pPr>
                      <a:r>
                        <a:rPr sz="950" b="0" i="0">
                          <a:solidFill>
                            <a:srgbClr val="1C1C1C"/>
                          </a:solidFill>
                          <a:latin typeface="Calibri"/>
                        </a:rPr>
                        <a:t>lower bound</a:t>
                      </a:r>
                    </a:p>
                  </a:txBody>
                  <a:tcPr marL="73152" marR="73152" marT="18288" marB="18288" anchor="ctr">
                    <a:solidFill>
                      <a:srgbClr val="FFFFFF"/>
                    </a:solidFill>
                  </a:tcPr>
                </a:tc>
              </a:tr>
              <a:tr h="365760">
                <a:tc>
                  <a:txBody>
                    <a:bodyPr/>
                    <a:lstStyle/>
                    <a:p>
                      <a:pPr algn="l">
                        <a:spcBef>
                          <a:spcPts val="0"/>
                        </a:spcBef>
                        <a:spcAft>
                          <a:spcPts val="0"/>
                        </a:spcAft>
                      </a:pPr>
                      <a:r>
                        <a:rPr sz="950" b="0" i="0">
                          <a:solidFill>
                            <a:srgbClr val="1C1C1C"/>
                          </a:solidFill>
                          <a:latin typeface="Calibri"/>
                        </a:rPr>
                        <a:t>Grocery · BPR</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+0.000201</a:t>
                      </a:r>
                    </a:p>
                  </a:txBody>
                  <a:tcPr marL="73152" marR="73152" marT="18288" marB="18288" anchor="ctr">
                    <a:solidFill>
                      <a:srgbClr val="FAFAFA"/>
                    </a:solidFill>
                  </a:tcPr>
                </a:tc>
                <a:tc>
                  <a:txBody>
                    <a:bodyPr/>
                    <a:lstStyle/>
                    <a:p>
                      <a:pPr algn="ctr">
                        <a:spcBef>
                          <a:spcPts val="0"/>
                        </a:spcBef>
                        <a:spcAft>
                          <a:spcPts val="0"/>
                        </a:spcAft>
                      </a:pPr>
                      <a:r>
                        <a:rPr sz="950" b="0" i="0">
                          <a:solidFill>
                            <a:srgbClr val="1C1C1C"/>
                          </a:solidFill>
                          <a:latin typeface="Calibri"/>
                        </a:rPr>
                        <a:t>[-0.0001, 0.0005]</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+1.4%</a:t>
                      </a:r>
                    </a:p>
                  </a:txBody>
                  <a:tcPr marL="73152" marR="73152" marT="18288" marB="18288" anchor="ctr">
                    <a:solidFill>
                      <a:srgbClr val="FAFAFA"/>
                    </a:solidFill>
                  </a:tcPr>
                </a:tc>
                <a:tc>
                  <a:txBody>
                    <a:bodyPr/>
                    <a:lstStyle/>
                    <a:p>
                      <a:pPr algn="l">
                        <a:spcBef>
                          <a:spcPts val="0"/>
                        </a:spcBef>
                        <a:spcAft>
                          <a:spcPts val="0"/>
                        </a:spcAft>
                      </a:pPr>
                      <a:r>
                        <a:rPr sz="950" b="0" i="0">
                          <a:solidFill>
                            <a:srgbClr val="1C1C1C"/>
                          </a:solidFill>
                          <a:latin typeface="Calibri"/>
                        </a:rPr>
                        <a:t>not detectable</a:t>
                      </a:r>
                    </a:p>
                  </a:txBody>
                  <a:tcPr marL="73152" marR="73152" marT="18288" marB="18288" anchor="ctr">
                    <a:solidFill>
                      <a:srgbClr val="FAFAFA"/>
                    </a:solidFill>
                  </a:tcPr>
                </a:tc>
              </a:tr>
            </a:tbl>
          </a:graphicData>
        </a:graphic>
      </p:graphicFrame>
      <p:sp>
        <p:nvSpPr>
          <p:cNvPr id="9" name="TextBox 8"/>
          <p:cNvSpPr txBox="1"/>
          <p:nvPr/>
        </p:nvSpPr>
        <p:spPr>
          <a:xfrm>
            <a:off x="6830568" y="4023360"/>
            <a:ext cx="47027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DOSE–RESPONSE: TOYS − GROCERY</a:t>
            </a:r>
          </a:p>
        </p:txBody>
      </p:sp>
      <p:graphicFrame>
        <p:nvGraphicFramePr>
          <p:cNvPr id="10" name="Table 9"/>
          <p:cNvGraphicFramePr>
            <a:graphicFrameLocks noGrp="1"/>
          </p:cNvGraphicFramePr>
          <p:nvPr/>
        </p:nvGraphicFramePr>
        <p:xfrm>
          <a:off x="6830568" y="4315968"/>
          <a:ext cx="4702757" cy="1463040"/>
        </p:xfrm>
        <a:graphic>
          <a:graphicData uri="http://schemas.openxmlformats.org/drawingml/2006/table">
            <a:tbl>
              <a:tblPr>
                <a:tableStyleId>{2D5ABB26-0587-4C30-8999-92F81FD0307C}</a:tableStyleId>
              </a:tblPr>
              <a:tblGrid>
                <a:gridCol w="985340"/>
                <a:gridCol w="1164492"/>
                <a:gridCol w="1119704"/>
                <a:gridCol w="1433221"/>
              </a:tblGrid>
              <a:tr h="292608">
                <a:tc>
                  <a:txBody>
                    <a:bodyPr/>
                    <a:lstStyle/>
                    <a:p>
                      <a:pPr algn="l">
                        <a:spcBef>
                          <a:spcPts val="0"/>
                        </a:spcBef>
                        <a:spcAft>
                          <a:spcPts val="0"/>
                        </a:spcAft>
                      </a:pPr>
                      <a:r>
                        <a:rPr sz="900" b="1" i="0">
                          <a:solidFill>
                            <a:srgbClr val="1F5C8B"/>
                          </a:solidFill>
                          <a:latin typeface="Calibri"/>
                        </a:rPr>
                        <a:t>Model</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Axis</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Δ</a:t>
                      </a:r>
                    </a:p>
                  </a:txBody>
                  <a:tcPr marL="73152" marR="73152" marT="18288" marB="18288" anchor="ctr">
                    <a:solidFill>
                      <a:srgbClr val="E8EFF6"/>
                    </a:solidFill>
                  </a:tcPr>
                </a:tc>
                <a:tc>
                  <a:txBody>
                    <a:bodyPr/>
                    <a:lstStyle/>
                    <a:p>
                      <a:pPr algn="ctr">
                        <a:spcBef>
                          <a:spcPts val="0"/>
                        </a:spcBef>
                        <a:spcAft>
                          <a:spcPts val="0"/>
                        </a:spcAft>
                      </a:pPr>
                      <a:r>
                        <a:rPr sz="900" b="1" i="0">
                          <a:solidFill>
                            <a:srgbClr val="1F5C8B"/>
                          </a:solidFill>
                          <a:latin typeface="Calibri"/>
                        </a:rPr>
                        <a:t>95 % CI</a:t>
                      </a:r>
                    </a:p>
                  </a:txBody>
                  <a:tcPr marL="73152" marR="73152" marT="18288" marB="18288" anchor="ctr">
                    <a:solidFill>
                      <a:srgbClr val="E8EFF6"/>
                    </a:solidFill>
                  </a:tcPr>
                </a:tc>
              </a:tr>
              <a:tr h="292608">
                <a:tc>
                  <a:txBody>
                    <a:bodyPr/>
                    <a:lstStyle/>
                    <a:p>
                      <a:pPr algn="l">
                        <a:spcBef>
                          <a:spcPts val="0"/>
                        </a:spcBef>
                        <a:spcAft>
                          <a:spcPts val="0"/>
                        </a:spcAft>
                      </a:pPr>
                      <a:r>
                        <a:rPr sz="950" b="0" i="0">
                          <a:solidFill>
                            <a:srgbClr val="1C1C1C"/>
                          </a:solidFill>
                          <a:latin typeface="Calibri"/>
                        </a:rPr>
                        <a:t>SASRec</a:t>
                      </a:r>
                    </a:p>
                  </a:txBody>
                  <a:tcPr marL="73152" marR="73152" marT="18288" marB="18288" anchor="ctr">
                    <a:solidFill>
                      <a:srgbClr val="FFFFFF"/>
                    </a:solidFill>
                  </a:tcPr>
                </a:tc>
                <a:tc>
                  <a:txBody>
                    <a:bodyPr/>
                    <a:lstStyle/>
                    <a:p>
                      <a:pPr algn="l">
                        <a:spcBef>
                          <a:spcPts val="0"/>
                        </a:spcBef>
                        <a:spcAft>
                          <a:spcPts val="0"/>
                        </a:spcAft>
                      </a:pPr>
                      <a:r>
                        <a:rPr sz="950" b="0" i="0">
                          <a:solidFill>
                            <a:srgbClr val="1C1C1C"/>
                          </a:solidFill>
                          <a:latin typeface="Calibri"/>
                        </a:rPr>
                        <a:t>C1-C4</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+0.005089</a:t>
                      </a:r>
                    </a:p>
                  </a:txBody>
                  <a:tcPr marL="73152" marR="73152" marT="18288" marB="18288" anchor="ctr">
                    <a:solidFill>
                      <a:srgbClr val="FFFFFF"/>
                    </a:solidFill>
                  </a:tcPr>
                </a:tc>
                <a:tc>
                  <a:txBody>
                    <a:bodyPr/>
                    <a:lstStyle/>
                    <a:p>
                      <a:pPr algn="ctr">
                        <a:spcBef>
                          <a:spcPts val="0"/>
                        </a:spcBef>
                        <a:spcAft>
                          <a:spcPts val="0"/>
                        </a:spcAft>
                      </a:pPr>
                      <a:r>
                        <a:rPr sz="950" b="0" i="0">
                          <a:solidFill>
                            <a:srgbClr val="1C1C1C"/>
                          </a:solidFill>
                          <a:latin typeface="Calibri"/>
                        </a:rPr>
                        <a:t>[0.0044, 0.0058]</a:t>
                      </a:r>
                    </a:p>
                  </a:txBody>
                  <a:tcPr marL="73152" marR="73152" marT="18288" marB="18288" anchor="ctr">
                    <a:solidFill>
                      <a:srgbClr val="FFFFFF"/>
                    </a:solidFill>
                  </a:tcPr>
                </a:tc>
              </a:tr>
              <a:tr h="292608">
                <a:tc>
                  <a:txBody>
                    <a:bodyPr/>
                    <a:lstStyle/>
                    <a:p>
                      <a:pPr algn="l">
                        <a:spcBef>
                          <a:spcPts val="0"/>
                        </a:spcBef>
                        <a:spcAft>
                          <a:spcPts val="0"/>
                        </a:spcAft>
                      </a:pPr>
                      <a:r>
                        <a:rPr sz="950" b="0" i="0">
                          <a:solidFill>
                            <a:srgbClr val="1C1C1C"/>
                          </a:solidFill>
                          <a:latin typeface="Calibri"/>
                        </a:rPr>
                        <a:t>SASRec</a:t>
                      </a:r>
                    </a:p>
                  </a:txBody>
                  <a:tcPr marL="73152" marR="73152" marT="18288" marB="18288" anchor="ctr">
                    <a:solidFill>
                      <a:srgbClr val="FAFAFA"/>
                    </a:solidFill>
                  </a:tcPr>
                </a:tc>
                <a:tc>
                  <a:txBody>
                    <a:bodyPr/>
                    <a:lstStyle/>
                    <a:p>
                      <a:pPr algn="l">
                        <a:spcBef>
                          <a:spcPts val="0"/>
                        </a:spcBef>
                        <a:spcAft>
                          <a:spcPts val="0"/>
                        </a:spcAft>
                      </a:pPr>
                      <a:r>
                        <a:rPr sz="950" b="0" i="0">
                          <a:solidFill>
                            <a:srgbClr val="1C1C1C"/>
                          </a:solidFill>
                          <a:latin typeface="Calibri"/>
                        </a:rPr>
                        <a:t>C1b-C4b</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+0.011330</a:t>
                      </a:r>
                    </a:p>
                  </a:txBody>
                  <a:tcPr marL="73152" marR="73152" marT="18288" marB="18288" anchor="ctr">
                    <a:solidFill>
                      <a:srgbClr val="FAFAFA"/>
                    </a:solidFill>
                  </a:tcPr>
                </a:tc>
                <a:tc>
                  <a:txBody>
                    <a:bodyPr/>
                    <a:lstStyle/>
                    <a:p>
                      <a:pPr algn="ctr">
                        <a:spcBef>
                          <a:spcPts val="0"/>
                        </a:spcBef>
                        <a:spcAft>
                          <a:spcPts val="0"/>
                        </a:spcAft>
                      </a:pPr>
                      <a:r>
                        <a:rPr sz="950" b="0" i="0">
                          <a:solidFill>
                            <a:srgbClr val="1C1C1C"/>
                          </a:solidFill>
                          <a:latin typeface="Calibri"/>
                        </a:rPr>
                        <a:t>[0.0106, 0.0121]</a:t>
                      </a:r>
                    </a:p>
                  </a:txBody>
                  <a:tcPr marL="73152" marR="73152" marT="18288" marB="18288" anchor="ctr">
                    <a:solidFill>
                      <a:srgbClr val="FAFAFA"/>
                    </a:solidFill>
                  </a:tcPr>
                </a:tc>
              </a:tr>
              <a:tr h="292608">
                <a:tc>
                  <a:txBody>
                    <a:bodyPr/>
                    <a:lstStyle/>
                    <a:p>
                      <a:pPr algn="l">
                        <a:spcBef>
                          <a:spcPts val="0"/>
                        </a:spcBef>
                        <a:spcAft>
                          <a:spcPts val="0"/>
                        </a:spcAft>
                      </a:pPr>
                      <a:r>
                        <a:rPr sz="950" b="0" i="0">
                          <a:solidFill>
                            <a:srgbClr val="1C1C1C"/>
                          </a:solidFill>
                          <a:latin typeface="Calibri"/>
                        </a:rPr>
                        <a:t>BPR</a:t>
                      </a:r>
                    </a:p>
                  </a:txBody>
                  <a:tcPr marL="73152" marR="73152" marT="18288" marB="18288" anchor="ctr">
                    <a:solidFill>
                      <a:srgbClr val="FFFFFF"/>
                    </a:solidFill>
                  </a:tcPr>
                </a:tc>
                <a:tc>
                  <a:txBody>
                    <a:bodyPr/>
                    <a:lstStyle/>
                    <a:p>
                      <a:pPr algn="l">
                        <a:spcBef>
                          <a:spcPts val="0"/>
                        </a:spcBef>
                        <a:spcAft>
                          <a:spcPts val="0"/>
                        </a:spcAft>
                      </a:pPr>
                      <a:r>
                        <a:rPr sz="950" b="0" i="0">
                          <a:solidFill>
                            <a:srgbClr val="1C1C1C"/>
                          </a:solidFill>
                          <a:latin typeface="Calibri"/>
                        </a:rPr>
                        <a:t>C1-C4</a:t>
                      </a:r>
                    </a:p>
                  </a:txBody>
                  <a:tcPr marL="73152" marR="73152" marT="18288" marB="18288" anchor="ctr">
                    <a:solidFill>
                      <a:srgbClr val="FFFFFF"/>
                    </a:solidFill>
                  </a:tcPr>
                </a:tc>
                <a:tc>
                  <a:txBody>
                    <a:bodyPr/>
                    <a:lstStyle/>
                    <a:p>
                      <a:pPr algn="r">
                        <a:spcBef>
                          <a:spcPts val="0"/>
                        </a:spcBef>
                        <a:spcAft>
                          <a:spcPts val="0"/>
                        </a:spcAft>
                      </a:pPr>
                      <a:r>
                        <a:rPr sz="950" b="0" i="0">
                          <a:solidFill>
                            <a:srgbClr val="1C1C1C"/>
                          </a:solidFill>
                          <a:latin typeface="Calibri"/>
                        </a:rPr>
                        <a:t>+0.004621</a:t>
                      </a:r>
                    </a:p>
                  </a:txBody>
                  <a:tcPr marL="73152" marR="73152" marT="18288" marB="18288" anchor="ctr">
                    <a:solidFill>
                      <a:srgbClr val="FFFFFF"/>
                    </a:solidFill>
                  </a:tcPr>
                </a:tc>
                <a:tc>
                  <a:txBody>
                    <a:bodyPr/>
                    <a:lstStyle/>
                    <a:p>
                      <a:pPr algn="ctr">
                        <a:spcBef>
                          <a:spcPts val="0"/>
                        </a:spcBef>
                        <a:spcAft>
                          <a:spcPts val="0"/>
                        </a:spcAft>
                      </a:pPr>
                      <a:r>
                        <a:rPr sz="950" b="0" i="0">
                          <a:solidFill>
                            <a:srgbClr val="1C1C1C"/>
                          </a:solidFill>
                          <a:latin typeface="Calibri"/>
                        </a:rPr>
                        <a:t>[0.0041, 0.0052]</a:t>
                      </a:r>
                    </a:p>
                  </a:txBody>
                  <a:tcPr marL="73152" marR="73152" marT="18288" marB="18288" anchor="ctr">
                    <a:solidFill>
                      <a:srgbClr val="FFFFFF"/>
                    </a:solidFill>
                  </a:tcPr>
                </a:tc>
              </a:tr>
              <a:tr h="292608">
                <a:tc>
                  <a:txBody>
                    <a:bodyPr/>
                    <a:lstStyle/>
                    <a:p>
                      <a:pPr algn="l">
                        <a:spcBef>
                          <a:spcPts val="0"/>
                        </a:spcBef>
                        <a:spcAft>
                          <a:spcPts val="0"/>
                        </a:spcAft>
                      </a:pPr>
                      <a:r>
                        <a:rPr sz="950" b="0" i="0">
                          <a:solidFill>
                            <a:srgbClr val="1C1C1C"/>
                          </a:solidFill>
                          <a:latin typeface="Calibri"/>
                        </a:rPr>
                        <a:t>BPR</a:t>
                      </a:r>
                    </a:p>
                  </a:txBody>
                  <a:tcPr marL="73152" marR="73152" marT="18288" marB="18288" anchor="ctr">
                    <a:solidFill>
                      <a:srgbClr val="FAFAFA"/>
                    </a:solidFill>
                  </a:tcPr>
                </a:tc>
                <a:tc>
                  <a:txBody>
                    <a:bodyPr/>
                    <a:lstStyle/>
                    <a:p>
                      <a:pPr algn="l">
                        <a:spcBef>
                          <a:spcPts val="0"/>
                        </a:spcBef>
                        <a:spcAft>
                          <a:spcPts val="0"/>
                        </a:spcAft>
                      </a:pPr>
                      <a:r>
                        <a:rPr sz="950" b="0" i="0">
                          <a:solidFill>
                            <a:srgbClr val="1C1C1C"/>
                          </a:solidFill>
                          <a:latin typeface="Calibri"/>
                        </a:rPr>
                        <a:t>C1b-C4b</a:t>
                      </a:r>
                    </a:p>
                  </a:txBody>
                  <a:tcPr marL="73152" marR="73152" marT="18288" marB="18288" anchor="ctr">
                    <a:solidFill>
                      <a:srgbClr val="FAFAFA"/>
                    </a:solidFill>
                  </a:tcPr>
                </a:tc>
                <a:tc>
                  <a:txBody>
                    <a:bodyPr/>
                    <a:lstStyle/>
                    <a:p>
                      <a:pPr algn="r">
                        <a:spcBef>
                          <a:spcPts val="0"/>
                        </a:spcBef>
                        <a:spcAft>
                          <a:spcPts val="0"/>
                        </a:spcAft>
                      </a:pPr>
                      <a:r>
                        <a:rPr sz="950" b="0" i="0">
                          <a:solidFill>
                            <a:srgbClr val="1C1C1C"/>
                          </a:solidFill>
                          <a:latin typeface="Calibri"/>
                        </a:rPr>
                        <a:t>+0.009001</a:t>
                      </a:r>
                    </a:p>
                  </a:txBody>
                  <a:tcPr marL="73152" marR="73152" marT="18288" marB="18288" anchor="ctr">
                    <a:solidFill>
                      <a:srgbClr val="FAFAFA"/>
                    </a:solidFill>
                  </a:tcPr>
                </a:tc>
                <a:tc>
                  <a:txBody>
                    <a:bodyPr/>
                    <a:lstStyle/>
                    <a:p>
                      <a:pPr algn="ctr">
                        <a:spcBef>
                          <a:spcPts val="0"/>
                        </a:spcBef>
                        <a:spcAft>
                          <a:spcPts val="0"/>
                        </a:spcAft>
                      </a:pPr>
                      <a:r>
                        <a:rPr sz="950" b="0" i="0">
                          <a:solidFill>
                            <a:srgbClr val="1C1C1C"/>
                          </a:solidFill>
                          <a:latin typeface="Calibri"/>
                        </a:rPr>
                        <a:t>[0.0084, 0.0096]</a:t>
                      </a:r>
                    </a:p>
                  </a:txBody>
                  <a:tcPr marL="73152" marR="73152" marT="18288" marB="18288" anchor="ctr">
                    <a:solidFill>
                      <a:srgbClr val="FAFAFA"/>
                    </a:solidFill>
                  </a:tcPr>
                </a:tc>
              </a:tr>
            </a:tbl>
          </a:graphicData>
        </a:graphic>
      </p:graphicFrame>
      <p:sp>
        <p:nvSpPr>
          <p:cNvPr id="11" name="TextBox 10"/>
          <p:cNvSpPr txBox="1"/>
          <p:nvPr/>
        </p:nvSpPr>
        <p:spPr>
          <a:xfrm>
            <a:off x="6830568" y="5870448"/>
            <a:ext cx="4702759" cy="457200"/>
          </a:xfrm>
          <a:prstGeom prst="rect">
            <a:avLst/>
          </a:prstGeom>
          <a:noFill/>
        </p:spPr>
        <p:txBody>
          <a:bodyPr wrap="square" lIns="0" rIns="0" tIns="0" bIns="0">
            <a:spAutoFit/>
          </a:bodyPr>
          <a:lstStyle/>
          <a:p>
            <a:pPr algn="l">
              <a:lnSpc>
                <a:spcPct val="110000"/>
              </a:lnSpc>
              <a:spcBef>
                <a:spcPts val="0"/>
              </a:spcBef>
              <a:spcAft>
                <a:spcPts val="0"/>
              </a:spcAft>
            </a:pPr>
            <a:r>
              <a:rPr sz="950" b="0" i="0">
                <a:solidFill>
                  <a:srgbClr val="555555"/>
                </a:solidFill>
                <a:latin typeface="Calibri"/>
              </a:rPr>
              <a:t>All four dose–response intervals exclude zero: the effect is larger where gifts are more common. That is the pattern a real mechanism produces.</a:t>
            </a:r>
          </a:p>
        </p:txBody>
      </p:sp>
      <p:sp>
        <p:nvSpPr>
          <p:cNvPr id="12" name="TextBox 11"/>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3" name="TextBox 12"/>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2B · THE HONEST CAVEAT</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But "better than the placebo" is not "better than doing nothing"</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TextBox 4"/>
          <p:cNvSpPr txBox="1"/>
          <p:nvPr/>
        </p:nvSpPr>
        <p:spPr>
          <a:xfrm>
            <a:off x="658368" y="1664208"/>
            <a:ext cx="10874959" cy="292608"/>
          </a:xfrm>
          <a:prstGeom prst="rect">
            <a:avLst/>
          </a:prstGeom>
          <a:noFill/>
        </p:spPr>
        <p:txBody>
          <a:bodyPr wrap="square" lIns="0" rIns="0" tIns="0" bIns="0">
            <a:spAutoFit/>
          </a:bodyPr>
          <a:lstStyle/>
          <a:p>
            <a:pPr algn="l">
              <a:spcBef>
                <a:spcPts val="0"/>
              </a:spcBef>
              <a:spcAft>
                <a:spcPts val="0"/>
              </a:spcAft>
            </a:pPr>
            <a:r>
              <a:rPr sz="1200" b="0" i="0">
                <a:solidFill>
                  <a:srgbClr val="555555"/>
                </a:solidFill>
                <a:latin typeface="Calibri"/>
              </a:rPr>
              <a:t>The placebo contrast isolates the mechanism. The C1 − C0 contrast is what a practitioner would actually feel.</a:t>
            </a:r>
          </a:p>
        </p:txBody>
      </p:sp>
      <p:graphicFrame>
        <p:nvGraphicFramePr>
          <p:cNvPr id="6" name="Table 5"/>
          <p:cNvGraphicFramePr>
            <a:graphicFrameLocks noGrp="1"/>
          </p:cNvGraphicFramePr>
          <p:nvPr/>
        </p:nvGraphicFramePr>
        <p:xfrm>
          <a:off x="658368" y="2029968"/>
          <a:ext cx="10874957" cy="2103120"/>
        </p:xfrm>
        <a:graphic>
          <a:graphicData uri="http://schemas.openxmlformats.org/drawingml/2006/table">
            <a:tbl>
              <a:tblPr>
                <a:tableStyleId>{2D5ABB26-0587-4C30-8999-92F81FD0307C}</a:tableStyleId>
              </a:tblPr>
              <a:tblGrid>
                <a:gridCol w="1929428"/>
                <a:gridCol w="1797876"/>
                <a:gridCol w="1183967"/>
                <a:gridCol w="1797876"/>
                <a:gridCol w="1183967"/>
                <a:gridCol w="1797876"/>
                <a:gridCol w="1183967"/>
              </a:tblGrid>
              <a:tr h="420624">
                <a:tc>
                  <a:txBody>
                    <a:bodyPr/>
                    <a:lstStyle/>
                    <a:p>
                      <a:pPr algn="l">
                        <a:spcBef>
                          <a:spcPts val="0"/>
                        </a:spcBef>
                        <a:spcAft>
                          <a:spcPts val="0"/>
                        </a:spcAft>
                      </a:pPr>
                      <a:r>
                        <a:rPr sz="900" b="1" i="0">
                          <a:solidFill>
                            <a:srgbClr val="1F5C8B"/>
                          </a:solidFill>
                          <a:latin typeface="Calibri"/>
                        </a:rPr>
                        <a:t>Cell</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C1 − C4  (vs placebo)</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Rule</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C1 − C0  (vs doing nothing)</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Rule</a:t>
                      </a:r>
                    </a:p>
                  </a:txBody>
                  <a:tcPr marL="73152" marR="73152" marT="18288" marB="18288" anchor="ctr">
                    <a:solidFill>
                      <a:srgbClr val="E8EFF6"/>
                    </a:solidFill>
                  </a:tcPr>
                </a:tc>
                <a:tc>
                  <a:txBody>
                    <a:bodyPr/>
                    <a:lstStyle/>
                    <a:p>
                      <a:pPr algn="r">
                        <a:spcBef>
                          <a:spcPts val="0"/>
                        </a:spcBef>
                        <a:spcAft>
                          <a:spcPts val="0"/>
                        </a:spcAft>
                      </a:pPr>
                      <a:r>
                        <a:rPr sz="900" b="1" i="0">
                          <a:solidFill>
                            <a:srgbClr val="1F5C8B"/>
                          </a:solidFill>
                          <a:latin typeface="Calibri"/>
                        </a:rPr>
                        <a:t>C1b − C4b  (broad axis)</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Rule</a:t>
                      </a:r>
                    </a:p>
                  </a:txBody>
                  <a:tcPr marL="73152" marR="73152" marT="18288" marB="18288" anchor="ctr">
                    <a:solidFill>
                      <a:srgbClr val="E8EFF6"/>
                    </a:solidFill>
                  </a:tcPr>
                </a:tc>
              </a:tr>
              <a:tr h="420624">
                <a:tc>
                  <a:txBody>
                    <a:bodyPr/>
                    <a:lstStyle/>
                    <a:p>
                      <a:pPr algn="l">
                        <a:spcBef>
                          <a:spcPts val="0"/>
                        </a:spcBef>
                        <a:spcAft>
                          <a:spcPts val="0"/>
                        </a:spcAft>
                      </a:pPr>
                      <a:r>
                        <a:rPr sz="1000" b="0" i="0">
                          <a:solidFill>
                            <a:srgbClr val="1C1C1C"/>
                          </a:solidFill>
                          <a:latin typeface="Calibri"/>
                        </a:rPr>
                        <a:t>Toys · SASRec</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+0.005449  +15.7%</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-0.003061  -7.1%</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negative</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+0.012253  +59.3%</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FFFFF"/>
                    </a:solidFill>
                  </a:tcPr>
                </a:tc>
              </a:tr>
              <a:tr h="420624">
                <a:tc>
                  <a:txBody>
                    <a:bodyPr/>
                    <a:lstStyle/>
                    <a:p>
                      <a:pPr algn="l">
                        <a:spcBef>
                          <a:spcPts val="0"/>
                        </a:spcBef>
                        <a:spcAft>
                          <a:spcPts val="0"/>
                        </a:spcAft>
                      </a:pPr>
                      <a:r>
                        <a:rPr sz="1000" b="0" i="0">
                          <a:solidFill>
                            <a:srgbClr val="1C1C1C"/>
                          </a:solidFill>
                          <a:latin typeface="Calibri"/>
                        </a:rPr>
                        <a:t>Toys · BPR</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+0.004822  +40.0%</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+0.000713  +4.4%</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positive</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+0.010473  +197.4%</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AFAFA"/>
                    </a:solidFill>
                  </a:tcPr>
                </a:tc>
              </a:tr>
              <a:tr h="420624">
                <a:tc>
                  <a:txBody>
                    <a:bodyPr/>
                    <a:lstStyle/>
                    <a:p>
                      <a:pPr algn="l">
                        <a:spcBef>
                          <a:spcPts val="0"/>
                        </a:spcBef>
                        <a:spcAft>
                          <a:spcPts val="0"/>
                        </a:spcAft>
                      </a:pPr>
                      <a:r>
                        <a:rPr sz="1000" b="0" i="0">
                          <a:solidFill>
                            <a:srgbClr val="1C1C1C"/>
                          </a:solidFill>
                          <a:latin typeface="Calibri"/>
                        </a:rPr>
                        <a:t>Grocery · SASRec</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+0.000360  +1.2%</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+0.000159  +0.5%</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CI includes zero</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+0.000923  +3.2%</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FFFFF"/>
                    </a:solidFill>
                  </a:tcPr>
                </a:tc>
              </a:tr>
              <a:tr h="420624">
                <a:tc>
                  <a:txBody>
                    <a:bodyPr/>
                    <a:lstStyle/>
                    <a:p>
                      <a:pPr algn="l">
                        <a:spcBef>
                          <a:spcPts val="0"/>
                        </a:spcBef>
                        <a:spcAft>
                          <a:spcPts val="0"/>
                        </a:spcAft>
                      </a:pPr>
                      <a:r>
                        <a:rPr sz="1000" b="0" i="0">
                          <a:solidFill>
                            <a:srgbClr val="1C1C1C"/>
                          </a:solidFill>
                          <a:latin typeface="Calibri"/>
                        </a:rPr>
                        <a:t>Grocery · BPR</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+0.000201  +1.4%</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not detectable</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-0.000034  -0.2%</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CI includes zero</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+0.001472  +11.2%</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lower bound</a:t>
                      </a:r>
                    </a:p>
                  </a:txBody>
                  <a:tcPr marL="73152" marR="73152" marT="18288" marB="18288" anchor="ctr">
                    <a:solidFill>
                      <a:srgbClr val="FAFAFA"/>
                    </a:solidFill>
                  </a:tcPr>
                </a:tc>
              </a:tr>
            </a:tbl>
          </a:graphicData>
        </a:graphic>
      </p:graphicFrame>
      <p:sp>
        <p:nvSpPr>
          <p:cNvPr id="7" name="Rounded Rectangle 6"/>
          <p:cNvSpPr/>
          <p:nvPr/>
        </p:nvSpPr>
        <p:spPr>
          <a:xfrm>
            <a:off x="658368" y="4160520"/>
            <a:ext cx="3442106" cy="1481328"/>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822959" y="4297680"/>
            <a:ext cx="3112922" cy="128016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1F5C8B"/>
                </a:solidFill>
                <a:latin typeface="Calibri"/>
              </a:rPr>
              <a:t>The mechanism is real</a:t>
            </a:r>
          </a:p>
          <a:p>
            <a:pPr algn="l">
              <a:lnSpc>
                <a:spcPct val="112000"/>
              </a:lnSpc>
              <a:spcBef>
                <a:spcPts val="0"/>
              </a:spcBef>
              <a:spcAft>
                <a:spcPts val="0"/>
              </a:spcAft>
            </a:pPr>
            <a:r>
              <a:rPr sz="1050" b="0" i="0">
                <a:solidFill>
                  <a:srgbClr val="1C1C1C"/>
                </a:solidFill>
                <a:latin typeface="Calibri"/>
              </a:rPr>
              <a:t>C1 − C4 excludes zero in three of four cells, and the dose–response holds. Gift rows carry less usable preference signal than random rows.</a:t>
            </a:r>
          </a:p>
        </p:txBody>
      </p:sp>
      <p:sp>
        <p:nvSpPr>
          <p:cNvPr id="9" name="Rounded Rectangle 8"/>
          <p:cNvSpPr/>
          <p:nvPr/>
        </p:nvSpPr>
        <p:spPr>
          <a:xfrm>
            <a:off x="4374794" y="4160520"/>
            <a:ext cx="3442106" cy="1481328"/>
          </a:xfrm>
          <a:prstGeom prst="roundRect">
            <a:avLst>
              <a:gd name="adj" fmla="val 5000"/>
            </a:avLst>
          </a:prstGeom>
          <a:solidFill>
            <a:srgbClr val="FBF2E3"/>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4539386" y="4297680"/>
            <a:ext cx="3112922" cy="128016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8A520A"/>
                </a:solidFill>
                <a:latin typeface="Calibri"/>
              </a:rPr>
              <a:t>The net gain is model-dependent</a:t>
            </a:r>
          </a:p>
          <a:p>
            <a:pPr algn="l">
              <a:lnSpc>
                <a:spcPct val="112000"/>
              </a:lnSpc>
              <a:spcBef>
                <a:spcPts val="0"/>
              </a:spcBef>
              <a:spcAft>
                <a:spcPts val="0"/>
              </a:spcAft>
            </a:pPr>
            <a:r>
              <a:rPr sz="1050" b="0" i="0">
                <a:solidFill>
                  <a:srgbClr val="1C1C1C"/>
                </a:solidFill>
                <a:latin typeface="Calibri"/>
              </a:rPr>
              <a:t>On Toys, deleting gifts outright helps BPR (+4.4%) but hurts SASRec (-7.1%) — the sequence model loses context with the rows.</a:t>
            </a:r>
          </a:p>
        </p:txBody>
      </p:sp>
      <p:sp>
        <p:nvSpPr>
          <p:cNvPr id="11" name="Rounded Rectangle 10"/>
          <p:cNvSpPr/>
          <p:nvPr/>
        </p:nvSpPr>
        <p:spPr>
          <a:xfrm>
            <a:off x="8091220" y="4160520"/>
            <a:ext cx="3442106" cy="1481328"/>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2" name="TextBox 11"/>
          <p:cNvSpPr txBox="1"/>
          <p:nvPr/>
        </p:nvSpPr>
        <p:spPr>
          <a:xfrm>
            <a:off x="8255812" y="4297680"/>
            <a:ext cx="3112922" cy="128016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1F5C8B"/>
                </a:solidFill>
                <a:latin typeface="Calibri"/>
              </a:rPr>
              <a:t>Widening the definition widens the gap</a:t>
            </a:r>
          </a:p>
          <a:p>
            <a:pPr algn="l">
              <a:lnSpc>
                <a:spcPct val="112000"/>
              </a:lnSpc>
              <a:spcBef>
                <a:spcPts val="0"/>
              </a:spcBef>
              <a:spcAft>
                <a:spcPts val="0"/>
              </a:spcAft>
            </a:pPr>
            <a:r>
              <a:rPr sz="1050" b="0" i="0">
                <a:solidFill>
                  <a:srgbClr val="1C1C1C"/>
                </a:solidFill>
                <a:latin typeface="Calibri"/>
              </a:rPr>
              <a:t>C1b − C4b is larger than C1 − C4 in all four cells, which is consistent with household and received purchases carrying the same kind of noise.</a:t>
            </a:r>
          </a:p>
        </p:txBody>
      </p:sp>
      <p:sp>
        <p:nvSpPr>
          <p:cNvPr id="13" name="TextBox 12"/>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4" name="TextBox 13"/>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3 · DELETE OR FLAG?</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RQ3 · Flagging with a shadow token was worse than both alternatives</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TextBox 4"/>
          <p:cNvSpPr txBox="1"/>
          <p:nvPr/>
        </p:nvSpPr>
        <p:spPr>
          <a:xfrm>
            <a:off x="658368" y="1664208"/>
            <a:ext cx="10874959" cy="292608"/>
          </a:xfrm>
          <a:prstGeom prst="rect">
            <a:avLst/>
          </a:prstGeom>
          <a:noFill/>
        </p:spPr>
        <p:txBody>
          <a:bodyPr wrap="square" lIns="0" rIns="0" tIns="0" bIns="0">
            <a:spAutoFit/>
          </a:bodyPr>
          <a:lstStyle/>
          <a:p>
            <a:pPr algn="l">
              <a:spcBef>
                <a:spcPts val="0"/>
              </a:spcBef>
              <a:spcAft>
                <a:spcPts val="0"/>
              </a:spcAft>
            </a:pPr>
            <a:r>
              <a:rPr sz="1200" b="0" i="0">
                <a:solidFill>
                  <a:srgbClr val="555555"/>
                </a:solidFill>
                <a:latin typeface="Calibri"/>
              </a:rPr>
              <a:t>C3 keeps every gift row but replaces the item with a per-subcategory shadow token, so the model can learn "something happened here" without learning the item.</a:t>
            </a:r>
          </a:p>
        </p:txBody>
      </p:sp>
      <p:graphicFrame>
        <p:nvGraphicFramePr>
          <p:cNvPr id="6" name="Table 5"/>
          <p:cNvGraphicFramePr>
            <a:graphicFrameLocks noGrp="1"/>
          </p:cNvGraphicFramePr>
          <p:nvPr/>
        </p:nvGraphicFramePr>
        <p:xfrm>
          <a:off x="658368" y="2057400"/>
          <a:ext cx="10874955" cy="2194560"/>
        </p:xfrm>
        <a:graphic>
          <a:graphicData uri="http://schemas.openxmlformats.org/drawingml/2006/table">
            <a:tbl>
              <a:tblPr>
                <a:tableStyleId>{2D5ABB26-0587-4C30-8999-92F81FD0307C}</a:tableStyleId>
              </a:tblPr>
              <a:tblGrid>
                <a:gridCol w="2174991"/>
                <a:gridCol w="2990613"/>
                <a:gridCol w="1359369"/>
                <a:gridCol w="2990613"/>
                <a:gridCol w="1359369"/>
              </a:tblGrid>
              <a:tr h="438912">
                <a:tc>
                  <a:txBody>
                    <a:bodyPr/>
                    <a:lstStyle/>
                    <a:p>
                      <a:pPr algn="l">
                        <a:spcBef>
                          <a:spcPts val="0"/>
                        </a:spcBef>
                        <a:spcAft>
                          <a:spcPts val="0"/>
                        </a:spcAft>
                      </a:pPr>
                      <a:r>
                        <a:rPr sz="950" b="1" i="0">
                          <a:solidFill>
                            <a:srgbClr val="1F5C8B"/>
                          </a:solidFill>
                          <a:latin typeface="Calibri"/>
                        </a:rPr>
                        <a:t>Cell</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C3 − C1  (flag vs delete)</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Rule</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C3 − C0  (flag vs nothing)</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Rule</a:t>
                      </a:r>
                    </a:p>
                  </a:txBody>
                  <a:tcPr marL="73152" marR="73152" marT="18288" marB="18288" anchor="ctr">
                    <a:solidFill>
                      <a:srgbClr val="E8EFF6"/>
                    </a:solidFill>
                  </a:tcPr>
                </a:tc>
              </a:tr>
              <a:tr h="438912">
                <a:tc>
                  <a:txBody>
                    <a:bodyPr/>
                    <a:lstStyle/>
                    <a:p>
                      <a:pPr algn="l">
                        <a:spcBef>
                          <a:spcPts val="0"/>
                        </a:spcBef>
                        <a:spcAft>
                          <a:spcPts val="0"/>
                        </a:spcAft>
                      </a:pPr>
                      <a:r>
                        <a:rPr sz="1100" b="0" i="0">
                          <a:solidFill>
                            <a:srgbClr val="1C1C1C"/>
                          </a:solidFill>
                          <a:latin typeface="Calibri"/>
                        </a:rPr>
                        <a:t>Toys · SASRec</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-0.001235   [-0.0018, -0.0008]</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-0.004296   [-0.0048, -0.0037]</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FFFFF"/>
                    </a:solidFill>
                  </a:tcPr>
                </a:tc>
              </a:tr>
              <a:tr h="438912">
                <a:tc>
                  <a:txBody>
                    <a:bodyPr/>
                    <a:lstStyle/>
                    <a:p>
                      <a:pPr algn="l">
                        <a:spcBef>
                          <a:spcPts val="0"/>
                        </a:spcBef>
                        <a:spcAft>
                          <a:spcPts val="0"/>
                        </a:spcAft>
                      </a:pPr>
                      <a:r>
                        <a:rPr sz="1100" b="0" i="0">
                          <a:solidFill>
                            <a:srgbClr val="1C1C1C"/>
                          </a:solidFill>
                          <a:latin typeface="Calibri"/>
                        </a:rPr>
                        <a:t>Toys · BPR</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-0.001647   [-0.0020, -0.0012]</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-0.000934   [-0.0014, -0.0005]</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AFAFA"/>
                    </a:solidFill>
                  </a:tcPr>
                </a:tc>
              </a:tr>
              <a:tr h="438912">
                <a:tc>
                  <a:txBody>
                    <a:bodyPr/>
                    <a:lstStyle/>
                    <a:p>
                      <a:pPr algn="l">
                        <a:spcBef>
                          <a:spcPts val="0"/>
                        </a:spcBef>
                        <a:spcAft>
                          <a:spcPts val="0"/>
                        </a:spcAft>
                      </a:pPr>
                      <a:r>
                        <a:rPr sz="1100" b="0" i="0">
                          <a:solidFill>
                            <a:srgbClr val="1C1C1C"/>
                          </a:solidFill>
                          <a:latin typeface="Calibri"/>
                        </a:rPr>
                        <a:t>Grocery · SASRec</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-0.000850   [-0.0012, -0.0005]</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-0.000691   [-0.0010, -0.0004]</a:t>
                      </a:r>
                    </a:p>
                  </a:txBody>
                  <a:tcPr marL="73152" marR="73152" marT="18288" marB="18288" anchor="ctr">
                    <a:solidFill>
                      <a:srgbClr val="FFFFFF"/>
                    </a:solidFill>
                  </a:tcPr>
                </a:tc>
                <a:tc>
                  <a:txBody>
                    <a:bodyPr/>
                    <a:lstStyle/>
                    <a:p>
                      <a:pPr algn="l">
                        <a:spcBef>
                          <a:spcPts val="0"/>
                        </a:spcBef>
                        <a:spcAft>
                          <a:spcPts val="0"/>
                        </a:spcAft>
                      </a:pPr>
                      <a:r>
                        <a:rPr sz="1100" b="0" i="0">
                          <a:solidFill>
                            <a:srgbClr val="1C1C1C"/>
                          </a:solidFill>
                          <a:latin typeface="Calibri"/>
                        </a:rPr>
                        <a:t>negative</a:t>
                      </a:r>
                    </a:p>
                  </a:txBody>
                  <a:tcPr marL="73152" marR="73152" marT="18288" marB="18288" anchor="ctr">
                    <a:solidFill>
                      <a:srgbClr val="FFFFFF"/>
                    </a:solidFill>
                  </a:tcPr>
                </a:tc>
              </a:tr>
              <a:tr h="438912">
                <a:tc>
                  <a:txBody>
                    <a:bodyPr/>
                    <a:lstStyle/>
                    <a:p>
                      <a:pPr algn="l">
                        <a:spcBef>
                          <a:spcPts val="0"/>
                        </a:spcBef>
                        <a:spcAft>
                          <a:spcPts val="0"/>
                        </a:spcAft>
                      </a:pPr>
                      <a:r>
                        <a:rPr sz="1100" b="0" i="0">
                          <a:solidFill>
                            <a:srgbClr val="1C1C1C"/>
                          </a:solidFill>
                          <a:latin typeface="Calibri"/>
                        </a:rPr>
                        <a:t>Grocery · BPR</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-0.000102   [-0.0004, 0.0002]</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CI includes zero</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-0.000135   [-0.0004, 0.0001]</a:t>
                      </a:r>
                    </a:p>
                  </a:txBody>
                  <a:tcPr marL="73152" marR="73152" marT="18288" marB="18288" anchor="ctr">
                    <a:solidFill>
                      <a:srgbClr val="FAFAFA"/>
                    </a:solidFill>
                  </a:tcPr>
                </a:tc>
                <a:tc>
                  <a:txBody>
                    <a:bodyPr/>
                    <a:lstStyle/>
                    <a:p>
                      <a:pPr algn="l">
                        <a:spcBef>
                          <a:spcPts val="0"/>
                        </a:spcBef>
                        <a:spcAft>
                          <a:spcPts val="0"/>
                        </a:spcAft>
                      </a:pPr>
                      <a:r>
                        <a:rPr sz="1100" b="0" i="0">
                          <a:solidFill>
                            <a:srgbClr val="1C1C1C"/>
                          </a:solidFill>
                          <a:latin typeface="Calibri"/>
                        </a:rPr>
                        <a:t>CI includes zero</a:t>
                      </a:r>
                    </a:p>
                  </a:txBody>
                  <a:tcPr marL="73152" marR="73152" marT="18288" marB="18288" anchor="ctr">
                    <a:solidFill>
                      <a:srgbClr val="FAFAFA"/>
                    </a:solidFill>
                  </a:tcPr>
                </a:tc>
              </a:tr>
            </a:tbl>
          </a:graphicData>
        </a:graphic>
      </p:graphicFrame>
      <p:sp>
        <p:nvSpPr>
          <p:cNvPr id="7" name="Rounded Rectangle 6"/>
          <p:cNvSpPr/>
          <p:nvPr/>
        </p:nvSpPr>
        <p:spPr>
          <a:xfrm>
            <a:off x="658368" y="4251960"/>
            <a:ext cx="5277459" cy="1389888"/>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841247" y="4389120"/>
            <a:ext cx="4911699" cy="1188720"/>
          </a:xfrm>
          <a:prstGeom prst="rect">
            <a:avLst/>
          </a:prstGeom>
          <a:noFill/>
        </p:spPr>
        <p:txBody>
          <a:bodyPr wrap="square" lIns="0" rIns="0" tIns="0" bIns="0">
            <a:spAutoFit/>
          </a:bodyPr>
          <a:lstStyle/>
          <a:p>
            <a:pPr algn="l">
              <a:spcBef>
                <a:spcPts val="0"/>
              </a:spcBef>
              <a:spcAft>
                <a:spcPts val="600"/>
              </a:spcAft>
            </a:pPr>
            <a:r>
              <a:rPr sz="1300" b="1" i="0">
                <a:solidFill>
                  <a:srgbClr val="1F5C8B"/>
                </a:solidFill>
                <a:latin typeface="Calibri"/>
              </a:rPr>
              <a:t>What we found</a:t>
            </a:r>
          </a:p>
          <a:p>
            <a:pPr algn="l">
              <a:lnSpc>
                <a:spcPct val="115000"/>
              </a:lnSpc>
              <a:spcBef>
                <a:spcPts val="0"/>
              </a:spcBef>
              <a:spcAft>
                <a:spcPts val="0"/>
              </a:spcAft>
            </a:pPr>
            <a:r>
              <a:rPr sz="1100" b="0" i="0">
                <a:solidFill>
                  <a:srgbClr val="1C1C1C"/>
                </a:solidFill>
                <a:latin typeface="Calibri"/>
              </a:rPr>
              <a:t>Negative against deletion in three of four cells, and against doing nothing in three of four. The shadow token adds vocabulary and sequence positions without adding information the model can use.</a:t>
            </a:r>
          </a:p>
        </p:txBody>
      </p:sp>
      <p:sp>
        <p:nvSpPr>
          <p:cNvPr id="9" name="Rounded Rectangle 8"/>
          <p:cNvSpPr/>
          <p:nvPr/>
        </p:nvSpPr>
        <p:spPr>
          <a:xfrm>
            <a:off x="6255867" y="4251960"/>
            <a:ext cx="5277459" cy="1389888"/>
          </a:xfrm>
          <a:prstGeom prst="roundRect">
            <a:avLst>
              <a:gd name="adj" fmla="val 5000"/>
            </a:avLst>
          </a:prstGeom>
          <a:solidFill>
            <a:srgbClr val="FBF2E3"/>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6438747" y="4389120"/>
            <a:ext cx="4911699" cy="1188720"/>
          </a:xfrm>
          <a:prstGeom prst="rect">
            <a:avLst/>
          </a:prstGeom>
          <a:noFill/>
        </p:spPr>
        <p:txBody>
          <a:bodyPr wrap="square" lIns="0" rIns="0" tIns="0" bIns="0">
            <a:spAutoFit/>
          </a:bodyPr>
          <a:lstStyle/>
          <a:p>
            <a:pPr algn="l">
              <a:spcBef>
                <a:spcPts val="0"/>
              </a:spcBef>
              <a:spcAft>
                <a:spcPts val="600"/>
              </a:spcAft>
            </a:pPr>
            <a:r>
              <a:rPr sz="1300" b="1" i="0">
                <a:solidFill>
                  <a:srgbClr val="8A520A"/>
                </a:solidFill>
                <a:latin typeface="Calibri"/>
              </a:rPr>
              <a:t>What we are NOT claiming</a:t>
            </a:r>
          </a:p>
          <a:p>
            <a:pPr algn="l">
              <a:lnSpc>
                <a:spcPct val="115000"/>
              </a:lnSpc>
              <a:spcBef>
                <a:spcPts val="0"/>
              </a:spcBef>
              <a:spcAft>
                <a:spcPts val="0"/>
              </a:spcAft>
            </a:pPr>
            <a:r>
              <a:rPr sz="1100" b="0" i="0">
                <a:solidFill>
                  <a:srgbClr val="1C1C1C"/>
                </a:solidFill>
                <a:latin typeface="Calibri"/>
              </a:rPr>
              <a:t>That flagging is a bad idea in general. One implementation was tested: a per-subcategory shadow token in the item sequence. Type-aware embeddings, a separate purchase-type channel, or loss re-weighting were not tested.</a:t>
            </a:r>
          </a:p>
        </p:txBody>
      </p:sp>
      <p:sp>
        <p:nvSpPr>
          <p:cNvPr id="11" name="TextBox 10"/>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2" name="TextBox 11"/>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4 · HOW LONG IT LASTS</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300" b="1" i="0">
                <a:solidFill>
                  <a:srgbClr val="1C1C1C"/>
                </a:solidFill>
                <a:latin typeface="Calibri"/>
              </a:rPr>
              <a:t>RQ4 · The excess halves after about one self-purchase — roughly two to four weeks</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22_m2_half_life.png"/>
          <p:cNvPicPr>
            <a:picLocks noChangeAspect="1"/>
          </p:cNvPicPr>
          <p:nvPr/>
        </p:nvPicPr>
        <p:blipFill>
          <a:blip r:embed="rId2"/>
          <a:stretch>
            <a:fillRect/>
          </a:stretch>
        </p:blipFill>
        <p:spPr>
          <a:xfrm>
            <a:off x="658368" y="2316937"/>
            <a:ext cx="6766560" cy="2909926"/>
          </a:xfrm>
          <a:prstGeom prst="rect">
            <a:avLst/>
          </a:prstGeom>
        </p:spPr>
      </p:pic>
      <p:sp>
        <p:nvSpPr>
          <p:cNvPr id="6" name="TextBox 5"/>
          <p:cNvSpPr txBox="1"/>
          <p:nvPr/>
        </p:nvSpPr>
        <p:spPr>
          <a:xfrm>
            <a:off x="658368" y="5833872"/>
            <a:ext cx="676656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F22 · excess top-10 share for the gift's subcategory vs the number of self-purchases after the gift, with the pre-registered exponential fit</a:t>
            </a:r>
          </a:p>
        </p:txBody>
      </p:sp>
      <p:sp>
        <p:nvSpPr>
          <p:cNvPr id="7" name="Rounded Rectangle 6"/>
          <p:cNvSpPr/>
          <p:nvPr/>
        </p:nvSpPr>
        <p:spPr>
          <a:xfrm>
            <a:off x="7653528" y="1737360"/>
            <a:ext cx="3879799" cy="123444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7818120" y="1883664"/>
            <a:ext cx="3550615" cy="941832"/>
          </a:xfrm>
          <a:prstGeom prst="rect">
            <a:avLst/>
          </a:prstGeom>
          <a:noFill/>
        </p:spPr>
        <p:txBody>
          <a:bodyPr wrap="square" lIns="0" rIns="0" tIns="0" bIns="0">
            <a:spAutoFit/>
          </a:bodyPr>
          <a:lstStyle/>
          <a:p>
            <a:pPr algn="l">
              <a:lnSpc>
                <a:spcPct val="90000"/>
              </a:lnSpc>
              <a:spcBef>
                <a:spcPts val="0"/>
              </a:spcBef>
              <a:spcAft>
                <a:spcPts val="200"/>
              </a:spcAft>
            </a:pPr>
            <a:r>
              <a:rPr sz="3000" b="1" i="0">
                <a:solidFill>
                  <a:srgbClr val="1F5C8B"/>
                </a:solidFill>
                <a:latin typeface="Calibri"/>
              </a:rPr>
              <a:t>0.66</a:t>
            </a:r>
          </a:p>
          <a:p>
            <a:pPr algn="l">
              <a:lnSpc>
                <a:spcPct val="100000"/>
              </a:lnSpc>
              <a:spcBef>
                <a:spcPts val="0"/>
              </a:spcBef>
              <a:spcAft>
                <a:spcPts val="300"/>
              </a:spcAft>
            </a:pPr>
            <a:r>
              <a:rPr sz="1150" b="1" i="0">
                <a:solidFill>
                  <a:srgbClr val="1C1C1C"/>
                </a:solidFill>
                <a:latin typeface="Calibri"/>
              </a:rPr>
              <a:t>self-purchase half-life</a:t>
            </a:r>
          </a:p>
          <a:p>
            <a:pPr algn="l">
              <a:lnSpc>
                <a:spcPct val="105000"/>
              </a:lnSpc>
              <a:spcBef>
                <a:spcPts val="0"/>
              </a:spcBef>
              <a:spcAft>
                <a:spcPts val="0"/>
              </a:spcAft>
            </a:pPr>
            <a:r>
              <a:rPr sz="1000" b="0" i="0">
                <a:solidFill>
                  <a:srgbClr val="555555"/>
                </a:solidFill>
                <a:latin typeface="Calibri"/>
              </a:rPr>
              <a:t>95 % CI [0.53, 0.82]</a:t>
            </a:r>
          </a:p>
        </p:txBody>
      </p:sp>
      <p:sp>
        <p:nvSpPr>
          <p:cNvPr id="9" name="Rounded Rectangle 8"/>
          <p:cNvSpPr/>
          <p:nvPr/>
        </p:nvSpPr>
        <p:spPr>
          <a:xfrm>
            <a:off x="7653528" y="3063240"/>
            <a:ext cx="3879799" cy="118872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7818120" y="3209544"/>
            <a:ext cx="3550615" cy="896112"/>
          </a:xfrm>
          <a:prstGeom prst="rect">
            <a:avLst/>
          </a:prstGeom>
          <a:noFill/>
        </p:spPr>
        <p:txBody>
          <a:bodyPr wrap="square" lIns="0" rIns="0" tIns="0" bIns="0">
            <a:spAutoFit/>
          </a:bodyPr>
          <a:lstStyle/>
          <a:p>
            <a:pPr algn="l">
              <a:lnSpc>
                <a:spcPct val="90000"/>
              </a:lnSpc>
              <a:spcBef>
                <a:spcPts val="0"/>
              </a:spcBef>
              <a:spcAft>
                <a:spcPts val="200"/>
              </a:spcAft>
            </a:pPr>
            <a:r>
              <a:rPr sz="2600" b="1" i="0">
                <a:solidFill>
                  <a:srgbClr val="1F5C8B"/>
                </a:solidFill>
                <a:latin typeface="Calibri"/>
              </a:rPr>
              <a:t>≈2.4 wk</a:t>
            </a:r>
          </a:p>
          <a:p>
            <a:pPr algn="l">
              <a:lnSpc>
                <a:spcPct val="100000"/>
              </a:lnSpc>
              <a:spcBef>
                <a:spcPts val="0"/>
              </a:spcBef>
              <a:spcAft>
                <a:spcPts val="300"/>
              </a:spcAft>
            </a:pPr>
            <a:r>
              <a:rPr sz="1150" b="1" i="0">
                <a:solidFill>
                  <a:srgbClr val="1C1C1C"/>
                </a:solidFill>
                <a:latin typeface="Calibri"/>
              </a:rPr>
              <a:t>approximate calendar time</a:t>
            </a:r>
          </a:p>
          <a:p>
            <a:pPr algn="l">
              <a:lnSpc>
                <a:spcPct val="105000"/>
              </a:lnSpc>
              <a:spcBef>
                <a:spcPts val="0"/>
              </a:spcBef>
              <a:spcAft>
                <a:spcPts val="0"/>
              </a:spcAft>
            </a:pPr>
            <a:r>
              <a:rPr sz="1000" b="0" i="0">
                <a:solidFill>
                  <a:srgbClr val="555555"/>
                </a:solidFill>
                <a:latin typeface="Calibri"/>
              </a:rPr>
              <a:t>review date ≠ purchase date</a:t>
            </a:r>
          </a:p>
        </p:txBody>
      </p:sp>
      <p:sp>
        <p:nvSpPr>
          <p:cNvPr id="11" name="TextBox 10"/>
          <p:cNvSpPr txBox="1"/>
          <p:nvPr/>
        </p:nvSpPr>
        <p:spPr>
          <a:xfrm>
            <a:off x="7653528" y="4389120"/>
            <a:ext cx="3879799" cy="1737360"/>
          </a:xfrm>
          <a:prstGeom prst="rect">
            <a:avLst/>
          </a:prstGeom>
          <a:noFill/>
        </p:spPr>
        <p:txBody>
          <a:bodyPr wrap="square" lIns="0" rIns="0" tIns="0" bIns="0">
            <a:spAutoFit/>
          </a:bodyPr>
          <a:lstStyle/>
          <a:p>
            <a:pPr algn="l">
              <a:spcBef>
                <a:spcPts val="0"/>
              </a:spcBef>
              <a:spcAft>
                <a:spcPts val="500"/>
              </a:spcAft>
            </a:pPr>
            <a:r>
              <a:rPr sz="1200" b="1" i="0">
                <a:solidFill>
                  <a:srgbClr val="1F5C8B"/>
                </a:solidFill>
                <a:latin typeface="Calibri"/>
              </a:rPr>
              <a:t>Read it like this</a:t>
            </a:r>
          </a:p>
          <a:p>
            <a:pPr algn="l">
              <a:lnSpc>
                <a:spcPct val="112000"/>
              </a:lnSpc>
              <a:spcBef>
                <a:spcPts val="0"/>
              </a:spcBef>
              <a:spcAft>
                <a:spcPts val="600"/>
              </a:spcAft>
            </a:pPr>
            <a:r>
              <a:rPr sz="1050" b="0" i="0">
                <a:solidFill>
                  <a:srgbClr val="1C1C1C"/>
                </a:solidFill>
                <a:latin typeface="Calibri"/>
              </a:rPr>
              <a:t>A gift opens +2.0 pts of extra top-10 share for its subcategory. After one purchase the user makes for themselves, less than half of that is left; after four it is gone.</a:t>
            </a:r>
          </a:p>
          <a:p>
            <a:pPr algn="l">
              <a:lnSpc>
                <a:spcPct val="112000"/>
              </a:lnSpc>
              <a:spcBef>
                <a:spcPts val="0"/>
              </a:spcBef>
              <a:spcAft>
                <a:spcPts val="0"/>
              </a:spcAft>
            </a:pPr>
            <a:r>
              <a:rPr sz="1000" b="0" i="0">
                <a:solidFill>
                  <a:srgbClr val="555555"/>
                </a:solidFill>
                <a:latin typeface="Calibri"/>
              </a:rPr>
              <a:t>BPR shows decay too, but the pre-registered fit gives no finite half-life: the gift is DILUTED by later purchases rather than forgotten, because BPR never sees order.</a:t>
            </a:r>
          </a:p>
        </p:txBody>
      </p:sp>
      <p:sp>
        <p:nvSpPr>
          <p:cNvPr id="12" name="TextBox 11"/>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3" name="TextBox 12"/>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RESULT 4B · WASTED SLOTS</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300" b="1" i="0">
                <a:solidFill>
                  <a:srgbClr val="1C1C1C"/>
                </a:solidFill>
                <a:latin typeface="Calibri"/>
              </a:rPr>
              <a:t>RQ4 · In the classical model, roughly one slot in twenty goes to gift-only interest</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pic>
        <p:nvPicPr>
          <p:cNvPr id="5" name="Picture 4" descr="F23_m1_waste_share.png"/>
          <p:cNvPicPr>
            <a:picLocks noChangeAspect="1"/>
          </p:cNvPicPr>
          <p:nvPr/>
        </p:nvPicPr>
        <p:blipFill>
          <a:blip r:embed="rId2"/>
          <a:stretch>
            <a:fillRect/>
          </a:stretch>
        </p:blipFill>
        <p:spPr>
          <a:xfrm>
            <a:off x="658368" y="2396704"/>
            <a:ext cx="5943600" cy="2567512"/>
          </a:xfrm>
          <a:prstGeom prst="rect">
            <a:avLst/>
          </a:prstGeom>
        </p:spPr>
      </p:pic>
      <p:sp>
        <p:nvSpPr>
          <p:cNvPr id="6" name="TextBox 5"/>
          <p:cNvSpPr txBox="1"/>
          <p:nvPr/>
        </p:nvSpPr>
        <p:spPr>
          <a:xfrm>
            <a:off x="658368" y="5650992"/>
            <a:ext cx="5943600" cy="274320"/>
          </a:xfrm>
          <a:prstGeom prst="rect">
            <a:avLst/>
          </a:prstGeom>
          <a:noFill/>
        </p:spPr>
        <p:txBody>
          <a:bodyPr wrap="square" lIns="0" rIns="0" tIns="0" bIns="0">
            <a:spAutoFit/>
          </a:bodyPr>
          <a:lstStyle/>
          <a:p>
            <a:pPr algn="ctr">
              <a:spcBef>
                <a:spcPts val="0"/>
              </a:spcBef>
              <a:spcAft>
                <a:spcPts val="0"/>
              </a:spcAft>
            </a:pPr>
            <a:r>
              <a:rPr sz="950" b="0" i="1">
                <a:solidFill>
                  <a:srgbClr val="8E8E8E"/>
                </a:solidFill>
                <a:latin typeface="Calibri"/>
              </a:rPr>
              <a:t>F23 · share of top-10 slots drawn from subcategories the user entered only as a gift</a:t>
            </a:r>
          </a:p>
        </p:txBody>
      </p:sp>
      <p:graphicFrame>
        <p:nvGraphicFramePr>
          <p:cNvPr id="7" name="Table 6"/>
          <p:cNvGraphicFramePr>
            <a:graphicFrameLocks noGrp="1"/>
          </p:cNvGraphicFramePr>
          <p:nvPr/>
        </p:nvGraphicFramePr>
        <p:xfrm>
          <a:off x="6876288" y="1783080"/>
          <a:ext cx="4657037" cy="2011680"/>
        </p:xfrm>
        <a:graphic>
          <a:graphicData uri="http://schemas.openxmlformats.org/drawingml/2006/table">
            <a:tbl>
              <a:tblPr>
                <a:tableStyleId>{2D5ABB26-0587-4C30-8999-92F81FD0307C}</a:tableStyleId>
              </a:tblPr>
              <a:tblGrid>
                <a:gridCol w="1164259"/>
                <a:gridCol w="1673623"/>
                <a:gridCol w="1819155"/>
              </a:tblGrid>
              <a:tr h="402336">
                <a:tc>
                  <a:txBody>
                    <a:bodyPr/>
                    <a:lstStyle/>
                    <a:p>
                      <a:pPr algn="l">
                        <a:spcBef>
                          <a:spcPts val="0"/>
                        </a:spcBef>
                        <a:spcAft>
                          <a:spcPts val="0"/>
                        </a:spcAft>
                      </a:pPr>
                      <a:r>
                        <a:rPr sz="900" b="1" i="0">
                          <a:solidFill>
                            <a:srgbClr val="1F5C8B"/>
                          </a:solidFill>
                          <a:latin typeface="Calibri"/>
                        </a:rPr>
                        <a:t>Cell</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C0 − C1</a:t>
                      </a:r>
                    </a:p>
                  </a:txBody>
                  <a:tcPr marL="73152" marR="73152" marT="18288" marB="18288" anchor="ctr">
                    <a:solidFill>
                      <a:srgbClr val="E8EFF6"/>
                    </a:solidFill>
                  </a:tcPr>
                </a:tc>
                <a:tc>
                  <a:txBody>
                    <a:bodyPr/>
                    <a:lstStyle/>
                    <a:p>
                      <a:pPr algn="l">
                        <a:spcBef>
                          <a:spcPts val="0"/>
                        </a:spcBef>
                        <a:spcAft>
                          <a:spcPts val="0"/>
                        </a:spcAft>
                      </a:pPr>
                      <a:r>
                        <a:rPr sz="900" b="1" i="0">
                          <a:solidFill>
                            <a:srgbClr val="1F5C8B"/>
                          </a:solidFill>
                          <a:latin typeface="Calibri"/>
                        </a:rPr>
                        <a:t>C4 − C1 (net of data loss)</a:t>
                      </a:r>
                    </a:p>
                  </a:txBody>
                  <a:tcPr marL="73152" marR="73152" marT="18288" marB="18288" anchor="ctr">
                    <a:solidFill>
                      <a:srgbClr val="E8EFF6"/>
                    </a:solidFill>
                  </a:tcPr>
                </a:tc>
              </a:tr>
              <a:tr h="402336">
                <a:tc>
                  <a:txBody>
                    <a:bodyPr/>
                    <a:lstStyle/>
                    <a:p>
                      <a:pPr algn="l">
                        <a:spcBef>
                          <a:spcPts val="0"/>
                        </a:spcBef>
                        <a:spcAft>
                          <a:spcPts val="0"/>
                        </a:spcAft>
                      </a:pPr>
                      <a:r>
                        <a:rPr sz="1000" b="0" i="0">
                          <a:solidFill>
                            <a:srgbClr val="1C1C1C"/>
                          </a:solidFill>
                          <a:latin typeface="Calibri"/>
                        </a:rPr>
                        <a:t>Toys · SASRec</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+1.3 pts  [1.22, 1.41]</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+0.4 pts  [0.28, 0.47]</a:t>
                      </a:r>
                    </a:p>
                  </a:txBody>
                  <a:tcPr marL="73152" marR="73152" marT="18288" marB="18288" anchor="ctr">
                    <a:solidFill>
                      <a:srgbClr val="FFFFFF"/>
                    </a:solidFill>
                  </a:tcPr>
                </a:tc>
              </a:tr>
              <a:tr h="402336">
                <a:tc>
                  <a:txBody>
                    <a:bodyPr/>
                    <a:lstStyle/>
                    <a:p>
                      <a:pPr algn="l">
                        <a:spcBef>
                          <a:spcPts val="0"/>
                        </a:spcBef>
                        <a:spcAft>
                          <a:spcPts val="0"/>
                        </a:spcAft>
                      </a:pPr>
                      <a:r>
                        <a:rPr sz="1000" b="0" i="0">
                          <a:solidFill>
                            <a:srgbClr val="1C1C1C"/>
                          </a:solidFill>
                          <a:latin typeface="Calibri"/>
                        </a:rPr>
                        <a:t>Toys · BPR</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+4.9 pts  [4.76, 5.04]</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+4.2 pts  [4.02, 4.29]</a:t>
                      </a:r>
                    </a:p>
                  </a:txBody>
                  <a:tcPr marL="73152" marR="73152" marT="18288" marB="18288" anchor="ctr">
                    <a:solidFill>
                      <a:srgbClr val="FAFAFA"/>
                    </a:solidFill>
                  </a:tcPr>
                </a:tc>
              </a:tr>
              <a:tr h="402336">
                <a:tc>
                  <a:txBody>
                    <a:bodyPr/>
                    <a:lstStyle/>
                    <a:p>
                      <a:pPr algn="l">
                        <a:spcBef>
                          <a:spcPts val="0"/>
                        </a:spcBef>
                        <a:spcAft>
                          <a:spcPts val="0"/>
                        </a:spcAft>
                      </a:pPr>
                      <a:r>
                        <a:rPr sz="1000" b="0" i="0">
                          <a:solidFill>
                            <a:srgbClr val="1C1C1C"/>
                          </a:solidFill>
                          <a:latin typeface="Calibri"/>
                        </a:rPr>
                        <a:t>Grocery · SASRec</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+1.4 pts  [1.23, 1.48]</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+1.2 pts  [1.06, 1.33]</a:t>
                      </a:r>
                    </a:p>
                  </a:txBody>
                  <a:tcPr marL="73152" marR="73152" marT="18288" marB="18288" anchor="ctr">
                    <a:solidFill>
                      <a:srgbClr val="FFFFFF"/>
                    </a:solidFill>
                  </a:tcPr>
                </a:tc>
              </a:tr>
              <a:tr h="402336">
                <a:tc>
                  <a:txBody>
                    <a:bodyPr/>
                    <a:lstStyle/>
                    <a:p>
                      <a:pPr algn="l">
                        <a:spcBef>
                          <a:spcPts val="0"/>
                        </a:spcBef>
                        <a:spcAft>
                          <a:spcPts val="0"/>
                        </a:spcAft>
                      </a:pPr>
                      <a:r>
                        <a:rPr sz="1000" b="0" i="0">
                          <a:solidFill>
                            <a:srgbClr val="1C1C1C"/>
                          </a:solidFill>
                          <a:latin typeface="Calibri"/>
                        </a:rPr>
                        <a:t>Grocery · BPR</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+2.4 pts  [2.21, 2.56]</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+2.2 pts  [2.07, 2.41]</a:t>
                      </a:r>
                    </a:p>
                  </a:txBody>
                  <a:tcPr marL="73152" marR="73152" marT="18288" marB="18288" anchor="ctr">
                    <a:solidFill>
                      <a:srgbClr val="FAFAFA"/>
                    </a:solidFill>
                  </a:tcPr>
                </a:tc>
              </a:tr>
            </a:tbl>
          </a:graphicData>
        </a:graphic>
      </p:graphicFrame>
      <p:sp>
        <p:nvSpPr>
          <p:cNvPr id="8" name="TextBox 7"/>
          <p:cNvSpPr txBox="1"/>
          <p:nvPr/>
        </p:nvSpPr>
        <p:spPr>
          <a:xfrm>
            <a:off x="6876288" y="3950208"/>
            <a:ext cx="4657039" cy="2194560"/>
          </a:xfrm>
          <a:prstGeom prst="rect">
            <a:avLst/>
          </a:prstGeom>
          <a:noFill/>
        </p:spPr>
        <p:txBody>
          <a:bodyPr wrap="square" lIns="0" rIns="0" tIns="0" bIns="0">
            <a:spAutoFit/>
          </a:bodyPr>
          <a:lstStyle/>
          <a:p>
            <a:pPr algn="l">
              <a:spcBef>
                <a:spcPts val="0"/>
              </a:spcBef>
              <a:spcAft>
                <a:spcPts val="600"/>
              </a:spcAft>
            </a:pPr>
            <a:r>
              <a:rPr sz="1250" b="1" i="0">
                <a:solidFill>
                  <a:srgbClr val="1F5C8B"/>
                </a:solidFill>
                <a:latin typeface="Calibri"/>
              </a:rPr>
              <a:t>What the numbers say</a:t>
            </a:r>
          </a:p>
          <a:p>
            <a:pPr algn="l">
              <a:lnSpc>
                <a:spcPct val="112000"/>
              </a:lnSpc>
              <a:spcBef>
                <a:spcPts val="0"/>
              </a:spcBef>
              <a:spcAft>
                <a:spcPts val="600"/>
              </a:spcAft>
            </a:pPr>
            <a:r>
              <a:rPr sz="1050" b="0" i="0">
                <a:solidFill>
                  <a:srgbClr val="1C1C1C"/>
                </a:solidFill>
                <a:latin typeface="Calibri"/>
              </a:rPr>
              <a:t>On Toys, 32% of test users have a subcategory they entered only as a gift. The classical model gives 16.3% of their top-10 to it; the gift-free model gives 11.4%.</a:t>
            </a:r>
          </a:p>
          <a:p>
            <a:pPr algn="l">
              <a:lnSpc>
                <a:spcPct val="112000"/>
              </a:lnSpc>
              <a:spcBef>
                <a:spcPts val="0"/>
              </a:spcBef>
              <a:spcAft>
                <a:spcPts val="600"/>
              </a:spcAft>
            </a:pPr>
            <a:r>
              <a:rPr sz="1050" b="0" i="0">
                <a:solidFill>
                  <a:srgbClr val="1C1C1C"/>
                </a:solidFill>
                <a:latin typeface="Calibri"/>
              </a:rPr>
              <a:t>Holding data loss fixed (C4 − C1) keeps most of that gap in the classical model but almost none of it in the sequential one.</a:t>
            </a:r>
          </a:p>
          <a:p>
            <a:pPr algn="l">
              <a:lnSpc>
                <a:spcPct val="112000"/>
              </a:lnSpc>
              <a:spcBef>
                <a:spcPts val="0"/>
              </a:spcBef>
              <a:spcAft>
                <a:spcPts val="0"/>
              </a:spcAft>
            </a:pPr>
            <a:r>
              <a:rPr sz="1000" b="0" i="1">
                <a:solidFill>
                  <a:srgbClr val="8A520A"/>
                </a:solidFill>
                <a:latin typeface="Calibri"/>
              </a:rPr>
              <a:t>"Waste" is an upper bound by construction: we did not measure whether those slots convert. A customer may later buy in that subcategory for themselves.</a:t>
            </a:r>
          </a:p>
        </p:txBody>
      </p:sp>
      <p:sp>
        <p:nvSpPr>
          <p:cNvPr id="9" name="TextBox 8"/>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0" name="TextBox 9"/>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CLOSING</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What we claim, what we do not, and what comes next</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828800"/>
            <a:ext cx="3442106" cy="288036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841247" y="1975104"/>
            <a:ext cx="3076346" cy="2514600"/>
          </a:xfrm>
          <a:prstGeom prst="rect">
            <a:avLst/>
          </a:prstGeom>
          <a:noFill/>
        </p:spPr>
        <p:txBody>
          <a:bodyPr wrap="square" lIns="0" rIns="0" tIns="0" bIns="0">
            <a:spAutoFit/>
          </a:bodyPr>
          <a:lstStyle/>
          <a:p>
            <a:pPr algn="l">
              <a:spcBef>
                <a:spcPts val="0"/>
              </a:spcBef>
              <a:spcAft>
                <a:spcPts val="700"/>
              </a:spcAft>
            </a:pPr>
            <a:r>
              <a:rPr sz="1400" b="1" i="0">
                <a:solidFill>
                  <a:srgbClr val="1F5C8B"/>
                </a:solidFill>
                <a:latin typeface="Calibri"/>
              </a:rPr>
              <a:t>We claim</a:t>
            </a:r>
          </a:p>
          <a:p>
            <a:pPr algn="l">
              <a:lnSpc>
                <a:spcPct val="112000"/>
              </a:lnSpc>
              <a:spcBef>
                <a:spcPts val="0"/>
              </a:spcBef>
              <a:spcAft>
                <a:spcPts val="600"/>
              </a:spcAft>
            </a:pPr>
            <a:r>
              <a:rPr sz="1050" b="0" i="0">
                <a:solidFill>
                  <a:srgbClr val="1C1C1C"/>
                </a:solidFill>
                <a:latin typeface="Calibri"/>
              </a:rPr>
              <a:t>•  Gift purchases are measurable at scale, and common: 19 % of Toys reviews.</a:t>
            </a:r>
          </a:p>
          <a:p>
            <a:pPr algn="l">
              <a:lnSpc>
                <a:spcPct val="112000"/>
              </a:lnSpc>
              <a:spcBef>
                <a:spcPts val="0"/>
              </a:spcBef>
              <a:spcAft>
                <a:spcPts val="600"/>
              </a:spcAft>
            </a:pPr>
            <a:r>
              <a:rPr sz="1050" b="0" i="0">
                <a:solidFill>
                  <a:srgbClr val="1C1C1C"/>
                </a:solidFill>
                <a:latin typeface="Calibri"/>
              </a:rPr>
              <a:t>•  Gift rows carry less usable preference signal than random rows, with a dose–response across two categories.</a:t>
            </a:r>
          </a:p>
          <a:p>
            <a:pPr algn="l">
              <a:lnSpc>
                <a:spcPct val="112000"/>
              </a:lnSpc>
              <a:spcBef>
                <a:spcPts val="0"/>
              </a:spcBef>
              <a:spcAft>
                <a:spcPts val="600"/>
              </a:spcAft>
            </a:pPr>
            <a:r>
              <a:rPr sz="1050" b="0" i="0">
                <a:solidFill>
                  <a:srgbClr val="1C1C1C"/>
                </a:solidFill>
                <a:latin typeface="Calibri"/>
              </a:rPr>
              <a:t>•  A gift's excess recommendation share halves after about one self-purchase in the sequential model.</a:t>
            </a:r>
          </a:p>
          <a:p>
            <a:pPr algn="l">
              <a:lnSpc>
                <a:spcPct val="112000"/>
              </a:lnSpc>
              <a:spcBef>
                <a:spcPts val="0"/>
              </a:spcBef>
              <a:spcAft>
                <a:spcPts val="600"/>
              </a:spcAft>
            </a:pPr>
            <a:r>
              <a:rPr sz="1050" b="0" i="0">
                <a:solidFill>
                  <a:srgbClr val="1C1C1C"/>
                </a:solidFill>
                <a:latin typeface="Calibri"/>
              </a:rPr>
              <a:t>•  The one flagging method we tested is worse than deleting.</a:t>
            </a:r>
          </a:p>
        </p:txBody>
      </p:sp>
      <p:sp>
        <p:nvSpPr>
          <p:cNvPr id="7" name="Rounded Rectangle 6"/>
          <p:cNvSpPr/>
          <p:nvPr/>
        </p:nvSpPr>
        <p:spPr>
          <a:xfrm>
            <a:off x="4374794" y="1828800"/>
            <a:ext cx="3442106" cy="2880360"/>
          </a:xfrm>
          <a:prstGeom prst="roundRect">
            <a:avLst>
              <a:gd name="adj" fmla="val 5000"/>
            </a:avLst>
          </a:prstGeom>
          <a:solidFill>
            <a:srgbClr val="FBF2E3"/>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4557674" y="1975104"/>
            <a:ext cx="3076346" cy="2514600"/>
          </a:xfrm>
          <a:prstGeom prst="rect">
            <a:avLst/>
          </a:prstGeom>
          <a:noFill/>
        </p:spPr>
        <p:txBody>
          <a:bodyPr wrap="square" lIns="0" rIns="0" tIns="0" bIns="0">
            <a:spAutoFit/>
          </a:bodyPr>
          <a:lstStyle/>
          <a:p>
            <a:pPr algn="l">
              <a:spcBef>
                <a:spcPts val="0"/>
              </a:spcBef>
              <a:spcAft>
                <a:spcPts val="700"/>
              </a:spcAft>
            </a:pPr>
            <a:r>
              <a:rPr sz="1400" b="1" i="0">
                <a:solidFill>
                  <a:srgbClr val="8A520A"/>
                </a:solidFill>
                <a:latin typeface="Calibri"/>
              </a:rPr>
              <a:t>We do not claim</a:t>
            </a:r>
          </a:p>
          <a:p>
            <a:pPr algn="l">
              <a:lnSpc>
                <a:spcPct val="112000"/>
              </a:lnSpc>
              <a:spcBef>
                <a:spcPts val="0"/>
              </a:spcBef>
              <a:spcAft>
                <a:spcPts val="600"/>
              </a:spcAft>
            </a:pPr>
            <a:r>
              <a:rPr sz="1050" b="0" i="0">
                <a:solidFill>
                  <a:srgbClr val="1C1C1C"/>
                </a:solidFill>
                <a:latin typeface="Calibri"/>
              </a:rPr>
              <a:t>•  That the detector is accurate: macro-F1 0.54 against one annotator, both pre-registered gates missed.</a:t>
            </a:r>
          </a:p>
          <a:p>
            <a:pPr algn="l">
              <a:lnSpc>
                <a:spcPct val="112000"/>
              </a:lnSpc>
              <a:spcBef>
                <a:spcPts val="0"/>
              </a:spcBef>
              <a:spcAft>
                <a:spcPts val="600"/>
              </a:spcAft>
            </a:pPr>
            <a:r>
              <a:rPr sz="1050" b="0" i="0">
                <a:solidFill>
                  <a:srgbClr val="1C1C1C"/>
                </a:solidFill>
                <a:latin typeface="Calibri"/>
              </a:rPr>
              <a:t>•  That deleting gifts is a recommended production change — the net effect against doing nothing is model-dependent.</a:t>
            </a:r>
          </a:p>
          <a:p>
            <a:pPr algn="l">
              <a:lnSpc>
                <a:spcPct val="112000"/>
              </a:lnSpc>
              <a:spcBef>
                <a:spcPts val="0"/>
              </a:spcBef>
              <a:spcAft>
                <a:spcPts val="600"/>
              </a:spcAft>
            </a:pPr>
            <a:r>
              <a:rPr sz="1050" b="0" i="0">
                <a:solidFill>
                  <a:srgbClr val="1C1C1C"/>
                </a:solidFill>
                <a:latin typeface="Calibri"/>
              </a:rPr>
              <a:t>•  That this generalises beyond two Amazon categories, two models and English-language reviews.</a:t>
            </a:r>
          </a:p>
          <a:p>
            <a:pPr algn="l">
              <a:lnSpc>
                <a:spcPct val="112000"/>
              </a:lnSpc>
              <a:spcBef>
                <a:spcPts val="0"/>
              </a:spcBef>
              <a:spcAft>
                <a:spcPts val="600"/>
              </a:spcAft>
            </a:pPr>
            <a:r>
              <a:rPr sz="1050" b="0" i="0">
                <a:solidFill>
                  <a:srgbClr val="1C1C1C"/>
                </a:solidFill>
                <a:latin typeface="Calibri"/>
              </a:rPr>
              <a:t>•  That wasted slots are lost revenue; conversion was never measured.</a:t>
            </a:r>
          </a:p>
        </p:txBody>
      </p:sp>
      <p:sp>
        <p:nvSpPr>
          <p:cNvPr id="9" name="Rounded Rectangle 8"/>
          <p:cNvSpPr/>
          <p:nvPr/>
        </p:nvSpPr>
        <p:spPr>
          <a:xfrm>
            <a:off x="8091220" y="1828800"/>
            <a:ext cx="3442106" cy="288036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0" name="TextBox 9"/>
          <p:cNvSpPr txBox="1"/>
          <p:nvPr/>
        </p:nvSpPr>
        <p:spPr>
          <a:xfrm>
            <a:off x="8274100" y="1975104"/>
            <a:ext cx="3076346" cy="2514600"/>
          </a:xfrm>
          <a:prstGeom prst="rect">
            <a:avLst/>
          </a:prstGeom>
          <a:noFill/>
        </p:spPr>
        <p:txBody>
          <a:bodyPr wrap="square" lIns="0" rIns="0" tIns="0" bIns="0">
            <a:spAutoFit/>
          </a:bodyPr>
          <a:lstStyle/>
          <a:p>
            <a:pPr algn="l">
              <a:spcBef>
                <a:spcPts val="0"/>
              </a:spcBef>
              <a:spcAft>
                <a:spcPts val="700"/>
              </a:spcAft>
            </a:pPr>
            <a:r>
              <a:rPr sz="1400" b="1" i="0">
                <a:solidFill>
                  <a:srgbClr val="1F5C8B"/>
                </a:solidFill>
                <a:latin typeface="Calibri"/>
              </a:rPr>
              <a:t>Next, in order of value</a:t>
            </a:r>
          </a:p>
          <a:p>
            <a:pPr algn="l">
              <a:lnSpc>
                <a:spcPct val="112000"/>
              </a:lnSpc>
              <a:spcBef>
                <a:spcPts val="0"/>
              </a:spcBef>
              <a:spcAft>
                <a:spcPts val="600"/>
              </a:spcAft>
            </a:pPr>
            <a:r>
              <a:rPr sz="1050" b="0" i="0">
                <a:solidFill>
                  <a:srgbClr val="1C1C1C"/>
                </a:solidFill>
                <a:latin typeface="Calibri"/>
              </a:rPr>
              <a:t>•  A second and third annotator on the same 500 rows, and the Fleiss κ the design asked for.</a:t>
            </a:r>
          </a:p>
          <a:p>
            <a:pPr algn="l">
              <a:lnSpc>
                <a:spcPct val="112000"/>
              </a:lnSpc>
              <a:spcBef>
                <a:spcPts val="0"/>
              </a:spcBef>
              <a:spcAft>
                <a:spcPts val="600"/>
              </a:spcAft>
            </a:pPr>
            <a:r>
              <a:rPr sz="1050" b="0" i="0">
                <a:solidFill>
                  <a:srgbClr val="1C1C1C"/>
                </a:solidFill>
                <a:latin typeface="Calibri"/>
              </a:rPr>
              <a:t>•  Purchase-type as a model input instead of a deletion rule — the C2 that RecBole would not run.</a:t>
            </a:r>
          </a:p>
          <a:p>
            <a:pPr algn="l">
              <a:lnSpc>
                <a:spcPct val="112000"/>
              </a:lnSpc>
              <a:spcBef>
                <a:spcPts val="0"/>
              </a:spcBef>
              <a:spcAft>
                <a:spcPts val="600"/>
              </a:spcAft>
            </a:pPr>
            <a:r>
              <a:rPr sz="1050" b="0" i="0">
                <a:solidFill>
                  <a:srgbClr val="1C1C1C"/>
                </a:solidFill>
                <a:latin typeface="Calibri"/>
              </a:rPr>
              <a:t>•  A held-out category the detector never saw during prompt development.</a:t>
            </a:r>
          </a:p>
          <a:p>
            <a:pPr algn="l">
              <a:lnSpc>
                <a:spcPct val="112000"/>
              </a:lnSpc>
              <a:spcBef>
                <a:spcPts val="0"/>
              </a:spcBef>
              <a:spcAft>
                <a:spcPts val="600"/>
              </a:spcAft>
            </a:pPr>
            <a:r>
              <a:rPr sz="1050" b="0" i="0">
                <a:solidFill>
                  <a:srgbClr val="1C1C1C"/>
                </a:solidFill>
                <a:latin typeface="Calibri"/>
              </a:rPr>
              <a:t>•  Conversion-linked data, so "waste" becomes a measured cost.</a:t>
            </a:r>
          </a:p>
        </p:txBody>
      </p:sp>
      <p:sp>
        <p:nvSpPr>
          <p:cNvPr id="11" name="Rounded Rectangle 10"/>
          <p:cNvSpPr/>
          <p:nvPr/>
        </p:nvSpPr>
        <p:spPr>
          <a:xfrm>
            <a:off x="658368" y="4956048"/>
            <a:ext cx="10874959" cy="1024128"/>
          </a:xfrm>
          <a:prstGeom prst="roundRect">
            <a:avLst>
              <a:gd name="adj" fmla="val 5000"/>
            </a:avLst>
          </a:prstGeom>
          <a:solidFill>
            <a:srgbClr val="FFFFFF"/>
          </a:solidFill>
          <a:ln w="9525">
            <a:solidFill>
              <a:srgbClr val="1F5C8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2" name="TextBox 11"/>
          <p:cNvSpPr txBox="1"/>
          <p:nvPr/>
        </p:nvSpPr>
        <p:spPr>
          <a:xfrm>
            <a:off x="877824" y="5084064"/>
            <a:ext cx="10436047" cy="822960"/>
          </a:xfrm>
          <a:prstGeom prst="rect">
            <a:avLst/>
          </a:prstGeom>
          <a:noFill/>
        </p:spPr>
        <p:txBody>
          <a:bodyPr wrap="square" lIns="0" rIns="0" tIns="0" bIns="0">
            <a:spAutoFit/>
          </a:bodyPr>
          <a:lstStyle/>
          <a:p>
            <a:pPr algn="l">
              <a:spcBef>
                <a:spcPts val="0"/>
              </a:spcBef>
              <a:spcAft>
                <a:spcPts val="500"/>
              </a:spcAft>
            </a:pPr>
            <a:r>
              <a:rPr sz="1300" b="1" i="0">
                <a:solidFill>
                  <a:srgbClr val="1F5C8B"/>
                </a:solidFill>
                <a:latin typeface="Calibri"/>
              </a:rPr>
              <a:t>Everything on these slides is reproducible from the repository</a:t>
            </a:r>
          </a:p>
          <a:p>
            <a:pPr algn="l">
              <a:lnSpc>
                <a:spcPct val="115000"/>
              </a:lnSpc>
              <a:spcBef>
                <a:spcPts val="0"/>
              </a:spcBef>
              <a:spcAft>
                <a:spcPts val="0"/>
              </a:spcAft>
            </a:pPr>
            <a:r>
              <a:rPr sz="1100" b="0" i="0">
                <a:solidFill>
                  <a:srgbClr val="1C1C1C"/>
                </a:solidFill>
                <a:latin typeface="Calibri"/>
              </a:rPr>
              <a:t>python repo/scripts/demo.py   —   prints every headline number above from the committed JSON artefacts, with no data files and no dependencies beyond the standard library.      github.com/edasaruhan/SIC_AI_17_Capstone_Group_2      code version 791d9d4</a:t>
            </a:r>
          </a:p>
        </p:txBody>
      </p:sp>
      <p:sp>
        <p:nvSpPr>
          <p:cNvPr id="13" name="TextBox 12"/>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4" name="TextBox 13"/>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APPENDIX</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A1 · The six conditions, exactly as they were run</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graphicFrame>
        <p:nvGraphicFramePr>
          <p:cNvPr id="5" name="Table 4"/>
          <p:cNvGraphicFramePr>
            <a:graphicFrameLocks noGrp="1"/>
          </p:cNvGraphicFramePr>
          <p:nvPr/>
        </p:nvGraphicFramePr>
        <p:xfrm>
          <a:off x="658368" y="1874519"/>
          <a:ext cx="10874958" cy="3072384"/>
        </p:xfrm>
        <a:graphic>
          <a:graphicData uri="http://schemas.openxmlformats.org/drawingml/2006/table">
            <a:tbl>
              <a:tblPr>
                <a:tableStyleId>{2D5ABB26-0587-4C30-8999-92F81FD0307C}</a:tableStyleId>
              </a:tblPr>
              <a:tblGrid>
                <a:gridCol w="1188020"/>
                <a:gridCol w="4752083"/>
                <a:gridCol w="1370793"/>
                <a:gridCol w="3564062"/>
              </a:tblGrid>
              <a:tr h="438912">
                <a:tc>
                  <a:txBody>
                    <a:bodyPr/>
                    <a:lstStyle/>
                    <a:p>
                      <a:pPr algn="l">
                        <a:spcBef>
                          <a:spcPts val="0"/>
                        </a:spcBef>
                        <a:spcAft>
                          <a:spcPts val="0"/>
                        </a:spcAft>
                      </a:pPr>
                      <a:r>
                        <a:rPr sz="950" b="1" i="0">
                          <a:solidFill>
                            <a:srgbClr val="1F5C8B"/>
                          </a:solidFill>
                          <a:latin typeface="Calibri"/>
                        </a:rPr>
                        <a:t>Condition</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Definition</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Rows removed</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Purpose</a:t>
                      </a:r>
                    </a:p>
                  </a:txBody>
                  <a:tcPr marL="73152" marR="73152" marT="18288" marB="18288" anchor="ctr">
                    <a:solidFill>
                      <a:srgbClr val="E8EFF6"/>
                    </a:solidFill>
                  </a:tcPr>
                </a:tc>
              </a:tr>
              <a:tr h="438912">
                <a:tc>
                  <a:txBody>
                    <a:bodyPr/>
                    <a:lstStyle/>
                    <a:p>
                      <a:pPr algn="l">
                        <a:spcBef>
                          <a:spcPts val="0"/>
                        </a:spcBef>
                        <a:spcAft>
                          <a:spcPts val="0"/>
                        </a:spcAft>
                      </a:pPr>
                      <a:r>
                        <a:rPr sz="1050" b="1" i="0">
                          <a:solidFill>
                            <a:srgbClr val="1C1C1C"/>
                          </a:solidFill>
                          <a:latin typeface="Calibri"/>
                        </a:rPr>
                        <a:t>C0</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Baseline — the full 5-core training set</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none</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Reference for every other condition</a:t>
                      </a:r>
                    </a:p>
                  </a:txBody>
                  <a:tcPr marL="73152" marR="73152" marT="18288" marB="18288" anchor="ctr">
                    <a:solidFill>
                      <a:srgbClr val="FFFFFF"/>
                    </a:solidFill>
                  </a:tcPr>
                </a:tc>
              </a:tr>
              <a:tr h="438912">
                <a:tc>
                  <a:txBody>
                    <a:bodyPr/>
                    <a:lstStyle/>
                    <a:p>
                      <a:pPr algn="l">
                        <a:spcBef>
                          <a:spcPts val="0"/>
                        </a:spcBef>
                        <a:spcAft>
                          <a:spcPts val="0"/>
                        </a:spcAft>
                      </a:pPr>
                      <a:r>
                        <a:rPr sz="1050" b="1" i="0">
                          <a:solidFill>
                            <a:srgbClr val="1C1C1C"/>
                          </a:solidFill>
                          <a:latin typeface="Calibri"/>
                        </a:rPr>
                        <a:t>C1</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Narrow: rows labelled gift_given are deleted from TRAINING</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n_gift</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RQ2 treatment</a:t>
                      </a:r>
                    </a:p>
                  </a:txBody>
                  <a:tcPr marL="73152" marR="73152" marT="18288" marB="18288" anchor="ctr">
                    <a:solidFill>
                      <a:srgbClr val="FAFAFA"/>
                    </a:solidFill>
                  </a:tcPr>
                </a:tc>
              </a:tr>
              <a:tr h="438912">
                <a:tc>
                  <a:txBody>
                    <a:bodyPr/>
                    <a:lstStyle/>
                    <a:p>
                      <a:pPr algn="l">
                        <a:spcBef>
                          <a:spcPts val="0"/>
                        </a:spcBef>
                        <a:spcAft>
                          <a:spcPts val="0"/>
                        </a:spcAft>
                      </a:pPr>
                      <a:r>
                        <a:rPr sz="1050" b="1" i="0">
                          <a:solidFill>
                            <a:srgbClr val="1C1C1C"/>
                          </a:solidFill>
                          <a:latin typeface="Calibri"/>
                        </a:rPr>
                        <a:t>C4</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Placebo for C1 — the same NUMBER of rows, chosen at random</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n_gift</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Separates "which rows" from "how many rows"</a:t>
                      </a:r>
                    </a:p>
                  </a:txBody>
                  <a:tcPr marL="73152" marR="73152" marT="18288" marB="18288" anchor="ctr">
                    <a:solidFill>
                      <a:srgbClr val="FFFFFF"/>
                    </a:solidFill>
                  </a:tcPr>
                </a:tc>
              </a:tr>
              <a:tr h="438912">
                <a:tc>
                  <a:txBody>
                    <a:bodyPr/>
                    <a:lstStyle/>
                    <a:p>
                      <a:pPr algn="l">
                        <a:spcBef>
                          <a:spcPts val="0"/>
                        </a:spcBef>
                        <a:spcAft>
                          <a:spcPts val="0"/>
                        </a:spcAft>
                      </a:pPr>
                      <a:r>
                        <a:rPr sz="1050" b="1" i="0">
                          <a:solidFill>
                            <a:srgbClr val="1C1C1C"/>
                          </a:solidFill>
                          <a:latin typeface="Calibri"/>
                        </a:rPr>
                        <a:t>C1b</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Broad: gift_given + household + received deleted</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n_broad</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Sensitivity to the label definition</a:t>
                      </a:r>
                    </a:p>
                  </a:txBody>
                  <a:tcPr marL="73152" marR="73152" marT="18288" marB="18288" anchor="ctr">
                    <a:solidFill>
                      <a:srgbClr val="FAFAFA"/>
                    </a:solidFill>
                  </a:tcPr>
                </a:tc>
              </a:tr>
              <a:tr h="438912">
                <a:tc>
                  <a:txBody>
                    <a:bodyPr/>
                    <a:lstStyle/>
                    <a:p>
                      <a:pPr algn="l">
                        <a:spcBef>
                          <a:spcPts val="0"/>
                        </a:spcBef>
                        <a:spcAft>
                          <a:spcPts val="0"/>
                        </a:spcAft>
                      </a:pPr>
                      <a:r>
                        <a:rPr sz="1050" b="1" i="0">
                          <a:solidFill>
                            <a:srgbClr val="1C1C1C"/>
                          </a:solidFill>
                          <a:latin typeface="Calibri"/>
                        </a:rPr>
                        <a:t>C4b</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Placebo for C1b</a:t>
                      </a:r>
                    </a:p>
                  </a:txBody>
                  <a:tcPr marL="73152" marR="73152" marT="18288" marB="18288" anchor="ctr">
                    <a:solidFill>
                      <a:srgbClr val="FFFFFF"/>
                    </a:solidFill>
                  </a:tcPr>
                </a:tc>
                <a:tc>
                  <a:txBody>
                    <a:bodyPr/>
                    <a:lstStyle/>
                    <a:p>
                      <a:pPr algn="ctr">
                        <a:spcBef>
                          <a:spcPts val="0"/>
                        </a:spcBef>
                        <a:spcAft>
                          <a:spcPts val="0"/>
                        </a:spcAft>
                      </a:pPr>
                      <a:r>
                        <a:rPr sz="1050" b="0" i="0">
                          <a:solidFill>
                            <a:srgbClr val="1C1C1C"/>
                          </a:solidFill>
                          <a:latin typeface="Calibri"/>
                        </a:rPr>
                        <a:t>n_broad</a:t>
                      </a:r>
                    </a:p>
                  </a:txBody>
                  <a:tcPr marL="73152" marR="73152" marT="18288" marB="18288" anchor="ctr">
                    <a:solidFill>
                      <a:srgbClr val="FFFFFF"/>
                    </a:solidFill>
                  </a:tcPr>
                </a:tc>
                <a:tc>
                  <a:txBody>
                    <a:bodyPr/>
                    <a:lstStyle/>
                    <a:p>
                      <a:pPr algn="l">
                        <a:spcBef>
                          <a:spcPts val="0"/>
                        </a:spcBef>
                        <a:spcAft>
                          <a:spcPts val="0"/>
                        </a:spcAft>
                      </a:pPr>
                      <a:r>
                        <a:rPr sz="1050" b="0" i="0">
                          <a:solidFill>
                            <a:srgbClr val="1C1C1C"/>
                          </a:solidFill>
                          <a:latin typeface="Calibri"/>
                        </a:rPr>
                        <a:t>Same, for the broad axis</a:t>
                      </a:r>
                    </a:p>
                  </a:txBody>
                  <a:tcPr marL="73152" marR="73152" marT="18288" marB="18288" anchor="ctr">
                    <a:solidFill>
                      <a:srgbClr val="FFFFFF"/>
                    </a:solidFill>
                  </a:tcPr>
                </a:tc>
              </a:tr>
              <a:tr h="438912">
                <a:tc>
                  <a:txBody>
                    <a:bodyPr/>
                    <a:lstStyle/>
                    <a:p>
                      <a:pPr algn="l">
                        <a:spcBef>
                          <a:spcPts val="0"/>
                        </a:spcBef>
                        <a:spcAft>
                          <a:spcPts val="0"/>
                        </a:spcAft>
                      </a:pPr>
                      <a:r>
                        <a:rPr sz="1050" b="1" i="0">
                          <a:solidFill>
                            <a:srgbClr val="1C1C1C"/>
                          </a:solidFill>
                          <a:latin typeface="Calibri"/>
                        </a:rPr>
                        <a:t>C3</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Gift rows kept; item replaced by a per-subcategory shadow token</a:t>
                      </a:r>
                    </a:p>
                  </a:txBody>
                  <a:tcPr marL="73152" marR="73152" marT="18288" marB="18288" anchor="ctr">
                    <a:solidFill>
                      <a:srgbClr val="FAFAFA"/>
                    </a:solidFill>
                  </a:tcPr>
                </a:tc>
                <a:tc>
                  <a:txBody>
                    <a:bodyPr/>
                    <a:lstStyle/>
                    <a:p>
                      <a:pPr algn="ctr">
                        <a:spcBef>
                          <a:spcPts val="0"/>
                        </a:spcBef>
                        <a:spcAft>
                          <a:spcPts val="0"/>
                        </a:spcAft>
                      </a:pPr>
                      <a:r>
                        <a:rPr sz="1050" b="0" i="0">
                          <a:solidFill>
                            <a:srgbClr val="1C1C1C"/>
                          </a:solidFill>
                          <a:latin typeface="Calibri"/>
                        </a:rPr>
                        <a:t>none</a:t>
                      </a:r>
                    </a:p>
                  </a:txBody>
                  <a:tcPr marL="73152" marR="73152" marT="18288" marB="18288" anchor="ctr">
                    <a:solidFill>
                      <a:srgbClr val="FAFAFA"/>
                    </a:solidFill>
                  </a:tcPr>
                </a:tc>
                <a:tc>
                  <a:txBody>
                    <a:bodyPr/>
                    <a:lstStyle/>
                    <a:p>
                      <a:pPr algn="l">
                        <a:spcBef>
                          <a:spcPts val="0"/>
                        </a:spcBef>
                        <a:spcAft>
                          <a:spcPts val="0"/>
                        </a:spcAft>
                      </a:pPr>
                      <a:r>
                        <a:rPr sz="1050" b="0" i="0">
                          <a:solidFill>
                            <a:srgbClr val="1C1C1C"/>
                          </a:solidFill>
                          <a:latin typeface="Calibri"/>
                        </a:rPr>
                        <a:t>RQ3 — flag instead of delete</a:t>
                      </a:r>
                    </a:p>
                  </a:txBody>
                  <a:tcPr marL="73152" marR="73152" marT="18288" marB="18288" anchor="ctr">
                    <a:solidFill>
                      <a:srgbClr val="FAFAFA"/>
                    </a:solidFill>
                  </a:tcPr>
                </a:tc>
              </a:tr>
            </a:tbl>
          </a:graphicData>
        </a:graphic>
      </p:graphicFrame>
      <p:sp>
        <p:nvSpPr>
          <p:cNvPr id="6" name="TextBox 5"/>
          <p:cNvSpPr txBox="1"/>
          <p:nvPr/>
        </p:nvSpPr>
        <p:spPr>
          <a:xfrm>
            <a:off x="658368" y="5257800"/>
            <a:ext cx="10874959" cy="914400"/>
          </a:xfrm>
          <a:prstGeom prst="rect">
            <a:avLst/>
          </a:prstGeom>
          <a:noFill/>
        </p:spPr>
        <p:txBody>
          <a:bodyPr wrap="square" lIns="0" rIns="0" tIns="0" bIns="0">
            <a:spAutoFit/>
          </a:bodyPr>
          <a:lstStyle/>
          <a:p>
            <a:pPr algn="l">
              <a:lnSpc>
                <a:spcPct val="115000"/>
              </a:lnSpc>
              <a:spcBef>
                <a:spcPts val="0"/>
              </a:spcBef>
              <a:spcAft>
                <a:spcPts val="0"/>
              </a:spcAft>
            </a:pPr>
            <a:r>
              <a:rPr sz="1050" b="0" i="0">
                <a:solidFill>
                  <a:srgbClr val="555555"/>
                </a:solidFill>
                <a:latin typeface="Calibri"/>
              </a:rPr>
              <a:t>Only training rows are touched; validation and test rows are identical in every condition, which is what makes the runs comparable — and is also a limitation: a gift sitting in a user's validation row is never removed, so the sequential model still sees it as the last item of the test input. Placebo row selection uses a per-condition seed derived as (base_seed + zlib.crc32(condition_name)) mod 2³¹−1, never Python's hash(), which is randomised per process.</a:t>
            </a:r>
          </a:p>
        </p:txBody>
      </p:sp>
      <p:sp>
        <p:nvSpPr>
          <p:cNvPr id="7" name="TextBox 6"/>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8" name="TextBox 7"/>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A1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APPENDIX</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A2 · Both gates in full, with the numbers that decided them</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TextBox 4"/>
          <p:cNvSpPr txBox="1"/>
          <p:nvPr/>
        </p:nvSpPr>
        <p:spPr>
          <a:xfrm>
            <a:off x="658368" y="1691640"/>
            <a:ext cx="108749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GATE 1 — MAY THE DETECTOR BE USED? (PER CATEGORY)</a:t>
            </a:r>
          </a:p>
        </p:txBody>
      </p:sp>
      <p:graphicFrame>
        <p:nvGraphicFramePr>
          <p:cNvPr id="6" name="Table 5"/>
          <p:cNvGraphicFramePr>
            <a:graphicFrameLocks noGrp="1"/>
          </p:cNvGraphicFramePr>
          <p:nvPr/>
        </p:nvGraphicFramePr>
        <p:xfrm>
          <a:off x="658368" y="1975104"/>
          <a:ext cx="10874956" cy="1810512"/>
        </p:xfrm>
        <a:graphic>
          <a:graphicData uri="http://schemas.openxmlformats.org/drawingml/2006/table">
            <a:tbl>
              <a:tblPr>
                <a:tableStyleId>{2D5ABB26-0587-4C30-8999-92F81FD0307C}</a:tableStyleId>
              </a:tblPr>
              <a:tblGrid>
                <a:gridCol w="3225623"/>
                <a:gridCol w="1566731"/>
                <a:gridCol w="1428490"/>
                <a:gridCol w="1428490"/>
                <a:gridCol w="1612811"/>
                <a:gridCol w="1612811"/>
              </a:tblGrid>
              <a:tr h="301752">
                <a:tc>
                  <a:txBody>
                    <a:bodyPr/>
                    <a:lstStyle/>
                    <a:p>
                      <a:pPr algn="l">
                        <a:spcBef>
                          <a:spcPts val="0"/>
                        </a:spcBef>
                        <a:spcAft>
                          <a:spcPts val="0"/>
                        </a:spcAft>
                      </a:pPr>
                      <a:r>
                        <a:rPr sz="950" b="1" i="0">
                          <a:solidFill>
                            <a:srgbClr val="1F5C8B"/>
                          </a:solidFill>
                          <a:latin typeface="Calibri"/>
                        </a:rPr>
                        <a:t>Criterion</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Threshold</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Toys</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Grocery</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Video Games</a:t>
                      </a:r>
                    </a:p>
                  </a:txBody>
                  <a:tcPr marL="73152" marR="73152" marT="18288" marB="18288" anchor="ctr">
                    <a:solidFill>
                      <a:srgbClr val="E8EFF6"/>
                    </a:solidFill>
                  </a:tcPr>
                </a:tc>
                <a:tc>
                  <a:txBody>
                    <a:bodyPr/>
                    <a:lstStyle/>
                    <a:p>
                      <a:pPr algn="r">
                        <a:spcBef>
                          <a:spcPts val="0"/>
                        </a:spcBef>
                        <a:spcAft>
                          <a:spcPts val="0"/>
                        </a:spcAft>
                      </a:pPr>
                      <a:r>
                        <a:rPr sz="950" b="1" i="0">
                          <a:solidFill>
                            <a:srgbClr val="1F5C8B"/>
                          </a:solidFill>
                          <a:latin typeface="Calibri"/>
                        </a:rPr>
                        <a:t>All Beauty</a:t>
                      </a:r>
                    </a:p>
                  </a:txBody>
                  <a:tcPr marL="73152" marR="73152" marT="18288" marB="18288" anchor="ctr">
                    <a:solidFill>
                      <a:srgbClr val="E8EFF6"/>
                    </a:solidFill>
                  </a:tcPr>
                </a:tc>
              </a:tr>
              <a:tr h="301752">
                <a:tc>
                  <a:txBody>
                    <a:bodyPr/>
                    <a:lstStyle/>
                    <a:p>
                      <a:pPr algn="l">
                        <a:spcBef>
                          <a:spcPts val="0"/>
                        </a:spcBef>
                        <a:spcAft>
                          <a:spcPts val="0"/>
                        </a:spcAft>
                      </a:pPr>
                      <a:r>
                        <a:rPr sz="1000" b="0" i="0">
                          <a:solidFill>
                            <a:srgbClr val="1C1C1C"/>
                          </a:solidFill>
                          <a:latin typeface="Calibri"/>
                        </a:rPr>
                        <a:t>1 · Dec–Jan ÷ summer ratio</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 1.25×</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1.58×</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1.71×</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2.08×</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2.06×</a:t>
                      </a:r>
                    </a:p>
                  </a:txBody>
                  <a:tcPr marL="73152" marR="73152" marT="18288" marB="18288" anchor="ctr">
                    <a:solidFill>
                      <a:srgbClr val="FFFFFF"/>
                    </a:solidFill>
                  </a:tcPr>
                </a:tc>
              </a:tr>
              <a:tr h="301752">
                <a:tc>
                  <a:txBody>
                    <a:bodyPr/>
                    <a:lstStyle/>
                    <a:p>
                      <a:pPr algn="l">
                        <a:spcBef>
                          <a:spcPts val="0"/>
                        </a:spcBef>
                        <a:spcAft>
                          <a:spcPts val="0"/>
                        </a:spcAft>
                      </a:pPr>
                      <a:r>
                        <a:rPr sz="1000" b="0" i="0">
                          <a:solidFill>
                            <a:srgbClr val="1C1C1C"/>
                          </a:solidFill>
                          <a:latin typeface="Calibri"/>
                        </a:rPr>
                        <a:t>2 · Rate found beyond keyword proxy</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 1%</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18.0%</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3.1%</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4.9%</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3.3%</a:t>
                      </a:r>
                    </a:p>
                  </a:txBody>
                  <a:tcPr marL="73152" marR="73152" marT="18288" marB="18288" anchor="ctr">
                    <a:solidFill>
                      <a:srgbClr val="FAFAFA"/>
                    </a:solidFill>
                  </a:tcPr>
                </a:tc>
              </a:tr>
              <a:tr h="301752">
                <a:tc>
                  <a:txBody>
                    <a:bodyPr/>
                    <a:lstStyle/>
                    <a:p>
                      <a:pPr algn="l">
                        <a:spcBef>
                          <a:spcPts val="0"/>
                        </a:spcBef>
                        <a:spcAft>
                          <a:spcPts val="0"/>
                        </a:spcAft>
                      </a:pPr>
                      <a:r>
                        <a:rPr sz="1000" b="0" i="0">
                          <a:solidFill>
                            <a:srgbClr val="1C1C1C"/>
                          </a:solidFill>
                          <a:latin typeface="Calibri"/>
                        </a:rPr>
                        <a:t>3 · Schema health</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no failure</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r>
              <a:tr h="301752">
                <a:tc>
                  <a:txBody>
                    <a:bodyPr/>
                    <a:lstStyle/>
                    <a:p>
                      <a:pPr algn="l">
                        <a:spcBef>
                          <a:spcPts val="0"/>
                        </a:spcBef>
                        <a:spcAft>
                          <a:spcPts val="0"/>
                        </a:spcAft>
                      </a:pPr>
                      <a:r>
                        <a:rPr sz="1000" b="0" i="0">
                          <a:solidFill>
                            <a:srgbClr val="1C1C1C"/>
                          </a:solidFill>
                          <a:latin typeface="Calibri"/>
                        </a:rPr>
                        <a:t>4 · 200-row trial agreement</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 0.7</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0.835</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0.835</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0.835</a:t>
                      </a:r>
                    </a:p>
                  </a:txBody>
                  <a:tcPr marL="73152" marR="73152" marT="18288" marB="18288" anchor="ctr">
                    <a:solidFill>
                      <a:srgbClr val="FAFAFA"/>
                    </a:solidFill>
                  </a:tcPr>
                </a:tc>
                <a:tc>
                  <a:txBody>
                    <a:bodyPr/>
                    <a:lstStyle/>
                    <a:p>
                      <a:pPr algn="r">
                        <a:spcBef>
                          <a:spcPts val="0"/>
                        </a:spcBef>
                        <a:spcAft>
                          <a:spcPts val="0"/>
                        </a:spcAft>
                      </a:pPr>
                      <a:r>
                        <a:rPr sz="1000" b="0" i="0">
                          <a:solidFill>
                            <a:srgbClr val="1C1C1C"/>
                          </a:solidFill>
                          <a:latin typeface="Calibri"/>
                        </a:rPr>
                        <a:t>0.835</a:t>
                      </a:r>
                    </a:p>
                  </a:txBody>
                  <a:tcPr marL="73152" marR="73152" marT="18288" marB="18288" anchor="ctr">
                    <a:solidFill>
                      <a:srgbClr val="FAFAFA"/>
                    </a:solidFill>
                  </a:tcPr>
                </a:tc>
              </a:tr>
              <a:tr h="301752">
                <a:tc>
                  <a:txBody>
                    <a:bodyPr/>
                    <a:lstStyle/>
                    <a:p>
                      <a:pPr algn="l">
                        <a:spcBef>
                          <a:spcPts val="0"/>
                        </a:spcBef>
                        <a:spcAft>
                          <a:spcPts val="0"/>
                        </a:spcAft>
                      </a:pPr>
                      <a:r>
                        <a:rPr sz="1000" b="0" i="0">
                          <a:solidFill>
                            <a:srgbClr val="1C1C1C"/>
                          </a:solidFill>
                          <a:latin typeface="Calibri"/>
                        </a:rPr>
                        <a:t>Verdict</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 4/4</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 4/4</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 4/4</a:t>
                      </a:r>
                    </a:p>
                  </a:txBody>
                  <a:tcPr marL="73152" marR="73152" marT="18288" marB="18288" anchor="ctr">
                    <a:solidFill>
                      <a:srgbClr val="FFFFFF"/>
                    </a:solidFill>
                  </a:tcPr>
                </a:tc>
                <a:tc>
                  <a:txBody>
                    <a:bodyPr/>
                    <a:lstStyle/>
                    <a:p>
                      <a:pPr algn="r">
                        <a:spcBef>
                          <a:spcPts val="0"/>
                        </a:spcBef>
                        <a:spcAft>
                          <a:spcPts val="0"/>
                        </a:spcAft>
                      </a:pPr>
                      <a:r>
                        <a:rPr sz="1000" b="0" i="0">
                          <a:solidFill>
                            <a:srgbClr val="1C1C1C"/>
                          </a:solidFill>
                          <a:latin typeface="Calibri"/>
                        </a:rPr>
                        <a:t>PASS 4/4</a:t>
                      </a:r>
                    </a:p>
                  </a:txBody>
                  <a:tcPr marL="73152" marR="73152" marT="18288" marB="18288" anchor="ctr">
                    <a:solidFill>
                      <a:srgbClr val="FFFFFF"/>
                    </a:solidFill>
                  </a:tcPr>
                </a:tc>
              </a:tr>
            </a:tbl>
          </a:graphicData>
        </a:graphic>
      </p:graphicFrame>
      <p:sp>
        <p:nvSpPr>
          <p:cNvPr id="7" name="TextBox 6"/>
          <p:cNvSpPr txBox="1"/>
          <p:nvPr/>
        </p:nvSpPr>
        <p:spPr>
          <a:xfrm>
            <a:off x="658368" y="3803904"/>
            <a:ext cx="108749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GATE 2 — MAY THE CONTRASTS BE INTERPRETED? (PER CATEGORY × MODEL CELL)</a:t>
            </a:r>
          </a:p>
        </p:txBody>
      </p:sp>
      <p:graphicFrame>
        <p:nvGraphicFramePr>
          <p:cNvPr id="8" name="Table 7"/>
          <p:cNvGraphicFramePr>
            <a:graphicFrameLocks noGrp="1"/>
          </p:cNvGraphicFramePr>
          <p:nvPr/>
        </p:nvGraphicFramePr>
        <p:xfrm>
          <a:off x="658368" y="4087368"/>
          <a:ext cx="10874957" cy="1737360"/>
        </p:xfrm>
        <a:graphic>
          <a:graphicData uri="http://schemas.openxmlformats.org/drawingml/2006/table">
            <a:tbl>
              <a:tblPr>
                <a:tableStyleId>{2D5ABB26-0587-4C30-8999-92F81FD0307C}</a:tableStyleId>
              </a:tblPr>
              <a:tblGrid>
                <a:gridCol w="2990613"/>
                <a:gridCol w="3353112"/>
                <a:gridCol w="1132808"/>
                <a:gridCol w="1132808"/>
                <a:gridCol w="1132808"/>
                <a:gridCol w="1132808"/>
              </a:tblGrid>
              <a:tr h="347472">
                <a:tc>
                  <a:txBody>
                    <a:bodyPr/>
                    <a:lstStyle/>
                    <a:p>
                      <a:pPr algn="l">
                        <a:spcBef>
                          <a:spcPts val="0"/>
                        </a:spcBef>
                        <a:spcAft>
                          <a:spcPts val="0"/>
                        </a:spcAft>
                      </a:pPr>
                      <a:r>
                        <a:rPr sz="950" b="1" i="0">
                          <a:solidFill>
                            <a:srgbClr val="1F5C8B"/>
                          </a:solidFill>
                          <a:latin typeface="Calibri"/>
                        </a:rPr>
                        <a:t>Criterion</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Mechanism</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BPR</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BPR</a:t>
                      </a:r>
                    </a:p>
                  </a:txBody>
                  <a:tcPr marL="73152" marR="73152" marT="18288" marB="18288" anchor="ctr">
                    <a:solidFill>
                      <a:srgbClr val="E8EFF6"/>
                    </a:solidFill>
                  </a:tcPr>
                </a:tc>
              </a:tr>
              <a:tr h="347472">
                <a:tc>
                  <a:txBody>
                    <a:bodyPr/>
                    <a:lstStyle/>
                    <a:p>
                      <a:pPr algn="l">
                        <a:spcBef>
                          <a:spcPts val="0"/>
                        </a:spcBef>
                        <a:spcAft>
                          <a:spcPts val="0"/>
                        </a:spcAft>
                      </a:pPr>
                      <a:r>
                        <a:rPr sz="1000" b="0" i="0">
                          <a:solidFill>
                            <a:srgbClr val="1C1C1C"/>
                          </a:solidFill>
                          <a:latin typeface="Calibri"/>
                        </a:rPr>
                        <a:t>1 · Same test pairs everywhere</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SHA-256 of the test pairs, written per run</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r>
              <a:tr h="347472">
                <a:tc>
                  <a:txBody>
                    <a:bodyPr/>
                    <a:lstStyle/>
                    <a:p>
                      <a:pPr algn="l">
                        <a:spcBef>
                          <a:spcPts val="0"/>
                        </a:spcBef>
                        <a:spcAft>
                          <a:spcPts val="0"/>
                        </a:spcAft>
                      </a:pPr>
                      <a:r>
                        <a:rPr sz="1000" b="0" i="0">
                          <a:solidFill>
                            <a:srgbClr val="1C1C1C"/>
                          </a:solidFill>
                          <a:latin typeface="Calibri"/>
                        </a:rPr>
                        <a:t>2 · Item universe ⊆ C0</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Set comparison against C0's item table</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AFAFA"/>
                    </a:solidFill>
                  </a:tcPr>
                </a:tc>
              </a:tr>
              <a:tr h="347472">
                <a:tc>
                  <a:txBody>
                    <a:bodyPr/>
                    <a:lstStyle/>
                    <a:p>
                      <a:pPr algn="l">
                        <a:spcBef>
                          <a:spcPts val="0"/>
                        </a:spcBef>
                        <a:spcAft>
                          <a:spcPts val="0"/>
                        </a:spcAft>
                      </a:pPr>
                      <a:r>
                        <a:rPr sz="1000" b="0" i="0">
                          <a:solidFill>
                            <a:srgbClr val="1C1C1C"/>
                          </a:solidFill>
                          <a:latin typeface="Calibri"/>
                        </a:rPr>
                        <a:t>3 · Neither placebo is better than C0</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Paired bootstrap; the CI's lower end must not sit above zero</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c>
                  <a:txBody>
                    <a:bodyPr/>
                    <a:lstStyle/>
                    <a:p>
                      <a:pPr algn="ctr">
                        <a:spcBef>
                          <a:spcPts val="0"/>
                        </a:spcBef>
                        <a:spcAft>
                          <a:spcPts val="0"/>
                        </a:spcAft>
                      </a:pPr>
                      <a:r>
                        <a:rPr sz="1000" b="0" i="0">
                          <a:solidFill>
                            <a:srgbClr val="1C1C1C"/>
                          </a:solidFill>
                          <a:latin typeface="Calibri"/>
                        </a:rPr>
                        <a:t>PASS</a:t>
                      </a:r>
                    </a:p>
                  </a:txBody>
                  <a:tcPr marL="73152" marR="73152" marT="18288" marB="18288" anchor="ctr">
                    <a:solidFill>
                      <a:srgbClr val="FFFFFF"/>
                    </a:solidFill>
                  </a:tcPr>
                </a:tc>
              </a:tr>
              <a:tr h="347472">
                <a:tc>
                  <a:txBody>
                    <a:bodyPr/>
                    <a:lstStyle/>
                    <a:p>
                      <a:pPr algn="l">
                        <a:spcBef>
                          <a:spcPts val="0"/>
                        </a:spcBef>
                        <a:spcAft>
                          <a:spcPts val="0"/>
                        </a:spcAft>
                      </a:pPr>
                      <a:r>
                        <a:rPr sz="1000" b="0" i="0">
                          <a:solidFill>
                            <a:srgbClr val="1C1C1C"/>
                          </a:solidFill>
                          <a:latin typeface="Calibri"/>
                        </a:rPr>
                        <a:t>4 · C0 seed-to-seed CV &lt; 0.1</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Std ÷ mean of C0's recall@10 over the three seeds</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0.012</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0.025</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0.005</a:t>
                      </a:r>
                    </a:p>
                  </a:txBody>
                  <a:tcPr marL="73152" marR="73152" marT="18288" marB="18288" anchor="ctr">
                    <a:solidFill>
                      <a:srgbClr val="FAFAFA"/>
                    </a:solidFill>
                  </a:tcPr>
                </a:tc>
                <a:tc>
                  <a:txBody>
                    <a:bodyPr/>
                    <a:lstStyle/>
                    <a:p>
                      <a:pPr algn="ctr">
                        <a:spcBef>
                          <a:spcPts val="0"/>
                        </a:spcBef>
                        <a:spcAft>
                          <a:spcPts val="0"/>
                        </a:spcAft>
                      </a:pPr>
                      <a:r>
                        <a:rPr sz="1000" b="0" i="0">
                          <a:solidFill>
                            <a:srgbClr val="1C1C1C"/>
                          </a:solidFill>
                          <a:latin typeface="Calibri"/>
                        </a:rPr>
                        <a:t>0.002</a:t>
                      </a:r>
                    </a:p>
                  </a:txBody>
                  <a:tcPr marL="73152" marR="73152" marT="18288" marB="18288" anchor="ctr">
                    <a:solidFill>
                      <a:srgbClr val="FAFAFA"/>
                    </a:solidFill>
                  </a:tcPr>
                </a:tc>
              </a:tr>
            </a:tbl>
          </a:graphicData>
        </a:graphic>
      </p:graphicFrame>
      <p:sp>
        <p:nvSpPr>
          <p:cNvPr id="9" name="TextBox 8"/>
          <p:cNvSpPr txBox="1"/>
          <p:nvPr/>
        </p:nvSpPr>
        <p:spPr>
          <a:xfrm>
            <a:off x="658368" y="5897880"/>
            <a:ext cx="10874959" cy="365760"/>
          </a:xfrm>
          <a:prstGeom prst="rect">
            <a:avLst/>
          </a:prstGeom>
          <a:noFill/>
        </p:spPr>
        <p:txBody>
          <a:bodyPr wrap="square" lIns="0" rIns="0" tIns="0" bIns="0">
            <a:spAutoFit/>
          </a:bodyPr>
          <a:lstStyle/>
          <a:p>
            <a:pPr algn="l">
              <a:spcBef>
                <a:spcPts val="0"/>
              </a:spcBef>
              <a:spcAft>
                <a:spcPts val="0"/>
              </a:spcAft>
            </a:pPr>
            <a:r>
              <a:rPr sz="1000" b="0" i="0">
                <a:solidFill>
                  <a:srgbClr val="555555"/>
                </a:solidFill>
                <a:latin typeface="Calibri"/>
              </a:rPr>
              <a:t>Gate 2 checks 18 runs per cell (72 in total) and is re-evaluated from the run reports, not from a cached verdict.</a:t>
            </a:r>
          </a:p>
        </p:txBody>
      </p:sp>
      <p:sp>
        <p:nvSpPr>
          <p:cNvPr id="10" name="TextBox 9"/>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1" name="TextBox 10"/>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A2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APPENDIX</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A3 · Every contrast, every cell, Recall@10 with 95 % intervals</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graphicFrame>
        <p:nvGraphicFramePr>
          <p:cNvPr id="5" name="Table 4"/>
          <p:cNvGraphicFramePr>
            <a:graphicFrameLocks noGrp="1"/>
          </p:cNvGraphicFramePr>
          <p:nvPr/>
        </p:nvGraphicFramePr>
        <p:xfrm>
          <a:off x="658368" y="1847088"/>
          <a:ext cx="10874956" cy="3621024"/>
        </p:xfrm>
        <a:graphic>
          <a:graphicData uri="http://schemas.openxmlformats.org/drawingml/2006/table">
            <a:tbl>
              <a:tblPr>
                <a:tableStyleId>{2D5ABB26-0587-4C30-8999-92F81FD0307C}</a:tableStyleId>
              </a:tblPr>
              <a:tblGrid>
                <a:gridCol w="1370793"/>
                <a:gridCol w="3107131"/>
                <a:gridCol w="1599258"/>
                <a:gridCol w="1599258"/>
                <a:gridCol w="1599258"/>
                <a:gridCol w="1599258"/>
              </a:tblGrid>
              <a:tr h="603504">
                <a:tc>
                  <a:txBody>
                    <a:bodyPr/>
                    <a:lstStyle/>
                    <a:p>
                      <a:pPr algn="l">
                        <a:spcBef>
                          <a:spcPts val="0"/>
                        </a:spcBef>
                        <a:spcAft>
                          <a:spcPts val="0"/>
                        </a:spcAft>
                      </a:pPr>
                      <a:r>
                        <a:rPr sz="950" b="1" i="0">
                          <a:solidFill>
                            <a:srgbClr val="1F5C8B"/>
                          </a:solidFill>
                          <a:latin typeface="Calibri"/>
                        </a:rPr>
                        <a:t>Contrast</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Meaning</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Toys · BPR</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SASRec</a:t>
                      </a:r>
                    </a:p>
                  </a:txBody>
                  <a:tcPr marL="73152" marR="73152" marT="18288" marB="18288" anchor="ctr">
                    <a:solidFill>
                      <a:srgbClr val="E8EFF6"/>
                    </a:solidFill>
                  </a:tcPr>
                </a:tc>
                <a:tc>
                  <a:txBody>
                    <a:bodyPr/>
                    <a:lstStyle/>
                    <a:p>
                      <a:pPr algn="ctr">
                        <a:spcBef>
                          <a:spcPts val="0"/>
                        </a:spcBef>
                        <a:spcAft>
                          <a:spcPts val="0"/>
                        </a:spcAft>
                      </a:pPr>
                      <a:r>
                        <a:rPr sz="950" b="1" i="0">
                          <a:solidFill>
                            <a:srgbClr val="1F5C8B"/>
                          </a:solidFill>
                          <a:latin typeface="Calibri"/>
                        </a:rPr>
                        <a:t>Grocery · BPR</a:t>
                      </a:r>
                    </a:p>
                  </a:txBody>
                  <a:tcPr marL="73152" marR="73152" marT="18288" marB="18288" anchor="ctr">
                    <a:solidFill>
                      <a:srgbClr val="E8EFF6"/>
                    </a:solidFill>
                  </a:tcPr>
                </a:tc>
              </a:tr>
              <a:tr h="603504">
                <a:tc>
                  <a:txBody>
                    <a:bodyPr/>
                    <a:lstStyle/>
                    <a:p>
                      <a:pPr algn="l">
                        <a:spcBef>
                          <a:spcPts val="0"/>
                        </a:spcBef>
                        <a:spcAft>
                          <a:spcPts val="0"/>
                        </a:spcAft>
                      </a:pPr>
                      <a:r>
                        <a:rPr sz="900" b="1" i="0">
                          <a:solidFill>
                            <a:srgbClr val="1C1C1C"/>
                          </a:solidFill>
                          <a:latin typeface="Calibri"/>
                        </a:rPr>
                        <a:t>C1 − C4</a:t>
                      </a:r>
                    </a:p>
                  </a:txBody>
                  <a:tcPr marL="73152" marR="73152" marT="18288" marB="18288" anchor="ctr">
                    <a:solidFill>
                      <a:srgbClr val="FFFFFF"/>
                    </a:solidFill>
                  </a:tcPr>
                </a:tc>
                <a:tc>
                  <a:txBody>
                    <a:bodyPr/>
                    <a:lstStyle/>
                    <a:p>
                      <a:pPr algn="l">
                        <a:spcBef>
                          <a:spcPts val="0"/>
                        </a:spcBef>
                        <a:spcAft>
                          <a:spcPts val="0"/>
                        </a:spcAft>
                      </a:pPr>
                      <a:r>
                        <a:rPr sz="900" b="0" i="0">
                          <a:solidFill>
                            <a:srgbClr val="1C1C1C"/>
                          </a:solidFill>
                          <a:latin typeface="Calibri"/>
                        </a:rPr>
                        <a:t>Delete gifts vs delete the same number at random</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+0.005449
[0.0048, 0.0061]
lower bound</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+0.004822
[0.0044, 0.0053]
lower bound</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+0.000360
[0.0000, 0.0007]
lower bound</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+0.000201
[-0.0001, 0.0005]
not detectable</a:t>
                      </a:r>
                    </a:p>
                  </a:txBody>
                  <a:tcPr marL="73152" marR="73152" marT="18288" marB="18288" anchor="ctr">
                    <a:solidFill>
                      <a:srgbClr val="FFFFFF"/>
                    </a:solidFill>
                  </a:tcPr>
                </a:tc>
              </a:tr>
              <a:tr h="603504">
                <a:tc>
                  <a:txBody>
                    <a:bodyPr/>
                    <a:lstStyle/>
                    <a:p>
                      <a:pPr algn="l">
                        <a:spcBef>
                          <a:spcPts val="0"/>
                        </a:spcBef>
                        <a:spcAft>
                          <a:spcPts val="0"/>
                        </a:spcAft>
                      </a:pPr>
                      <a:r>
                        <a:rPr sz="900" b="1" i="0">
                          <a:solidFill>
                            <a:srgbClr val="1C1C1C"/>
                          </a:solidFill>
                          <a:latin typeface="Calibri"/>
                        </a:rPr>
                        <a:t>C1b − C4b</a:t>
                      </a:r>
                    </a:p>
                  </a:txBody>
                  <a:tcPr marL="73152" marR="73152" marT="18288" marB="18288" anchor="ctr">
                    <a:solidFill>
                      <a:srgbClr val="FAFAFA"/>
                    </a:solidFill>
                  </a:tcPr>
                </a:tc>
                <a:tc>
                  <a:txBody>
                    <a:bodyPr/>
                    <a:lstStyle/>
                    <a:p>
                      <a:pPr algn="l">
                        <a:spcBef>
                          <a:spcPts val="0"/>
                        </a:spcBef>
                        <a:spcAft>
                          <a:spcPts val="0"/>
                        </a:spcAft>
                      </a:pPr>
                      <a:r>
                        <a:rPr sz="900" b="0" i="0">
                          <a:solidFill>
                            <a:srgbClr val="1C1C1C"/>
                          </a:solidFill>
                          <a:latin typeface="Calibri"/>
                        </a:rPr>
                        <a:t>Same, broad label axis</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+0.012253
[0.0114, 0.0130]
lower bound</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+0.010473
[0.0099, 0.0110]
lower bound</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+0.000923
[0.0006, 0.0012]
lower bound</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+0.001472
[0.0012, 0.0018]
lower bound</a:t>
                      </a:r>
                    </a:p>
                  </a:txBody>
                  <a:tcPr marL="73152" marR="73152" marT="18288" marB="18288" anchor="ctr">
                    <a:solidFill>
                      <a:srgbClr val="FAFAFA"/>
                    </a:solidFill>
                  </a:tcPr>
                </a:tc>
              </a:tr>
              <a:tr h="603504">
                <a:tc>
                  <a:txBody>
                    <a:bodyPr/>
                    <a:lstStyle/>
                    <a:p>
                      <a:pPr algn="l">
                        <a:spcBef>
                          <a:spcPts val="0"/>
                        </a:spcBef>
                        <a:spcAft>
                          <a:spcPts val="0"/>
                        </a:spcAft>
                      </a:pPr>
                      <a:r>
                        <a:rPr sz="900" b="1" i="0">
                          <a:solidFill>
                            <a:srgbClr val="1C1C1C"/>
                          </a:solidFill>
                          <a:latin typeface="Calibri"/>
                        </a:rPr>
                        <a:t>C1 − C0</a:t>
                      </a:r>
                    </a:p>
                  </a:txBody>
                  <a:tcPr marL="73152" marR="73152" marT="18288" marB="18288" anchor="ctr">
                    <a:solidFill>
                      <a:srgbClr val="FFFFFF"/>
                    </a:solidFill>
                  </a:tcPr>
                </a:tc>
                <a:tc>
                  <a:txBody>
                    <a:bodyPr/>
                    <a:lstStyle/>
                    <a:p>
                      <a:pPr algn="l">
                        <a:spcBef>
                          <a:spcPts val="0"/>
                        </a:spcBef>
                        <a:spcAft>
                          <a:spcPts val="0"/>
                        </a:spcAft>
                      </a:pPr>
                      <a:r>
                        <a:rPr sz="900" b="0" i="0">
                          <a:solidFill>
                            <a:srgbClr val="1C1C1C"/>
                          </a:solidFill>
                          <a:latin typeface="Calibri"/>
                        </a:rPr>
                        <a:t>Delete gifts vs do nothing</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-0.003061
[-0.0036, -0.0025]
negative</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+0.000713
[0.0003, 0.0011]
positive</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+0.000159
[-0.0001, 0.0005]
CI includes zero</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-0.000034
[-0.0003, 0.0003]
CI includes zero</a:t>
                      </a:r>
                    </a:p>
                  </a:txBody>
                  <a:tcPr marL="73152" marR="73152" marT="18288" marB="18288" anchor="ctr">
                    <a:solidFill>
                      <a:srgbClr val="FFFFFF"/>
                    </a:solidFill>
                  </a:tcPr>
                </a:tc>
              </a:tr>
              <a:tr h="603504">
                <a:tc>
                  <a:txBody>
                    <a:bodyPr/>
                    <a:lstStyle/>
                    <a:p>
                      <a:pPr algn="l">
                        <a:spcBef>
                          <a:spcPts val="0"/>
                        </a:spcBef>
                        <a:spcAft>
                          <a:spcPts val="0"/>
                        </a:spcAft>
                      </a:pPr>
                      <a:r>
                        <a:rPr sz="900" b="1" i="0">
                          <a:solidFill>
                            <a:srgbClr val="1C1C1C"/>
                          </a:solidFill>
                          <a:latin typeface="Calibri"/>
                        </a:rPr>
                        <a:t>C3 − C1</a:t>
                      </a:r>
                    </a:p>
                  </a:txBody>
                  <a:tcPr marL="73152" marR="73152" marT="18288" marB="18288" anchor="ctr">
                    <a:solidFill>
                      <a:srgbClr val="FAFAFA"/>
                    </a:solidFill>
                  </a:tcPr>
                </a:tc>
                <a:tc>
                  <a:txBody>
                    <a:bodyPr/>
                    <a:lstStyle/>
                    <a:p>
                      <a:pPr algn="l">
                        <a:spcBef>
                          <a:spcPts val="0"/>
                        </a:spcBef>
                        <a:spcAft>
                          <a:spcPts val="0"/>
                        </a:spcAft>
                      </a:pPr>
                      <a:r>
                        <a:rPr sz="900" b="0" i="0">
                          <a:solidFill>
                            <a:srgbClr val="1C1C1C"/>
                          </a:solidFill>
                          <a:latin typeface="Calibri"/>
                        </a:rPr>
                        <a:t>Flag vs delete</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-0.001235
[-0.0018, -0.0008]
negative</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-0.001647
[-0.0020, -0.0012]
negative</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-0.000850
[-0.0012, -0.0005]
negative</a:t>
                      </a:r>
                    </a:p>
                  </a:txBody>
                  <a:tcPr marL="73152" marR="73152" marT="18288" marB="18288" anchor="ctr">
                    <a:solidFill>
                      <a:srgbClr val="FAFAFA"/>
                    </a:solidFill>
                  </a:tcPr>
                </a:tc>
                <a:tc>
                  <a:txBody>
                    <a:bodyPr/>
                    <a:lstStyle/>
                    <a:p>
                      <a:pPr algn="ctr">
                        <a:spcBef>
                          <a:spcPts val="0"/>
                        </a:spcBef>
                        <a:spcAft>
                          <a:spcPts val="0"/>
                        </a:spcAft>
                      </a:pPr>
                      <a:r>
                        <a:rPr sz="900" b="0" i="0">
                          <a:solidFill>
                            <a:srgbClr val="1C1C1C"/>
                          </a:solidFill>
                          <a:latin typeface="Calibri"/>
                        </a:rPr>
                        <a:t>-0.000102
[-0.0004, 0.0002]
CI includes zero</a:t>
                      </a:r>
                    </a:p>
                  </a:txBody>
                  <a:tcPr marL="73152" marR="73152" marT="18288" marB="18288" anchor="ctr">
                    <a:solidFill>
                      <a:srgbClr val="FAFAFA"/>
                    </a:solidFill>
                  </a:tcPr>
                </a:tc>
              </a:tr>
              <a:tr h="603504">
                <a:tc>
                  <a:txBody>
                    <a:bodyPr/>
                    <a:lstStyle/>
                    <a:p>
                      <a:pPr algn="l">
                        <a:spcBef>
                          <a:spcPts val="0"/>
                        </a:spcBef>
                        <a:spcAft>
                          <a:spcPts val="0"/>
                        </a:spcAft>
                      </a:pPr>
                      <a:r>
                        <a:rPr sz="900" b="1" i="0">
                          <a:solidFill>
                            <a:srgbClr val="1C1C1C"/>
                          </a:solidFill>
                          <a:latin typeface="Calibri"/>
                        </a:rPr>
                        <a:t>C3 − C0</a:t>
                      </a:r>
                    </a:p>
                  </a:txBody>
                  <a:tcPr marL="73152" marR="73152" marT="18288" marB="18288" anchor="ctr">
                    <a:solidFill>
                      <a:srgbClr val="FFFFFF"/>
                    </a:solidFill>
                  </a:tcPr>
                </a:tc>
                <a:tc>
                  <a:txBody>
                    <a:bodyPr/>
                    <a:lstStyle/>
                    <a:p>
                      <a:pPr algn="l">
                        <a:spcBef>
                          <a:spcPts val="0"/>
                        </a:spcBef>
                        <a:spcAft>
                          <a:spcPts val="0"/>
                        </a:spcAft>
                      </a:pPr>
                      <a:r>
                        <a:rPr sz="900" b="0" i="0">
                          <a:solidFill>
                            <a:srgbClr val="1C1C1C"/>
                          </a:solidFill>
                          <a:latin typeface="Calibri"/>
                        </a:rPr>
                        <a:t>Flag vs do nothing</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-0.004296
[-0.0048, -0.0037]
negative</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-0.000934
[-0.0014, -0.0005]
negative</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-0.000691
[-0.0010, -0.0004]
negative</a:t>
                      </a:r>
                    </a:p>
                  </a:txBody>
                  <a:tcPr marL="73152" marR="73152" marT="18288" marB="18288" anchor="ctr">
                    <a:solidFill>
                      <a:srgbClr val="FFFFFF"/>
                    </a:solidFill>
                  </a:tcPr>
                </a:tc>
                <a:tc>
                  <a:txBody>
                    <a:bodyPr/>
                    <a:lstStyle/>
                    <a:p>
                      <a:pPr algn="ctr">
                        <a:spcBef>
                          <a:spcPts val="0"/>
                        </a:spcBef>
                        <a:spcAft>
                          <a:spcPts val="0"/>
                        </a:spcAft>
                      </a:pPr>
                      <a:r>
                        <a:rPr sz="900" b="0" i="0">
                          <a:solidFill>
                            <a:srgbClr val="1C1C1C"/>
                          </a:solidFill>
                          <a:latin typeface="Calibri"/>
                        </a:rPr>
                        <a:t>-0.000135
[-0.0004, 0.0001]
CI includes zero</a:t>
                      </a:r>
                    </a:p>
                  </a:txBody>
                  <a:tcPr marL="73152" marR="73152" marT="18288" marB="18288" anchor="ctr">
                    <a:solidFill>
                      <a:srgbClr val="FFFFFF"/>
                    </a:solidFill>
                  </a:tcPr>
                </a:tc>
              </a:tr>
            </a:tbl>
          </a:graphicData>
        </a:graphic>
      </p:graphicFrame>
      <p:sp>
        <p:nvSpPr>
          <p:cNvPr id="6" name="TextBox 5"/>
          <p:cNvSpPr txBox="1"/>
          <p:nvPr/>
        </p:nvSpPr>
        <p:spPr>
          <a:xfrm>
            <a:off x="658368" y="5632704"/>
            <a:ext cx="10874959" cy="68580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555555"/>
                </a:solidFill>
                <a:latin typeface="Calibri"/>
              </a:rPr>
              <a:t>Paired bootstrap over per-user Recall@10, averaged across seeds 42, 1337, 2024 before resampling; 117,386 test users in Toys, 238,756 in Grocery. Recall@10 replaced NDCG@10 as the primary metric before the runs, because a contaminated list is a coverage problem before it is a ranking problem — the change is dated in DECISIONS.md and NDCG is still reported alongside.</a:t>
            </a:r>
          </a:p>
        </p:txBody>
      </p:sp>
      <p:sp>
        <p:nvSpPr>
          <p:cNvPr id="7" name="TextBox 6"/>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8" name="TextBox 7"/>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A3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APPENDIX</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A4 · The limitations we would raise ourselves</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graphicFrame>
        <p:nvGraphicFramePr>
          <p:cNvPr id="5" name="Table 4"/>
          <p:cNvGraphicFramePr>
            <a:graphicFrameLocks noGrp="1"/>
          </p:cNvGraphicFramePr>
          <p:nvPr/>
        </p:nvGraphicFramePr>
        <p:xfrm>
          <a:off x="658368" y="1847088"/>
          <a:ext cx="10874958" cy="3328416"/>
        </p:xfrm>
        <a:graphic>
          <a:graphicData uri="http://schemas.openxmlformats.org/drawingml/2006/table">
            <a:tbl>
              <a:tblPr>
                <a:tableStyleId>{2D5ABB26-0587-4C30-8999-92F81FD0307C}</a:tableStyleId>
              </a:tblPr>
              <a:tblGrid>
                <a:gridCol w="548317"/>
                <a:gridCol w="5483172"/>
                <a:gridCol w="4843469"/>
              </a:tblGrid>
              <a:tr h="475488">
                <a:tc>
                  <a:txBody>
                    <a:bodyPr/>
                    <a:lstStyle/>
                    <a:p>
                      <a:pPr algn="l">
                        <a:spcBef>
                          <a:spcPts val="0"/>
                        </a:spcBef>
                        <a:spcAft>
                          <a:spcPts val="0"/>
                        </a:spcAft>
                      </a:pPr>
                      <a:r>
                        <a:rPr sz="950" b="1" i="0">
                          <a:solidFill>
                            <a:srgbClr val="1F5C8B"/>
                          </a:solidFill>
                          <a:latin typeface="Calibri"/>
                        </a:rPr>
                        <a:t>#</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Limitation</a:t>
                      </a:r>
                    </a:p>
                  </a:txBody>
                  <a:tcPr marL="73152" marR="73152" marT="18288" marB="18288" anchor="ctr">
                    <a:solidFill>
                      <a:srgbClr val="E8EFF6"/>
                    </a:solidFill>
                  </a:tcPr>
                </a:tc>
                <a:tc>
                  <a:txBody>
                    <a:bodyPr/>
                    <a:lstStyle/>
                    <a:p>
                      <a:pPr algn="l">
                        <a:spcBef>
                          <a:spcPts val="0"/>
                        </a:spcBef>
                        <a:spcAft>
                          <a:spcPts val="0"/>
                        </a:spcAft>
                      </a:pPr>
                      <a:r>
                        <a:rPr sz="950" b="1" i="0">
                          <a:solidFill>
                            <a:srgbClr val="1F5C8B"/>
                          </a:solidFill>
                          <a:latin typeface="Calibri"/>
                        </a:rPr>
                        <a:t>What it costs the conclusion</a:t>
                      </a:r>
                    </a:p>
                  </a:txBody>
                  <a:tcPr marL="73152" marR="73152" marT="18288" marB="18288" anchor="ctr">
                    <a:solidFill>
                      <a:srgbClr val="E8EFF6"/>
                    </a:solidFill>
                  </a:tcPr>
                </a:tc>
              </a:tr>
              <a:tr h="475488">
                <a:tc>
                  <a:txBody>
                    <a:bodyPr/>
                    <a:lstStyle/>
                    <a:p>
                      <a:pPr algn="l">
                        <a:spcBef>
                          <a:spcPts val="0"/>
                        </a:spcBef>
                        <a:spcAft>
                          <a:spcPts val="0"/>
                        </a:spcAft>
                      </a:pPr>
                      <a:r>
                        <a:rPr sz="1000" b="1" i="0">
                          <a:solidFill>
                            <a:srgbClr val="1C1C1C"/>
                          </a:solidFill>
                          <a:latin typeface="Calibri"/>
                        </a:rPr>
                        <a:t>1</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Two pre-registered detector gates were missed (macro-F1 0.5404 vs ≥ 0.75; gift precision 0.68 vs ≥ 0.80)</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Effects are lower bounds; absolute prevalence is uncertain</a:t>
                      </a:r>
                    </a:p>
                  </a:txBody>
                  <a:tcPr marL="73152" marR="73152" marT="18288" marB="18288" anchor="ctr">
                    <a:solidFill>
                      <a:srgbClr val="FFFFFF"/>
                    </a:solidFill>
                  </a:tcPr>
                </a:tc>
              </a:tr>
              <a:tr h="475488">
                <a:tc>
                  <a:txBody>
                    <a:bodyPr/>
                    <a:lstStyle/>
                    <a:p>
                      <a:pPr algn="l">
                        <a:spcBef>
                          <a:spcPts val="0"/>
                        </a:spcBef>
                        <a:spcAft>
                          <a:spcPts val="0"/>
                        </a:spcAft>
                      </a:pPr>
                      <a:r>
                        <a:rPr sz="1000" b="1" i="0">
                          <a:solidFill>
                            <a:srgbClr val="1C1C1C"/>
                          </a:solidFill>
                          <a:latin typeface="Calibri"/>
                        </a:rPr>
                        <a:t>2</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The primary metric changed from NDCG@10 to Recall@10 before the runs</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Pre-registered, dated, and NDCG is still reported — but it is a change</a:t>
                      </a:r>
                    </a:p>
                  </a:txBody>
                  <a:tcPr marL="73152" marR="73152" marT="18288" marB="18288" anchor="ctr">
                    <a:solidFill>
                      <a:srgbClr val="FAFAFA"/>
                    </a:solidFill>
                  </a:tcPr>
                </a:tc>
              </a:tr>
              <a:tr h="475488">
                <a:tc>
                  <a:txBody>
                    <a:bodyPr/>
                    <a:lstStyle/>
                    <a:p>
                      <a:pPr algn="l">
                        <a:spcBef>
                          <a:spcPts val="0"/>
                        </a:spcBef>
                        <a:spcAft>
                          <a:spcPts val="0"/>
                        </a:spcAft>
                      </a:pPr>
                      <a:r>
                        <a:rPr sz="1000" b="1" i="0">
                          <a:solidFill>
                            <a:srgbClr val="1C1C1C"/>
                          </a:solidFill>
                          <a:latin typeface="Calibri"/>
                        </a:rPr>
                        <a:t>3</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1 human annotator; the planned Fleiss κ was never measured</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No reliability estimate for the reference labels themselves</a:t>
                      </a:r>
                    </a:p>
                  </a:txBody>
                  <a:tcPr marL="73152" marR="73152" marT="18288" marB="18288" anchor="ctr">
                    <a:solidFill>
                      <a:srgbClr val="FFFFFF"/>
                    </a:solidFill>
                  </a:tcPr>
                </a:tc>
              </a:tr>
              <a:tr h="475488">
                <a:tc>
                  <a:txBody>
                    <a:bodyPr/>
                    <a:lstStyle/>
                    <a:p>
                      <a:pPr algn="l">
                        <a:spcBef>
                          <a:spcPts val="0"/>
                        </a:spcBef>
                        <a:spcAft>
                          <a:spcPts val="0"/>
                        </a:spcAft>
                      </a:pPr>
                      <a:r>
                        <a:rPr sz="1000" b="1" i="0">
                          <a:solidFill>
                            <a:srgbClr val="1C1C1C"/>
                          </a:solidFill>
                          <a:latin typeface="Calibri"/>
                        </a:rPr>
                        <a:t>4</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C1 deletes rows the detector believes are gifts, including its false positives</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The treatment is "delete what the detector flags", not "delete gifts"</a:t>
                      </a:r>
                    </a:p>
                  </a:txBody>
                  <a:tcPr marL="73152" marR="73152" marT="18288" marB="18288" anchor="ctr">
                    <a:solidFill>
                      <a:srgbClr val="FAFAFA"/>
                    </a:solidFill>
                  </a:tcPr>
                </a:tc>
              </a:tr>
              <a:tr h="475488">
                <a:tc>
                  <a:txBody>
                    <a:bodyPr/>
                    <a:lstStyle/>
                    <a:p>
                      <a:pPr algn="l">
                        <a:spcBef>
                          <a:spcPts val="0"/>
                        </a:spcBef>
                        <a:spcAft>
                          <a:spcPts val="0"/>
                        </a:spcAft>
                      </a:pPr>
                      <a:r>
                        <a:rPr sz="1000" b="1" i="0">
                          <a:solidFill>
                            <a:srgbClr val="1C1C1C"/>
                          </a:solidFill>
                          <a:latin typeface="Calibri"/>
                        </a:rPr>
                        <a:t>5</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Gifts in a user's validation row are never removed</a:t>
                      </a:r>
                    </a:p>
                  </a:txBody>
                  <a:tcPr marL="73152" marR="73152" marT="18288" marB="18288" anchor="ctr">
                    <a:solidFill>
                      <a:srgbClr val="FFFFFF"/>
                    </a:solidFill>
                  </a:tcPr>
                </a:tc>
                <a:tc>
                  <a:txBody>
                    <a:bodyPr/>
                    <a:lstStyle/>
                    <a:p>
                      <a:pPr algn="l">
                        <a:spcBef>
                          <a:spcPts val="0"/>
                        </a:spcBef>
                        <a:spcAft>
                          <a:spcPts val="0"/>
                        </a:spcAft>
                      </a:pPr>
                      <a:r>
                        <a:rPr sz="1000" b="0" i="0">
                          <a:solidFill>
                            <a:srgbClr val="1C1C1C"/>
                          </a:solidFill>
                          <a:latin typeface="Calibri"/>
                        </a:rPr>
                        <a:t>Weakens C1 for the sequential model specifically</a:t>
                      </a:r>
                    </a:p>
                  </a:txBody>
                  <a:tcPr marL="73152" marR="73152" marT="18288" marB="18288" anchor="ctr">
                    <a:solidFill>
                      <a:srgbClr val="FFFFFF"/>
                    </a:solidFill>
                  </a:tcPr>
                </a:tc>
              </a:tr>
              <a:tr h="475488">
                <a:tc>
                  <a:txBody>
                    <a:bodyPr/>
                    <a:lstStyle/>
                    <a:p>
                      <a:pPr algn="l">
                        <a:spcBef>
                          <a:spcPts val="0"/>
                        </a:spcBef>
                        <a:spcAft>
                          <a:spcPts val="0"/>
                        </a:spcAft>
                      </a:pPr>
                      <a:r>
                        <a:rPr sz="1000" b="1" i="0">
                          <a:solidFill>
                            <a:srgbClr val="1C1C1C"/>
                          </a:solidFill>
                          <a:latin typeface="Calibri"/>
                        </a:rPr>
                        <a:t>6</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Number of epochs actually trained was not recorded for the 72 runs</a:t>
                      </a:r>
                    </a:p>
                  </a:txBody>
                  <a:tcPr marL="73152" marR="73152" marT="18288" marB="18288" anchor="ctr">
                    <a:solidFill>
                      <a:srgbClr val="FAFAFA"/>
                    </a:solidFill>
                  </a:tcPr>
                </a:tc>
                <a:tc>
                  <a:txBody>
                    <a:bodyPr/>
                    <a:lstStyle/>
                    <a:p>
                      <a:pPr algn="l">
                        <a:spcBef>
                          <a:spcPts val="0"/>
                        </a:spcBef>
                        <a:spcAft>
                          <a:spcPts val="0"/>
                        </a:spcAft>
                      </a:pPr>
                      <a:r>
                        <a:rPr sz="1000" b="0" i="0">
                          <a:solidFill>
                            <a:srgbClr val="1C1C1C"/>
                          </a:solidFill>
                          <a:latin typeface="Calibri"/>
                        </a:rPr>
                        <a:t>Now written to every new run report; the old runs cannot be recovered</a:t>
                      </a:r>
                    </a:p>
                  </a:txBody>
                  <a:tcPr marL="73152" marR="73152" marT="18288" marB="18288" anchor="ctr">
                    <a:solidFill>
                      <a:srgbClr val="FAFAFA"/>
                    </a:solidFill>
                  </a:tcPr>
                </a:tc>
              </a:tr>
            </a:tbl>
          </a:graphicData>
        </a:graphic>
      </p:graphicFrame>
      <p:sp>
        <p:nvSpPr>
          <p:cNvPr id="6" name="TextBox 5"/>
          <p:cNvSpPr txBox="1"/>
          <p:nvPr/>
        </p:nvSpPr>
        <p:spPr>
          <a:xfrm>
            <a:off x="658368" y="5230368"/>
            <a:ext cx="10874959" cy="1005840"/>
          </a:xfrm>
          <a:prstGeom prst="rect">
            <a:avLst/>
          </a:prstGeom>
          <a:noFill/>
        </p:spPr>
        <p:txBody>
          <a:bodyPr wrap="square" lIns="0" rIns="0" tIns="0" bIns="0">
            <a:spAutoFit/>
          </a:bodyPr>
          <a:lstStyle/>
          <a:p>
            <a:pPr algn="l">
              <a:lnSpc>
                <a:spcPct val="115000"/>
              </a:lnSpc>
              <a:spcBef>
                <a:spcPts val="0"/>
              </a:spcBef>
              <a:spcAft>
                <a:spcPts val="0"/>
              </a:spcAft>
            </a:pPr>
            <a:r>
              <a:rPr sz="1050" b="0" i="0">
                <a:solidFill>
                  <a:srgbClr val="555555"/>
                </a:solidFill>
                <a:latin typeface="Calibri"/>
              </a:rPr>
              <a:t>Ten further limitations are listed in repo/docs/SONUCLAR.md §7, including: two categories and two models only; English-language reviews; review date used as a proxy for purchase date; "waste" measured as slot share rather than conversion; M2 is observational and its n = 0 bucket is structurally different from the others (a post-hoc sensitivity check is reported alongside the pre-registered fit); subcategory taken from item metadata, which is itself incomplete.</a:t>
            </a:r>
          </a:p>
        </p:txBody>
      </p:sp>
      <p:sp>
        <p:nvSpPr>
          <p:cNvPr id="7" name="TextBox 6"/>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8" name="TextBox 7"/>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A4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256032"/>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APPENDIX</a:t>
            </a:r>
          </a:p>
        </p:txBody>
      </p:sp>
      <p:sp>
        <p:nvSpPr>
          <p:cNvPr id="3" name="TextBox 2"/>
          <p:cNvSpPr txBox="1"/>
          <p:nvPr/>
        </p:nvSpPr>
        <p:spPr>
          <a:xfrm>
            <a:off x="658368" y="640080"/>
            <a:ext cx="10874959" cy="914400"/>
          </a:xfrm>
          <a:prstGeom prst="rect">
            <a:avLst/>
          </a:prstGeom>
          <a:noFill/>
        </p:spPr>
        <p:txBody>
          <a:bodyPr wrap="square" lIns="0" rIns="0" tIns="0" bIns="0">
            <a:spAutoFit/>
          </a:bodyPr>
          <a:lstStyle/>
          <a:p>
            <a:pPr algn="l">
              <a:lnSpc>
                <a:spcPct val="95000"/>
              </a:lnSpc>
              <a:spcBef>
                <a:spcPts val="0"/>
              </a:spcBef>
              <a:spcAft>
                <a:spcPts val="0"/>
              </a:spcAft>
            </a:pPr>
            <a:r>
              <a:rPr sz="2500" b="1" i="0">
                <a:solidFill>
                  <a:srgbClr val="1C1C1C"/>
                </a:solidFill>
                <a:latin typeface="Calibri"/>
              </a:rPr>
              <a:t>A5 · How to check any number on any slide</a:t>
            </a:r>
          </a:p>
        </p:txBody>
      </p:sp>
      <p:sp>
        <p:nvSpPr>
          <p:cNvPr id="4" name="Rectangle 3"/>
          <p:cNvSpPr/>
          <p:nvPr/>
        </p:nvSpPr>
        <p:spPr>
          <a:xfrm>
            <a:off x="658368" y="1554480"/>
            <a:ext cx="10874959" cy="1587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5" name="Rounded Rectangle 4"/>
          <p:cNvSpPr/>
          <p:nvPr/>
        </p:nvSpPr>
        <p:spPr>
          <a:xfrm>
            <a:off x="658368" y="1828800"/>
            <a:ext cx="5277459" cy="2286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6" name="TextBox 5"/>
          <p:cNvSpPr txBox="1"/>
          <p:nvPr/>
        </p:nvSpPr>
        <p:spPr>
          <a:xfrm>
            <a:off x="841247" y="1975104"/>
            <a:ext cx="4911699" cy="2011680"/>
          </a:xfrm>
          <a:prstGeom prst="rect">
            <a:avLst/>
          </a:prstGeom>
          <a:noFill/>
        </p:spPr>
        <p:txBody>
          <a:bodyPr wrap="square" lIns="0" rIns="0" tIns="0" bIns="0">
            <a:spAutoFit/>
          </a:bodyPr>
          <a:lstStyle/>
          <a:p>
            <a:pPr algn="l">
              <a:spcBef>
                <a:spcPts val="0"/>
              </a:spcBef>
              <a:spcAft>
                <a:spcPts val="600"/>
              </a:spcAft>
            </a:pPr>
            <a:r>
              <a:rPr sz="1300" b="1" i="0">
                <a:solidFill>
                  <a:srgbClr val="1F5C8B"/>
                </a:solidFill>
                <a:latin typeface="Calibri"/>
              </a:rPr>
              <a:t>Start here</a:t>
            </a:r>
          </a:p>
          <a:p>
            <a:pPr algn="l">
              <a:lnSpc>
                <a:spcPct val="112000"/>
              </a:lnSpc>
              <a:spcBef>
                <a:spcPts val="0"/>
              </a:spcBef>
              <a:spcAft>
                <a:spcPts val="500"/>
              </a:spcAft>
            </a:pPr>
            <a:r>
              <a:rPr sz="1050" b="0" i="0">
                <a:solidFill>
                  <a:srgbClr val="1C1C1C"/>
                </a:solidFill>
                <a:latin typeface="Calibri"/>
              </a:rPr>
              <a:t>•  repo/scripts/demo.py — prints every headline number from the committed JSONs. Standard library only; no data files needed.</a:t>
            </a:r>
          </a:p>
          <a:p>
            <a:pPr algn="l">
              <a:lnSpc>
                <a:spcPct val="112000"/>
              </a:lnSpc>
              <a:spcBef>
                <a:spcPts val="0"/>
              </a:spcBef>
              <a:spcAft>
                <a:spcPts val="500"/>
              </a:spcAft>
            </a:pPr>
            <a:r>
              <a:rPr sz="1050" b="0" i="0">
                <a:solidFill>
                  <a:srgbClr val="1C1C1C"/>
                </a:solidFill>
                <a:latin typeface="Calibri"/>
              </a:rPr>
              <a:t>•  repo/docs/SONUCLAR.md — every result with its interval and its limitation.</a:t>
            </a:r>
          </a:p>
          <a:p>
            <a:pPr algn="l">
              <a:lnSpc>
                <a:spcPct val="112000"/>
              </a:lnSpc>
              <a:spcBef>
                <a:spcPts val="0"/>
              </a:spcBef>
              <a:spcAft>
                <a:spcPts val="500"/>
              </a:spcAft>
            </a:pPr>
            <a:r>
              <a:rPr sz="1050" b="0" i="0">
                <a:solidFill>
                  <a:srgbClr val="1C1C1C"/>
                </a:solidFill>
                <a:latin typeface="Calibri"/>
              </a:rPr>
              <a:t>•  repo/docs/DECISIONS.md — every threshold and definition, with the date it was fixed.</a:t>
            </a:r>
          </a:p>
          <a:p>
            <a:pPr algn="l">
              <a:lnSpc>
                <a:spcPct val="112000"/>
              </a:lnSpc>
              <a:spcBef>
                <a:spcPts val="0"/>
              </a:spcBef>
              <a:spcAft>
                <a:spcPts val="500"/>
              </a:spcAft>
            </a:pPr>
            <a:r>
              <a:rPr sz="1050" b="0" i="0">
                <a:solidFill>
                  <a:srgbClr val="1C1C1C"/>
                </a:solidFill>
                <a:latin typeface="Calibri"/>
              </a:rPr>
              <a:t>•  final-report/final-report.md — the written report, with the source JSON named in each section.</a:t>
            </a:r>
          </a:p>
        </p:txBody>
      </p:sp>
      <p:sp>
        <p:nvSpPr>
          <p:cNvPr id="7" name="Rounded Rectangle 6"/>
          <p:cNvSpPr/>
          <p:nvPr/>
        </p:nvSpPr>
        <p:spPr>
          <a:xfrm>
            <a:off x="6255867" y="1828800"/>
            <a:ext cx="5277459" cy="2286000"/>
          </a:xfrm>
          <a:prstGeom prst="roundRect">
            <a:avLst>
              <a:gd name="adj" fmla="val 5000"/>
            </a:avLst>
          </a:prstGeom>
          <a:solidFill>
            <a:srgbClr val="F3F6FA"/>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8" name="TextBox 7"/>
          <p:cNvSpPr txBox="1"/>
          <p:nvPr/>
        </p:nvSpPr>
        <p:spPr>
          <a:xfrm>
            <a:off x="6438747" y="1975104"/>
            <a:ext cx="4911699" cy="2011680"/>
          </a:xfrm>
          <a:prstGeom prst="rect">
            <a:avLst/>
          </a:prstGeom>
          <a:noFill/>
        </p:spPr>
        <p:txBody>
          <a:bodyPr wrap="square" lIns="0" rIns="0" tIns="0" bIns="0">
            <a:spAutoFit/>
          </a:bodyPr>
          <a:lstStyle/>
          <a:p>
            <a:pPr algn="l">
              <a:spcBef>
                <a:spcPts val="0"/>
              </a:spcBef>
              <a:spcAft>
                <a:spcPts val="600"/>
              </a:spcAft>
            </a:pPr>
            <a:r>
              <a:rPr sz="1300" b="1" i="0">
                <a:solidFill>
                  <a:srgbClr val="1F5C8B"/>
                </a:solidFill>
                <a:latin typeface="Calibri"/>
              </a:rPr>
              <a:t>Provenance stamped into every artefact</a:t>
            </a:r>
          </a:p>
          <a:p>
            <a:pPr algn="l">
              <a:spcBef>
                <a:spcPts val="0"/>
              </a:spcBef>
              <a:spcAft>
                <a:spcPts val="400"/>
              </a:spcAft>
            </a:pPr>
            <a:r>
              <a:rPr sz="1050" b="0" i="0">
                <a:solidFill>
                  <a:srgbClr val="1C1C1C"/>
                </a:solidFill>
                <a:latin typeface="Calibri"/>
              </a:rPr>
              <a:t>•  prevalence.json — code_version 791d9d4</a:t>
            </a:r>
          </a:p>
          <a:p>
            <a:pPr algn="l">
              <a:spcBef>
                <a:spcPts val="0"/>
              </a:spcBef>
              <a:spcAft>
                <a:spcPts val="400"/>
              </a:spcAft>
            </a:pPr>
            <a:r>
              <a:rPr sz="1050" b="0" i="0">
                <a:solidFill>
                  <a:srgbClr val="1C1C1C"/>
                </a:solidFill>
                <a:latin typeface="Calibri"/>
              </a:rPr>
              <a:t>•  gate2.json — code_version 791d9d4</a:t>
            </a:r>
          </a:p>
          <a:p>
            <a:pPr algn="l">
              <a:spcBef>
                <a:spcPts val="0"/>
              </a:spcBef>
              <a:spcAft>
                <a:spcPts val="400"/>
              </a:spcAft>
            </a:pPr>
            <a:r>
              <a:rPr sz="1050" b="0" i="0">
                <a:solidFill>
                  <a:srgbClr val="1C1C1C"/>
                </a:solidFill>
                <a:latin typeface="Calibri"/>
              </a:rPr>
              <a:t>•  experiment_stats.json — code_version 791d9d4</a:t>
            </a:r>
          </a:p>
          <a:p>
            <a:pPr algn="l">
              <a:spcBef>
                <a:spcPts val="0"/>
              </a:spcBef>
              <a:spcAft>
                <a:spcPts val="400"/>
              </a:spcAft>
            </a:pPr>
            <a:r>
              <a:rPr sz="1050" b="0" i="0">
                <a:solidFill>
                  <a:srgbClr val="1C1C1C"/>
                </a:solidFill>
                <a:latin typeface="Calibri"/>
              </a:rPr>
              <a:t>•  marketing_metrics.json — code_version 3f904a6-dirty</a:t>
            </a:r>
          </a:p>
          <a:p>
            <a:pPr algn="l">
              <a:lnSpc>
                <a:spcPct val="112000"/>
              </a:lnSpc>
              <a:spcBef>
                <a:spcPts val="0"/>
              </a:spcBef>
              <a:spcAft>
                <a:spcPts val="0"/>
              </a:spcAft>
            </a:pPr>
            <a:r>
              <a:rPr sz="1000" b="0" i="0">
                <a:solidFill>
                  <a:srgbClr val="555555"/>
                </a:solidFill>
                <a:latin typeface="Calibri"/>
              </a:rPr>
              <a:t>A "-dirty" suffix means the working tree had uncommitted CODE changes when the artefact was written. Runs also carry label_source, reportable and a SHA-256 of the test pairs.</a:t>
            </a:r>
          </a:p>
        </p:txBody>
      </p:sp>
      <p:sp>
        <p:nvSpPr>
          <p:cNvPr id="9" name="TextBox 8"/>
          <p:cNvSpPr txBox="1"/>
          <p:nvPr/>
        </p:nvSpPr>
        <p:spPr>
          <a:xfrm>
            <a:off x="658368" y="4279392"/>
            <a:ext cx="10874959" cy="274320"/>
          </a:xfrm>
          <a:prstGeom prst="rect">
            <a:avLst/>
          </a:prstGeom>
          <a:noFill/>
        </p:spPr>
        <p:txBody>
          <a:bodyPr wrap="square" lIns="0" rIns="0" tIns="0" bIns="0">
            <a:spAutoFit/>
          </a:bodyPr>
          <a:lstStyle/>
          <a:p>
            <a:pPr algn="l">
              <a:spcBef>
                <a:spcPts val="0"/>
              </a:spcBef>
              <a:spcAft>
                <a:spcPts val="0"/>
              </a:spcAft>
            </a:pPr>
            <a:r>
              <a:rPr sz="1050" b="1" i="0">
                <a:solidFill>
                  <a:srgbClr val="1F5C8B"/>
                </a:solidFill>
                <a:latin typeface="Calibri"/>
              </a:rPr>
              <a:t>WHAT IS AND IS NOT IN THE REPOSITORY</a:t>
            </a:r>
          </a:p>
        </p:txBody>
      </p:sp>
      <p:sp>
        <p:nvSpPr>
          <p:cNvPr id="10" name="Rounded Rectangle 9"/>
          <p:cNvSpPr/>
          <p:nvPr/>
        </p:nvSpPr>
        <p:spPr>
          <a:xfrm>
            <a:off x="658368" y="4572000"/>
            <a:ext cx="5277459" cy="914400"/>
          </a:xfrm>
          <a:prstGeom prst="roundRect">
            <a:avLst>
              <a:gd name="adj" fmla="val 5000"/>
            </a:avLst>
          </a:prstGeom>
          <a:solidFill>
            <a:srgbClr val="E8EF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1" name="TextBox 10"/>
          <p:cNvSpPr txBox="1"/>
          <p:nvPr/>
        </p:nvSpPr>
        <p:spPr>
          <a:xfrm>
            <a:off x="841247" y="4672584"/>
            <a:ext cx="4911699" cy="731520"/>
          </a:xfrm>
          <a:prstGeom prst="rect">
            <a:avLst/>
          </a:prstGeom>
          <a:noFill/>
        </p:spPr>
        <p:txBody>
          <a:bodyPr wrap="square" lIns="0" rIns="0" tIns="0" bIns="0">
            <a:spAutoFit/>
          </a:bodyPr>
          <a:lstStyle/>
          <a:p>
            <a:pPr algn="l">
              <a:spcBef>
                <a:spcPts val="0"/>
              </a:spcBef>
              <a:spcAft>
                <a:spcPts val="400"/>
              </a:spcAft>
            </a:pPr>
            <a:r>
              <a:rPr sz="1150" b="1" i="0">
                <a:solidFill>
                  <a:srgbClr val="1F5C8B"/>
                </a:solidFill>
                <a:latin typeface="Calibri"/>
              </a:rPr>
              <a:t>Committed</a:t>
            </a:r>
          </a:p>
          <a:p>
            <a:pPr algn="l">
              <a:lnSpc>
                <a:spcPct val="110000"/>
              </a:lnSpc>
              <a:spcBef>
                <a:spcPts val="0"/>
              </a:spcBef>
              <a:spcAft>
                <a:spcPts val="0"/>
              </a:spcAft>
            </a:pPr>
            <a:r>
              <a:rPr sz="1000" b="0" i="0">
                <a:solidFill>
                  <a:srgbClr val="1C1C1C"/>
                </a:solidFill>
                <a:latin typeface="Calibri"/>
              </a:rPr>
              <a:t>Code, configs, 441 tests, every result JSON, every figure, the report and this deck's generator</a:t>
            </a:r>
          </a:p>
        </p:txBody>
      </p:sp>
      <p:sp>
        <p:nvSpPr>
          <p:cNvPr id="12" name="Rounded Rectangle 11"/>
          <p:cNvSpPr/>
          <p:nvPr/>
        </p:nvSpPr>
        <p:spPr>
          <a:xfrm>
            <a:off x="6255867" y="4572000"/>
            <a:ext cx="5277459" cy="914400"/>
          </a:xfrm>
          <a:prstGeom prst="roundRect">
            <a:avLst>
              <a:gd name="adj" fmla="val 5000"/>
            </a:avLst>
          </a:prstGeom>
          <a:solidFill>
            <a:srgbClr val="FBF2E3"/>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a:p>
        </p:txBody>
      </p:sp>
      <p:sp>
        <p:nvSpPr>
          <p:cNvPr id="13" name="TextBox 12"/>
          <p:cNvSpPr txBox="1"/>
          <p:nvPr/>
        </p:nvSpPr>
        <p:spPr>
          <a:xfrm>
            <a:off x="6438747" y="4672584"/>
            <a:ext cx="4911699" cy="731520"/>
          </a:xfrm>
          <a:prstGeom prst="rect">
            <a:avLst/>
          </a:prstGeom>
          <a:noFill/>
        </p:spPr>
        <p:txBody>
          <a:bodyPr wrap="square" lIns="0" rIns="0" tIns="0" bIns="0">
            <a:spAutoFit/>
          </a:bodyPr>
          <a:lstStyle/>
          <a:p>
            <a:pPr algn="l">
              <a:spcBef>
                <a:spcPts val="0"/>
              </a:spcBef>
              <a:spcAft>
                <a:spcPts val="400"/>
              </a:spcAft>
            </a:pPr>
            <a:r>
              <a:rPr sz="1150" b="1" i="0">
                <a:solidFill>
                  <a:srgbClr val="8A520A"/>
                </a:solidFill>
                <a:latin typeface="Calibri"/>
              </a:rPr>
              <a:t>Deliberately not committed</a:t>
            </a:r>
          </a:p>
          <a:p>
            <a:pPr algn="l">
              <a:lnSpc>
                <a:spcPct val="110000"/>
              </a:lnSpc>
              <a:spcBef>
                <a:spcPts val="0"/>
              </a:spcBef>
              <a:spcAft>
                <a:spcPts val="0"/>
              </a:spcAft>
            </a:pPr>
            <a:r>
              <a:rPr sz="1000" b="0" i="0">
                <a:solidFill>
                  <a:srgbClr val="1C1C1C"/>
                </a:solidFill>
                <a:latin typeface="Calibri"/>
              </a:rPr>
              <a:t>Review data and model weights (Kaggle datasets are private), the 500 human-labelled rows, any verbatim review text, any personal data</a:t>
            </a:r>
          </a:p>
        </p:txBody>
      </p:sp>
      <p:sp>
        <p:nvSpPr>
          <p:cNvPr id="14" name="TextBox 13"/>
          <p:cNvSpPr txBox="1"/>
          <p:nvPr/>
        </p:nvSpPr>
        <p:spPr>
          <a:xfrm>
            <a:off x="658368" y="5650992"/>
            <a:ext cx="10874959" cy="640080"/>
          </a:xfrm>
          <a:prstGeom prst="rect">
            <a:avLst/>
          </a:prstGeom>
          <a:noFill/>
        </p:spPr>
        <p:txBody>
          <a:bodyPr wrap="square" lIns="0" rIns="0" tIns="0" bIns="0">
            <a:spAutoFit/>
          </a:bodyPr>
          <a:lstStyle/>
          <a:p>
            <a:pPr algn="l">
              <a:lnSpc>
                <a:spcPct val="115000"/>
              </a:lnSpc>
              <a:spcBef>
                <a:spcPts val="0"/>
              </a:spcBef>
              <a:spcAft>
                <a:spcPts val="0"/>
              </a:spcAft>
            </a:pPr>
            <a:r>
              <a:rPr sz="1050" b="0" i="0">
                <a:solidFill>
                  <a:srgbClr val="555555"/>
                </a:solidFill>
                <a:latin typeface="Calibri"/>
              </a:rPr>
              <a:t>Two virtual environments: .venv for the pipeline (polars 1.44, numpy 2.5) and .venv-recbole for the experiment (numpy &lt; 2, because RecBole 1.2.0 still uses np.float_). Slides were generated by presentation/build_deck.py, which reads the same JSONs — so the deck cannot drift from the artefacts.</a:t>
            </a:r>
          </a:p>
        </p:txBody>
      </p:sp>
      <p:sp>
        <p:nvSpPr>
          <p:cNvPr id="15" name="TextBox 14"/>
          <p:cNvSpPr txBox="1"/>
          <p:nvPr/>
        </p:nvSpPr>
        <p:spPr>
          <a:xfrm>
            <a:off x="658368" y="6373368"/>
            <a:ext cx="8917466" cy="256032"/>
          </a:xfrm>
          <a:prstGeom prst="rect">
            <a:avLst/>
          </a:prstGeom>
          <a:noFill/>
        </p:spPr>
        <p:txBody>
          <a:bodyPr wrap="square" lIns="0" rIns="0" tIns="0" bIns="0">
            <a:spAutoFit/>
          </a:bodyPr>
          <a:lstStyle/>
          <a:p>
            <a:pPr algn="l">
              <a:spcBef>
                <a:spcPts val="0"/>
              </a:spcBef>
              <a:spcAft>
                <a:spcPts val="0"/>
              </a:spcAft>
            </a:pPr>
            <a:r>
              <a:rPr sz="900" b="0" i="0">
                <a:solidFill>
                  <a:srgbClr val="8E8E8E"/>
                </a:solidFill>
                <a:latin typeface="Calibri"/>
              </a:rPr>
              <a:t>This Was Not For Me · SIC AI 17 Capstone · Group 2</a:t>
            </a:r>
          </a:p>
        </p:txBody>
      </p:sp>
      <p:sp>
        <p:nvSpPr>
          <p:cNvPr id="16" name="TextBox 15"/>
          <p:cNvSpPr txBox="1"/>
          <p:nvPr/>
        </p:nvSpPr>
        <p:spPr>
          <a:xfrm>
            <a:off x="10436047" y="6373368"/>
            <a:ext cx="1097280" cy="256032"/>
          </a:xfrm>
          <a:prstGeom prst="rect">
            <a:avLst/>
          </a:prstGeom>
          <a:noFill/>
        </p:spPr>
        <p:txBody>
          <a:bodyPr wrap="square" lIns="0" rIns="0" tIns="0" bIns="0">
            <a:spAutoFit/>
          </a:bodyPr>
          <a:lstStyle/>
          <a:p>
            <a:pPr algn="r">
              <a:spcBef>
                <a:spcPts val="0"/>
              </a:spcBef>
              <a:spcAft>
                <a:spcPts val="0"/>
              </a:spcAft>
            </a:pPr>
            <a:r>
              <a:rPr sz="900" b="0" i="0">
                <a:solidFill>
                  <a:srgbClr val="8E8E8E"/>
                </a:solidFill>
                <a:latin typeface="Calibri"/>
              </a:rPr>
              <a:t>A5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Was Not For Me — Detecting gift purchases as a distinct class of noise in e-commerce recommender systems</dc:title>
  <dc:subject>SIC AI 17 Capstone, Group 2 — final presentation</dc:subject>
  <dc:creator/>
  <cp:keywords/>
  <dc:description>Generated by presentation/build_deck.py; every number is read from repo/reports/results/*.json.</dc:description>
  <cp:lastModifiedBy/>
  <cp:revision>1</cp:revision>
  <dcterms:created xsi:type="dcterms:W3CDTF">2013-01-27T09:14:16Z</dcterms:created>
  <dcterms:modified xsi:type="dcterms:W3CDTF">2013-01-27T09:15:58Z</dcterms:modified>
  <cp:category/>
</cp:coreProperties>
</file>